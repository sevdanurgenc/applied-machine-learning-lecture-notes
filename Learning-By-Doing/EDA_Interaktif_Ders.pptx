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8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89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486400" cy="54864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9B5DE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3E8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Uygulamalı Makine Öğrenmesi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57200" y="2359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Exploratory Data Analysis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3337560"/>
            <a:ext cx="1920240" cy="384048"/>
          </a:xfrm>
          <a:prstGeom prst="rect">
            <a:avLst/>
          </a:prstGeom>
          <a:solidFill>
            <a:srgbClr val="023E8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🍕 Titanic Veri Seti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2032" y="3337560"/>
            <a:ext cx="1920240" cy="384048"/>
          </a:xfrm>
          <a:prstGeom prst="rect">
            <a:avLst/>
          </a:prstGeom>
          <a:solidFill>
            <a:srgbClr val="023E8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42032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Rakip Takım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26864" y="3337560"/>
            <a:ext cx="1920240" cy="384048"/>
          </a:xfrm>
          <a:prstGeom prst="rect">
            <a:avLst/>
          </a:prstGeom>
          <a:solidFill>
            <a:srgbClr val="1A1A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Learning by Doing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11696" y="3337560"/>
            <a:ext cx="1920240" cy="384048"/>
          </a:xfrm>
          <a:prstGeom prst="rect">
            <a:avLst/>
          </a:prstGeom>
          <a:solidFill>
            <a:srgbClr val="1A1A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11696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Saatlik Oturum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Veriyi anlamadan model kurmak, haritasız sefere çıkmak gibidir.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EDA Ders Akışı — 3 Saatlik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41248"/>
            <a:ext cx="2029968" cy="4069080"/>
          </a:xfrm>
          <a:prstGeom prst="rect">
            <a:avLst/>
          </a:prstGeom>
          <a:solidFill>
            <a:srgbClr val="023E8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9144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BÖLÜM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608" y="12618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Teori &amp; Hazırlık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" y="2011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EDA nedir? Adımlar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Titanic veri seti tanıtımı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Takım oluşturma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4626864"/>
            <a:ext cx="2029968" cy="2834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462686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30 dk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86584" y="841248"/>
            <a:ext cx="2029968" cy="4069080"/>
          </a:xfrm>
          <a:prstGeom prst="rect">
            <a:avLst/>
          </a:prstGeom>
          <a:solidFill>
            <a:srgbClr val="00B4D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86584" y="9144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BÖLÜM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78024" y="12618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Yarışmalı EDA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78024" y="2011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Sprint 1: Veri Kalitesi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Sprint 2: Dağılım &amp; Görselleştirme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Sprint 3: Korelasyon &amp; İçgörü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86584" y="4626864"/>
            <a:ext cx="2029968" cy="2834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386584" y="462686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90 dk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841248"/>
            <a:ext cx="2029968" cy="4069080"/>
          </a:xfrm>
          <a:prstGeom prst="rect">
            <a:avLst/>
          </a:prstGeom>
          <a:solidFill>
            <a:srgbClr val="F4A2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9144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BÖLÜM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12618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Sunum &amp; Tartışma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011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Her takım bulgularını sunar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Farklı yaklaşımlar tartışılır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En iyi içgörüler ödüllendirilir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626864"/>
            <a:ext cx="2029968" cy="2834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62686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30 dk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57416" y="841248"/>
            <a:ext cx="2029968" cy="4069080"/>
          </a:xfrm>
          <a:prstGeom prst="rect">
            <a:avLst/>
          </a:prstGeom>
          <a:solidFill>
            <a:srgbClr val="9B5DE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57416" y="9144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BÖLÜM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48856" y="12618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 Hazırlığı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48856" y="2011680"/>
            <a:ext cx="1828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Feature engineering ipuçları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Veri ön işleme pipeline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ML için veri hazırlama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57416" y="4626864"/>
            <a:ext cx="2029968" cy="2834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757416" y="462686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30 dk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EDA Nedir? — Keşifsel Veri Analizi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1005840"/>
          </a:xfrm>
          <a:prstGeom prst="rect">
            <a:avLst/>
          </a:prstGeom>
          <a:solidFill>
            <a:srgbClr val="060D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Modele girmeden önce veriyi tanıma, anlama ve temizleme sürecidir.
</a:t>
            </a: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"Veriye sormadan önce veriyi dinle."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938528"/>
            <a:ext cx="1572768" cy="2971800"/>
          </a:xfrm>
          <a:prstGeom prst="rect">
            <a:avLst/>
          </a:prstGeom>
          <a:solidFill>
            <a:srgbClr val="023E8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38528"/>
            <a:ext cx="658368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20116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28163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31089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Yükleme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374904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shape, dtypes,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head/tail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65960" y="1938528"/>
            <a:ext cx="1572768" cy="2971800"/>
          </a:xfrm>
          <a:prstGeom prst="rect">
            <a:avLst/>
          </a:prstGeom>
          <a:solidFill>
            <a:srgbClr val="00B4D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938528"/>
            <a:ext cx="658368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20116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65960" y="28163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39112" y="31089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Kalitesi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9112" y="374904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null, duplicate,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type errors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03320" y="1938528"/>
            <a:ext cx="1572768" cy="2971800"/>
          </a:xfrm>
          <a:prstGeom prst="rect">
            <a:avLst/>
          </a:prstGeom>
          <a:solidFill>
            <a:srgbClr val="9B5DE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0520" y="1938528"/>
            <a:ext cx="658368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0116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03320" y="28163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76472" y="31089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Tek Değişken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Analizi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76472" y="374904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histplot, boxplot,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describe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40680" y="1938528"/>
            <a:ext cx="1572768" cy="2971800"/>
          </a:xfrm>
          <a:prstGeom prst="rect">
            <a:avLst/>
          </a:prstGeom>
          <a:solidFill>
            <a:srgbClr val="F4A2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97880" y="1938528"/>
            <a:ext cx="658368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20116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440680" y="28163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13832" y="31089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Çok Değişken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Analizi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13832" y="374904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heatmap, pairplot,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scatter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2788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178040" y="1938528"/>
            <a:ext cx="1572768" cy="2971800"/>
          </a:xfrm>
          <a:prstGeom prst="rect">
            <a:avLst/>
          </a:prstGeom>
          <a:solidFill>
            <a:srgbClr val="2DC65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35240" y="1938528"/>
            <a:ext cx="658368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7178040" y="20116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178040" y="28163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51192" y="31089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İçgörü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Rapor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51192" y="374904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hipotez, 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önerileri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🚢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37744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Veri Seti — Takım Oluşturma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37744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30 dakika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Takım Kurulumu &amp; Veri Seti Tanıtımı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4160520" cy="4133088"/>
          </a:xfrm>
          <a:prstGeom prst="rect">
            <a:avLst/>
          </a:prstGeom>
          <a:solidFill>
            <a:srgbClr val="E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4160520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80467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🔵  TAKIM A — Hayatta Kalma Dedektifi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7472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🎯 Odak: Kategorik değişkenler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" y="20848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📌 Cinsiyet, sınıf, bineme limanı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27249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❓ Soru: Kim hayatta kaldı, neden?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3364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📊 Araçlar: countplot, crosstab, barplot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" y="4005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🧪 Hipotez: Kadın ve 1. sınıf yolcular daha mı şanslıydı?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73168" y="804672"/>
            <a:ext cx="4160520" cy="4133088"/>
          </a:xfrm>
          <a:prstGeom prst="rect">
            <a:avLst/>
          </a:prstGeom>
          <a:solidFill>
            <a:srgbClr val="FFF3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804672"/>
            <a:ext cx="416052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80467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🟠  TAKIM B — Veri Kalite Mühendisi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19472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🎯 Odak: Sayısal değişkenler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19472" y="20848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📌 Yaş, ücret, kardeş/eş sayısı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19472" y="27249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❓ Soru: Sayısal veriler ne anlatıyor?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19472" y="3364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📊 Araçlar: histplot, boxplot, heatmap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19472" y="4005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32"/>
                </a:solidFill>
              </a:rPr>
              <a:t>🧪 Hipotez: Ücret ve hayatta kalma doğrusal mı?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Titanic Veri Seti — Sütun Rehberi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38404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680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Sütun Adı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7680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76809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Birincil Takım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768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Açıklama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161288"/>
            <a:ext cx="8778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704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PassengerId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08760" y="11704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197864"/>
            <a:ext cx="1316736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1978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her ikisi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0" y="1170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Yolcu kimlik numarası (index)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490472"/>
            <a:ext cx="8778240" cy="310896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49961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Survived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08760" y="14996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int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527048"/>
            <a:ext cx="1316736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152704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🎯 Hedef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0" y="1499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0 = hayatta kalmadı, 1 = kaldı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1819656"/>
            <a:ext cx="8778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Pclass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508760" y="1828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int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1856232"/>
            <a:ext cx="1316736" cy="2377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18562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🔵 A Takım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Yolcu sınıfı: 1.sınıf=lüks, 3.sınıf=ekonomi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2148840"/>
            <a:ext cx="8778240" cy="310896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1579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Name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508760" y="21579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object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2185416"/>
            <a:ext cx="1316736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21854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her ikisi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31920" y="21579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İsimden unvan çıkarılabilir (Mr, Miss...)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2478024"/>
            <a:ext cx="8778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4871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Sex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508760" y="24871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object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2514600"/>
            <a:ext cx="1316736" cy="2377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2468880" y="2514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🔵 A Takım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931920" y="2487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Cinsiyet: male / female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2880" y="2807208"/>
            <a:ext cx="8778240" cy="310896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28163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Age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508760" y="28163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float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68880" y="2843784"/>
            <a:ext cx="1316736" cy="2377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3" name="Text 41"/>
          <p:cNvSpPr/>
          <p:nvPr/>
        </p:nvSpPr>
        <p:spPr>
          <a:xfrm>
            <a:off x="2468880" y="284378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🟠 B Takım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931920" y="2816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Yaş — eksik değerler var! (%20)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2880" y="3136392"/>
            <a:ext cx="8778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1455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SibSp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508760" y="31455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int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68880" y="3172968"/>
            <a:ext cx="1316736" cy="2377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9" name="Text 47"/>
          <p:cNvSpPr/>
          <p:nvPr/>
        </p:nvSpPr>
        <p:spPr>
          <a:xfrm>
            <a:off x="2468880" y="317296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🟠 B Takım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931920" y="3145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Gemideki kardeş/eş sayısı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82880" y="3465576"/>
            <a:ext cx="8778240" cy="310896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34747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Parch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508760" y="3474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int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468880" y="3502152"/>
            <a:ext cx="1316736" cy="2377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5" name="Text 53"/>
          <p:cNvSpPr/>
          <p:nvPr/>
        </p:nvSpPr>
        <p:spPr>
          <a:xfrm>
            <a:off x="2468880" y="35021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🟠 B Takım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931920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Gemideki ebeveyn/çocuk sayısı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82880" y="3794760"/>
            <a:ext cx="8778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38039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Ticket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508760" y="38039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object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468880" y="3831336"/>
            <a:ext cx="1316736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61" name="Text 59"/>
          <p:cNvSpPr/>
          <p:nvPr/>
        </p:nvSpPr>
        <p:spPr>
          <a:xfrm>
            <a:off x="2468880" y="383133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her ikisi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931920" y="3803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Bilet numarası (yüksek kardinalite)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82880" y="4123944"/>
            <a:ext cx="8778240" cy="310896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41330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Fare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508760" y="41330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float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468880" y="4160520"/>
            <a:ext cx="1316736" cy="2377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7" name="Text 65"/>
          <p:cNvSpPr/>
          <p:nvPr/>
        </p:nvSpPr>
        <p:spPr>
          <a:xfrm>
            <a:off x="2468880" y="41605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🟠 B Takım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931920" y="41330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Bilet ücreti — outlier içeriyor!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82880" y="4453128"/>
            <a:ext cx="8778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274320" y="44622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Cabin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508760" y="44622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object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468880" y="4489704"/>
            <a:ext cx="1316736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73" name="Text 71"/>
          <p:cNvSpPr/>
          <p:nvPr/>
        </p:nvSpPr>
        <p:spPr>
          <a:xfrm>
            <a:off x="2468880" y="44897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her ikisi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931920" y="44622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Kabin numarası (%77 eksik!)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82880" y="4782312"/>
            <a:ext cx="8778240" cy="310896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479145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</a:rPr>
              <a:t>Embarked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508760" y="47914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object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468880" y="4818888"/>
            <a:ext cx="1316736" cy="2377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9" name="Text 77"/>
          <p:cNvSpPr/>
          <p:nvPr/>
        </p:nvSpPr>
        <p:spPr>
          <a:xfrm>
            <a:off x="2468880" y="481888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🔵 A Takım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931920" y="47914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Bineme limanı: C=Cherbourg, Q, 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⚔️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37744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Yarışmalı EDA — 3 Sprint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37744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90 dakika · Her Sprint 30 dakika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Sprint 1 — Veri Kalitesi Analizi  (30 dk)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109728"/>
            <a:ext cx="1234440" cy="40233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0972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30 dk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8732520" cy="822960"/>
          </a:xfrm>
          <a:prstGeom prst="rect">
            <a:avLst/>
          </a:prstGeom>
          <a:solidFill>
            <a:srgbClr val="060D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50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🤝  Her İki Takım — İlk 10 Dakika (Birlikte)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•  df.info()  •  df.head(10)  •  df.describe()  •  df.isnull().sum()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755648"/>
            <a:ext cx="4160520" cy="3154680"/>
          </a:xfrm>
          <a:prstGeom prst="rect">
            <a:avLst/>
          </a:prstGeom>
          <a:solidFill>
            <a:srgbClr val="E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755648"/>
            <a:ext cx="4160520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" y="17556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 TAKIM A — Kategorik Sütun Kalitesi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df['Sex'].value_counts()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2615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df['Pclass'].value_counts()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" y="2944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df['Embarked'].value_counts(dropna=False)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" y="3273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Embarked'daki 2 eksik değeri doldur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df['Embarked'].fillna(df['Embarked'].mode()[0])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Cabin sütununu incele — ne yapmalı?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" y="4261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df['Cabin'].isnull().mean()  # ~0.77!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" y="4709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🏆 Hedef: Kategorik kolonların eksik/hatalı değer raporu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1755648"/>
            <a:ext cx="4160520" cy="3154680"/>
          </a:xfrm>
          <a:prstGeom prst="rect">
            <a:avLst/>
          </a:prstGeom>
          <a:solidFill>
            <a:srgbClr val="FFF3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1755648"/>
            <a:ext cx="4160520" cy="43891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7556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🟠  TAKIM B — Sayısal Sütun Kalitesi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01184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df['Age'].isnull().sum()  # ~177 eksik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01184" y="2615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df['Fare'].describe()  # outlier var mı?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01184" y="2944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Yaş eksiklerini doldurma stratejisi: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01184" y="3273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df['Age'].fillna(df['Age'].median())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01184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Fare outlier tespiti (IQR yöntemi)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01184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df['Fare'].quantile(0.25)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01184" y="4261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df['Fare'].quantile(0.75)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01184" y="4709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🏆 Hedef: Sayısal kolonların eksik/outlier değer raporu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Sprint 1 — Beklenen Bulgular &amp; Puanlama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8732520" cy="38404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Sütun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Sorun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51960" y="8229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Çözüm Önerisi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Şiddet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225296"/>
            <a:ext cx="8732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27101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</a:rPr>
              <a:t>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12710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2"/>
                </a:solidFill>
              </a:rPr>
              <a:t>%19.9 eksik (177 satır)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27101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Medyan ile doldur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362456"/>
            <a:ext cx="14630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362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Kritik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1911096"/>
            <a:ext cx="8732520" cy="621792"/>
          </a:xfrm>
          <a:prstGeom prst="rect">
            <a:avLst/>
          </a:prstGeom>
          <a:solidFill>
            <a:srgbClr val="F8FA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195681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</a:rPr>
              <a:t>Cabin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19568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2"/>
                </a:solidFill>
              </a:rPr>
              <a:t>%77.1 eksik (687 satır)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195681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Düşür veya flag ekle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2048256"/>
            <a:ext cx="14630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Kritik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2596896"/>
            <a:ext cx="8732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64261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</a:rPr>
              <a:t>Embarked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26426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2"/>
                </a:solidFill>
              </a:rPr>
              <a:t>%0.2 eksik (2 satır)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51960" y="264261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Mode ile doldur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2734056"/>
            <a:ext cx="146304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27340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🟡 Düşük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" y="3282696"/>
            <a:ext cx="8732520" cy="621792"/>
          </a:xfrm>
          <a:prstGeom prst="rect">
            <a:avLst/>
          </a:prstGeom>
          <a:solidFill>
            <a:srgbClr val="F8FA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332841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</a:rPr>
              <a:t>Fare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33284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2"/>
                </a:solidFill>
              </a:rPr>
              <a:t>Max=512, IQR sınırı ~65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51960" y="332841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Log transform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0" y="3419856"/>
            <a:ext cx="146304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3419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🟠 Orta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" y="4023360"/>
            <a:ext cx="8732520" cy="914400"/>
          </a:xfrm>
          <a:prstGeom prst="rect">
            <a:avLst/>
          </a:prstGeom>
          <a:solidFill>
            <a:srgbClr val="060D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🏆  Sprint 1 Puanlama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</a:rPr>
              <a:t>Tüm eksik değerleri tespit: +10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14600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</a:rPr>
              <a:t>Doğru strateji önerisi: +15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</a:rPr>
              <a:t>IQR ile outlier tespiti: +10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</a:rPr>
              <a:t>En hızlı doğru rapor: +5 Bonus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Sprint 2 — Tek Değişken Analizi &amp; Görselleştirme  (30 dk)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109728"/>
            <a:ext cx="1234440" cy="40233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0972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30 dk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4160520" cy="4133088"/>
          </a:xfrm>
          <a:prstGeom prst="rect">
            <a:avLst/>
          </a:prstGeom>
          <a:solidFill>
            <a:srgbClr val="E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41605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804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 TAKIM A — Kategorik Dağılımlar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1762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Cinsiyet dağılımı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450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sns.countplot(x='Sex', data=df)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2999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Sınıf vs Hayatta Kalma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273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sns.countplot(x='Pclass', hue='Survived',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3547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data=df, palette='Set2')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4096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Cinsiyet × Sınıf çapraz tablo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pd.crosstab(df['Sex'], df['Pclass'],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46451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values=df['Survived'], aggfunc='mean')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4681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🎯 Soru: En yüksek hayatta kalma oranı hangi grupta?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804672"/>
            <a:ext cx="4160520" cy="4133088"/>
          </a:xfrm>
          <a:prstGeom prst="rect">
            <a:avLst/>
          </a:prstGeom>
          <a:solidFill>
            <a:srgbClr val="FFF3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804672"/>
            <a:ext cx="416052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804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🟠  TAKIM B — Sayısal Dağılımlar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1627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1762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Yaş dağılımı (skewness?)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2450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sns.histplot(df['Age'].dropna(), kde=True)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999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Fare — log scale gerekli mi?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273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(ax1,ax2) = plt.subplots(1,2)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3547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sns.histplot(df['Fare'], ax=ax1)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8221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sns.histplot(np.log1p(df['Fare']), ax=ax2)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Boxplot ile outlier görselleştir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6451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sns.boxplot(x='Survived', y='Fare', data=df)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4681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🎯 Soru: Fare dağılımı normal mi? Log transform gerekir mi?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Sprint 3 — Çok Değişken Analizi &amp; İçgörü  (30 dk)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109728"/>
            <a:ext cx="1234440" cy="40233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0972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30 dk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4160520" cy="4133088"/>
          </a:xfrm>
          <a:prstGeom prst="rect">
            <a:avLst/>
          </a:prstGeom>
          <a:solidFill>
            <a:srgbClr val="E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41605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804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 TAKIM A — Kategorik Çapraz Analiz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FacetGrid: Sınıf × Cinsiyet × Hayatta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sns.FacetGrid(df, col='Pclass',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hue='Survived', row='Sex')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1762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g.map(sns.histplot, 'Age')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724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Pivot table analizi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999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df.pivot_table('Survived',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273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index='Sex', columns='Pclass')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8221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Chi-kare testi (bağımsızlık?)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096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chi2_contingency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 = pd.crosstab(df['Sex'],df['Survived'])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6451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chi2, p, dof, _ = chi2_contingency(ct)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4919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print(f'p-değeri: {p:.4f}')  # &lt;0.05?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804672"/>
            <a:ext cx="4160520" cy="4133088"/>
          </a:xfrm>
          <a:prstGeom prst="rect">
            <a:avLst/>
          </a:prstGeom>
          <a:solidFill>
            <a:srgbClr val="FFF3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3168" y="804672"/>
            <a:ext cx="416052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804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🟠  TAKIM B — Korelasyon Matrisi &amp; Isı Haritası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Sayısal korelasyon matrisi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627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df[['Age','Fare','SibSp',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901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'Parch','Survived']].corr()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450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Isı haritası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724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annot=True,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999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cmap='coolwarm', center=0,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273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fmt='.2f', linewidths=0.5)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8221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Pairplot (ilişkileri toplu gör)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096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sns.pairplot(df[['Age','Fare',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'Pclass','Survived']],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6451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hue='Survived', diag_kind='kde')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919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FamilySize feature denemesi?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🎤  Sprint Review — Sunum Çerçevesi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DD3FC"/>
                </a:solidFill>
              </a:rPr>
              <a:t>Her Sprint sonunda her takım 3 dakika sunum yapar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160020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5087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Ne Buldunuz?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Tespit ettiğiniz kalite sorunlarını ve istatistikleri paylaşın. Sayılar konuşsun.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14800" cy="160020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71600"/>
            <a:ext cx="64008" cy="160020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508760"/>
            <a:ext cx="502920" cy="50292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4813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DE5"/>
                </a:solidFill>
              </a:rPr>
              <a:t>Sizi Şaşırtan?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Beklentinizle örtüşmeyen bir bulgu var mıydı? Ön yargılar çürütüldü mü?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114800" cy="160020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64008" cy="1600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333756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3101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Öneriniz Nedir?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7216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Bu veri kalitesi sorunu ML modeline nasıl zarar verir? Çözümünüz ne?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114800" cy="160020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200400"/>
            <a:ext cx="64008" cy="16002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5" name="Shape 23"/>
          <p:cNvSpPr/>
          <p:nvPr/>
        </p:nvSpPr>
        <p:spPr>
          <a:xfrm>
            <a:off x="4828032" y="3337560"/>
            <a:ext cx="502920" cy="50292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33101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</a:rPr>
              <a:t>Diğer Takım?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7216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Rakip takımın bulduğu bir şeyi sen neden kaçırdın? Öğrendiğin ne oldu?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🏆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37744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&amp; Yarışma Sonuçları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37744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30 dakika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Eksik Veri Stratejileri — Doğru Yaklaşım Hangisi?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8732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64008" cy="7498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987552"/>
            <a:ext cx="19202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Sil (dropna)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8778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Eksiklik &lt;%5 ve rastlantısalsa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66360" y="9692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⚠️ Veri kaybı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692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df.dropna(subset=['Age'])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645920"/>
            <a:ext cx="8732520" cy="749808"/>
          </a:xfrm>
          <a:prstGeom prst="rect">
            <a:avLst/>
          </a:prstGeom>
          <a:solidFill>
            <a:srgbClr val="F8FA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645920"/>
            <a:ext cx="64008" cy="7498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" y="1828800"/>
            <a:ext cx="192024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Ortalama ile Doldur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17190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Normal dağılımlı sayısal sütun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66360" y="18105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⚠️ Varyansı düşürür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12280" y="18105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df['Age'].fillna(df['Age'].mean())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2487168"/>
            <a:ext cx="8732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487168"/>
            <a:ext cx="64008" cy="74980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" y="2670048"/>
            <a:ext cx="1920240" cy="34747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670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Medyan ile Doldur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25603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Sağa/sola çarpık dağılım, outlier var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66360" y="26517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⚠️ Bilgi kaybı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df['Age'].fillna(df['Age'].median())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3328416"/>
            <a:ext cx="8732520" cy="749808"/>
          </a:xfrm>
          <a:prstGeom prst="rect">
            <a:avLst/>
          </a:prstGeom>
          <a:solidFill>
            <a:srgbClr val="F8FA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328416"/>
            <a:ext cx="64008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" y="3511296"/>
            <a:ext cx="192024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35112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 ile Doldur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34015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Kategorik sütunlar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66360" y="34930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⚠️ Overfitting riski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34930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df['Embarked'].fillna(df['Embarked'].mode()[0])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1168" y="4169664"/>
            <a:ext cx="8732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4169664"/>
            <a:ext cx="64008" cy="74980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92608" y="4352544"/>
            <a:ext cx="1920240" cy="34747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352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Flag + Doldur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331720" y="42428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Eksikliğin kendisi bilgi taşıyorsa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66360" y="43342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⚠️ Sütun sayısı artar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12280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df['Cabin_flag'] = df['Cabin'].isnull().astype(int)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Aykırı Değer (Outlier) Analizi — IQR Yöntemi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9768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445230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3E8A"/>
                </a:solidFill>
              </a:rPr>
              <a:t>IQR Kutu Grafiği (Boxplot)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21992" y="1371600"/>
            <a:ext cx="36576" cy="457200"/>
          </a:xfrm>
          <a:prstGeom prst="line">
            <a:avLst/>
          </a:prstGeom>
          <a:noFill/>
          <a:ln w="25400">
            <a:solidFill>
              <a:srgbClr val="023E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371600"/>
            <a:ext cx="640080" cy="0"/>
          </a:xfrm>
          <a:prstGeom prst="line">
            <a:avLst/>
          </a:prstGeom>
          <a:noFill/>
          <a:ln w="25400">
            <a:solidFill>
              <a:srgbClr val="023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21992" y="3291840"/>
            <a:ext cx="36576" cy="457200"/>
          </a:xfrm>
          <a:prstGeom prst="line">
            <a:avLst/>
          </a:prstGeom>
          <a:noFill/>
          <a:ln w="25400">
            <a:solidFill>
              <a:srgbClr val="023E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3749040"/>
            <a:ext cx="640080" cy="0"/>
          </a:xfrm>
          <a:prstGeom prst="line">
            <a:avLst/>
          </a:prstGeom>
          <a:noFill/>
          <a:ln w="25400">
            <a:solidFill>
              <a:srgbClr val="023E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828800"/>
            <a:ext cx="2286000" cy="1463040"/>
          </a:xfrm>
          <a:prstGeom prst="rect">
            <a:avLst/>
          </a:prstGeom>
          <a:solidFill>
            <a:srgbClr val="DBEAFE"/>
          </a:solidFill>
          <a:ln w="25400">
            <a:solidFill>
              <a:srgbClr val="023E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560320"/>
            <a:ext cx="22860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960120"/>
            <a:ext cx="219456" cy="21945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Shape 11"/>
          <p:cNvSpPr/>
          <p:nvPr/>
        </p:nvSpPr>
        <p:spPr>
          <a:xfrm>
            <a:off x="2130552" y="1261872"/>
            <a:ext cx="219456" cy="21945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Q3 + 1.5×IQR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Q3 (75.per)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Medyan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Q1 (25.per)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Q1 − 1.5×IQR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449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</a:rPr>
              <a:t>🔴 Aykırı Değer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804672"/>
            <a:ext cx="4206240" cy="4069080"/>
          </a:xfrm>
          <a:prstGeom prst="rect">
            <a:avLst/>
          </a:prstGeom>
          <a:solidFill>
            <a:srgbClr val="0A0F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IQR ile Outlier Tespiti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298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df['Fare'].quantile(0.25)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15453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df['Fare'].quantile(0.75)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1792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Q1 - 1.5 * IQR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5328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= Q3 + 1.5 * IQR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026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df[(df['Fare'] &lt; lower) |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273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(df['Fare'] &gt; upper)]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520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print(f'Outlier sayısı: {len(outliers)}')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40142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AD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Z-Score yöntemi (alternatif)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42611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4507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np.abs(stats.zscore(df['Fare']))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4754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outliers_z = df[z &gt; 3]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⚙️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37744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için Veri Hazırlama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37744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30 dakika · EDA'dan Feature Engineering'e köprü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Feature Engineering — EDA'dan Türetilen Özellikler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8732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64008" cy="62179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961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Name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554480" y="9418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DE5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914400"/>
            <a:ext cx="1188720" cy="38404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914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Title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9144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df['Title'] = df['Name'].str.extract(r' ([A-Za-z]+)\.')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0" y="89611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Mr/Mrs/Miss → sosyal sınıf sinyali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1499616"/>
            <a:ext cx="8732520" cy="621792"/>
          </a:xfrm>
          <a:prstGeom prst="rect">
            <a:avLst/>
          </a:prstGeom>
          <a:solidFill>
            <a:srgbClr val="F0F4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499616"/>
            <a:ext cx="64008" cy="62179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5910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SibSp + Parch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554480" y="163677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DE5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1609344"/>
            <a:ext cx="1188720" cy="38404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16093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FamilySize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160934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df['FamilySize'] = df['SibSp'] + df['Parch'] + 1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0" y="159105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Aile büyüklüğü → kurtuluş koordinasyonu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194560"/>
            <a:ext cx="8732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194560"/>
            <a:ext cx="64008" cy="62179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2860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FamilySize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554480" y="2331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DE5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2304288"/>
            <a:ext cx="1188720" cy="38404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2304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IsAlone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230428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df['IsAlone'] = (df['FamilySize'] == 1).astype(int)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0" y="22860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Yalnız yolcular → farklı karar alma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2889504"/>
            <a:ext cx="8732520" cy="621792"/>
          </a:xfrm>
          <a:prstGeom prst="rect">
            <a:avLst/>
          </a:prstGeom>
          <a:solidFill>
            <a:srgbClr val="F0F4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2889504"/>
            <a:ext cx="64008" cy="62179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Fare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554480" y="302666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DE5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828800" y="2999232"/>
            <a:ext cx="1188720" cy="38404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29992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FareBin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29992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df['FareBin'] = pd.qcut(df['Fare'], 4, labels=[0,1,2,3])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0" y="298094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Sürekli → kategorik (non-lineer ilişki)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" y="3584448"/>
            <a:ext cx="8732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1168" y="3584448"/>
            <a:ext cx="64008" cy="62179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36758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Age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554480" y="372160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DE5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828800" y="3694176"/>
            <a:ext cx="1188720" cy="38404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1" name="Text 39"/>
          <p:cNvSpPr/>
          <p:nvPr/>
        </p:nvSpPr>
        <p:spPr>
          <a:xfrm>
            <a:off x="1828800" y="3694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AgeBin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08960" y="36941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df['AgeBin'] = pd.cut(df['Age'], bins=[0,12,18,35,60,99])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0" y="367588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Çocuk/genç/orta/yaşlı → hayatta kalma grubu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01168" y="4279392"/>
            <a:ext cx="8732520" cy="621792"/>
          </a:xfrm>
          <a:prstGeom prst="rect">
            <a:avLst/>
          </a:prstGeom>
          <a:solidFill>
            <a:srgbClr val="F0F4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01168" y="4279392"/>
            <a:ext cx="64008" cy="62179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370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Cabin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554480" y="441655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DE5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828800" y="4389120"/>
            <a:ext cx="1188720" cy="38404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9" name="Text 47"/>
          <p:cNvSpPr/>
          <p:nvPr/>
        </p:nvSpPr>
        <p:spPr>
          <a:xfrm>
            <a:off x="1828800" y="4389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Deck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108960" y="43891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df['Deck'] = df['Cabin'].str[0].fillna('U')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15200" y="43708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Kabin harfi → güverte/konum bilgisi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F4A26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🏆  Yarışma Puan Tablosu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38404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Kriter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Takım A Max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Takım B Max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8595360" cy="402336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Eksik veri tespiti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+10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+10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8595360" cy="402336"/>
          </a:xfrm>
          <a:prstGeom prst="rect">
            <a:avLst/>
          </a:prstGeom>
          <a:solidFill>
            <a:srgbClr val="14134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74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Doğru strateji önerisi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+15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1874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+15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8595360" cy="402336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331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En anlamlı görselleştirme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+15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331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+15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8595360" cy="402336"/>
          </a:xfrm>
          <a:prstGeom prst="rect">
            <a:avLst/>
          </a:prstGeom>
          <a:solidFill>
            <a:srgbClr val="14134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788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Korelasyon/istatistik yorumu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63440" y="2788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+15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+15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74320" y="3218688"/>
            <a:ext cx="8595360" cy="402336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246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Feature engineering önerisi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+20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+20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8595360" cy="402336"/>
          </a:xfrm>
          <a:prstGeom prst="rect">
            <a:avLst/>
          </a:prstGeom>
          <a:solidFill>
            <a:srgbClr val="141340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703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Sunum &amp; iletişim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3703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+15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+15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74320" y="4133088"/>
            <a:ext cx="8595360" cy="402336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160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Bonus: Şaşırtıcı içgörü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6344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+10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75120" y="4160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</a:rPr>
              <a:t>+10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" y="46451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TOPLAM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63440" y="4645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100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75120" y="4645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100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Tamamlandı mı? — ML Öncesi Checklist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4206240" cy="438912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80467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☐ Veri Yükleme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3075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df.shape ile boyut kontrol edildi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" y="1645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df.dtypes ile tip uyumsuzlukları gözden geçirildi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" y="1984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df.head() / tail() ile veri önizlendi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" y="23225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df.describe() ile temel istatistikler alındı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36008" y="804672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804672"/>
            <a:ext cx="4206240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45736" y="80467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☐ Kalite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13075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Tüm sütunlardaki null oranı hesaplandı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73168" y="1645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Her null için uygun strateji belirlendi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3168" y="1984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Outlier'lar tespit ve belgelendi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73168" y="23225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Duplike satırlar kontrol edildi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1168" y="28346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834640"/>
            <a:ext cx="4206240" cy="43891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" y="283464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☐ Görselleştirme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3375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Hedef değişken dağılımı görselleştirildi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" y="3675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Sayısal değişkenler histplot/boxplot ile analiz edildi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" y="40142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Kategorik değişkenler countplot ile analiz edildi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" y="43525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Korelasyon ısı haritası oluşturuldu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36008" y="28346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834640"/>
            <a:ext cx="4206240" cy="43891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283464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☐ Feature Eng.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3168" y="33375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Yeni anlamlı değişkenler üretildi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73168" y="3675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Gereksiz sütunlar belirlendi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73168" y="40142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Encoding stratejisi (label/one-hot) belirlendi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73168" y="43525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2"/>
                </a:solidFill>
              </a:rPr>
              <a:t>☐  Özellik önem sıralaması için hipotez kuruldu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9B5DE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📚  Kaynaklar &amp; Ödev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011680" cy="150876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</a:rPr>
              <a:t>Kaggle Titanic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Derste kullandığınız veri seti — leaderboard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932688"/>
            <a:ext cx="2011680" cy="150876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32304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23744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</a:rPr>
              <a:t>Pandas Docs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23744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df.describe, groupby, pivot_table referansı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932688"/>
            <a:ext cx="2011680" cy="150876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0016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</a:rPr>
              <a:t>Seaborn Gallery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0016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Görselleştirme örnekleri ve parametre listesi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84848" y="932688"/>
            <a:ext cx="2011680" cy="150876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84848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76288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</a:rPr>
              <a:t>Towards DS - EDA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76288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Gerçek dünya EDA case study yazıları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606040"/>
            <a:ext cx="8641080" cy="187452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606040"/>
            <a:ext cx="64008" cy="18745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651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🏠  ÖDEV — Bireysel EDA </a:t>
            </a:r>
            <a:r>
              <a:rPr lang="en-US" sz="1500" b="1" dirty="0" err="1">
                <a:solidFill>
                  <a:srgbClr val="F4A261"/>
                </a:solidFill>
              </a:rPr>
              <a:t>Projesi</a:t>
            </a:r>
            <a:r>
              <a:rPr lang="en-US" sz="1500" b="1" dirty="0">
                <a:solidFill>
                  <a:srgbClr val="F4A261"/>
                </a:solidFill>
              </a:rPr>
              <a:t> (</a:t>
            </a:r>
            <a:r>
              <a:rPr lang="tr-TR" sz="1500" b="1" dirty="0">
                <a:solidFill>
                  <a:srgbClr val="F4A261"/>
                </a:solidFill>
              </a:rPr>
              <a:t>1</a:t>
            </a:r>
            <a:r>
              <a:rPr lang="en-US" sz="1500" b="1" dirty="0">
                <a:solidFill>
                  <a:srgbClr val="F4A261"/>
                </a:solidFill>
              </a:rPr>
              <a:t> Hafta)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" y="309067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1. Kaggle'dan kendi seçtiğin bir veri seti indir (tavsiye: House Prices, Airline, Heart Disease)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2. Eksiksiz EDA notebook'u yaz: Veri kalitesi → Tek değişken → Çok değişken → İçgörüler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37673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3. En az 3 anlamlı görselleştirme ve 1 istatistiksel test (chi2 veya t-test) ekle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410565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4. Sonunda: 'Bu veri seti ML modeline hazır mı?' sorusunu yanıtla + GitHub'a yükle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"Veriyi tanımadan model kurma — exploration &gt; exploitation at the start!"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943600" cy="5943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Ders Sonu Hedefleri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14400" y="960120"/>
            <a:ext cx="7955280" cy="64008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78408" y="1024128"/>
            <a:ext cx="402336" cy="40233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90472" y="10058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Ham veriyi yükleyip temel istatistiklerle tanıyabilirsin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1709928"/>
            <a:ext cx="7955280" cy="64008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78408" y="1773936"/>
            <a:ext cx="402336" cy="40233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3" name="Text 10"/>
          <p:cNvSpPr/>
          <p:nvPr/>
        </p:nvSpPr>
        <p:spPr>
          <a:xfrm>
            <a:off x="978408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90472" y="175564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Eksik değerleri tespit edip uygun stratejiyle doldurabilirsin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2459736"/>
            <a:ext cx="7955280" cy="64008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78408" y="2523744"/>
            <a:ext cx="402336" cy="40233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7" name="Text 14"/>
          <p:cNvSpPr/>
          <p:nvPr/>
        </p:nvSpPr>
        <p:spPr>
          <a:xfrm>
            <a:off x="978408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90472" y="250545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IQR yöntemiyle aykırı değerleri belirleyip görselleştirebilirsin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3209544"/>
            <a:ext cx="7955280" cy="64008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78408" y="3273552"/>
            <a:ext cx="402336" cy="40233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21" name="Text 18"/>
          <p:cNvSpPr/>
          <p:nvPr/>
        </p:nvSpPr>
        <p:spPr>
          <a:xfrm>
            <a:off x="978408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90472" y="325526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Seaborn/Matplotlib ile histplot, boxplot, heatmap çizebilirsin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14400" y="3959352"/>
            <a:ext cx="7955280" cy="640080"/>
          </a:xfrm>
          <a:prstGeom prst="rect">
            <a:avLst/>
          </a:prstGeom>
          <a:solidFill>
            <a:srgbClr val="0F1E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78408" y="4023360"/>
            <a:ext cx="402336" cy="40233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25" name="Text 22"/>
          <p:cNvSpPr/>
          <p:nvPr/>
        </p:nvSpPr>
        <p:spPr>
          <a:xfrm>
            <a:off x="978408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90472" y="400507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EDA bulgularından anlamlı feature engineering önerileri çıkarabilirsin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44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"Veriyi anlamadan model kurmak, haritasız sefere çıkmak gibidir."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2252</Words>
  <Application>Microsoft Office PowerPoint</Application>
  <PresentationFormat>On-screen Show (16:9)</PresentationFormat>
  <Paragraphs>437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Uygulamalı Makine Öğrenmesi – EDA İnteraktif Ders</dc:title>
  <dc:subject>PptxGenJS Presentation</dc:subject>
  <dc:creator>PptxGenJS</dc:creator>
  <cp:lastModifiedBy>Nano</cp:lastModifiedBy>
  <cp:revision>2</cp:revision>
  <dcterms:created xsi:type="dcterms:W3CDTF">2026-03-03T03:08:50Z</dcterms:created>
  <dcterms:modified xsi:type="dcterms:W3CDTF">2026-03-03T03:20:46Z</dcterms:modified>
</cp:coreProperties>
</file>