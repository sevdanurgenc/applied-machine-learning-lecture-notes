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Önem Skoru</c:v>
                </c:pt>
              </c:strCache>
            </c:strRef>
          </c:tx>
          <c:spPr>
            <a:solidFill>
              <a:srgbClr val="FFD1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Proline</c:v>
                  </c:pt>
                  <c:pt idx="1">
                    <c:v>Flavanoids</c:v>
                  </c:pt>
                  <c:pt idx="2">
                    <c:v>Color Intensity</c:v>
                  </c:pt>
                  <c:pt idx="3">
                    <c:v>OD280</c:v>
                  </c:pt>
                  <c:pt idx="4">
                    <c:v>Alcalinity</c:v>
                  </c:pt>
                  <c:pt idx="5">
                    <c:v>Alcohol</c:v>
                  </c:pt>
                  <c:pt idx="6">
                    <c:v>Dilution</c:v>
                  </c:pt>
                  <c:pt idx="7">
                    <c:v>Phenols</c:v>
                  </c:pt>
                  <c:pt idx="8">
                    <c:v>Ash</c:v>
                  </c:pt>
                  <c:pt idx="9">
                    <c:v>Malic Acid</c:v>
                  </c:pt>
                  <c:pt idx="10">
                    <c:v>Magnesium</c:v>
                  </c:pt>
                  <c:pt idx="11">
                    <c:v>Non-flav.</c:v>
                  </c:pt>
                  <c:pt idx="12">
                    <c:v>Hue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0.285</c:v>
                </c:pt>
                <c:pt idx="1">
                  <c:v>0.198</c:v>
                </c:pt>
                <c:pt idx="2">
                  <c:v>0.155</c:v>
                </c:pt>
                <c:pt idx="3">
                  <c:v>0.098</c:v>
                </c:pt>
                <c:pt idx="4">
                  <c:v>0.063</c:v>
                </c:pt>
                <c:pt idx="5">
                  <c:v>0.052</c:v>
                </c:pt>
                <c:pt idx="6">
                  <c:v>0.044</c:v>
                </c:pt>
                <c:pt idx="7">
                  <c:v>0.038</c:v>
                </c:pt>
                <c:pt idx="8">
                  <c:v>0.028</c:v>
                </c:pt>
                <c:pt idx="9">
                  <c:v>0.018</c:v>
                </c:pt>
                <c:pt idx="10">
                  <c:v>0.011</c:v>
                </c:pt>
                <c:pt idx="11">
                  <c:v>0.008</c:v>
                </c:pt>
                <c:pt idx="12">
                  <c:v>0.002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C8C">
              <a:alpha val="35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474720" cy="347472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11480"/>
            <a:ext cx="384048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114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B4B"/>
                </a:solidFill>
              </a:rPr>
              <a:t>UYGULAMALI MAKİNE ÖĞRENMESİ — HAFTA 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Ağaçları &amp;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2860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228600" y="2377440"/>
            <a:ext cx="475488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542032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4871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Gini İmpurity &amp; Entropy — Saflık Ölçütleri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889504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834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Bilgi Kazancı &amp; CART Algoritması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236976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1821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Ağaç Görselleştirme &amp; Kural Çıkarımı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584448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5295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Derinlik Analizi — Overfitting/Underfitting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931920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87705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Bayes Teoremi &amp; Naive Varsayım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4279392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42245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Gaussian, Multinomial &amp; Bernoulli NB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749040"/>
            <a:ext cx="2606040" cy="1143000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840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📅 Hafta 3 — Sınıflandırma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4087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🎓 Lisans 3-4 / YL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4334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⏱️  ~3 Ders Saati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45811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🗃️  Iris · Wine · 20 Newsgroups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Planı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1148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32688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32688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32688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932688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Karar Ağacı Nedir? Bileşenler &amp; Özellikler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737360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737360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737360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" y="173736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Saflık Ölçütleri: Gini İmpurity &amp; Entropy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542032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542032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542032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" y="2542032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Bilgi Kazancı &amp; CART Algoritması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346704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346704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346704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" y="3346704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Önemli Hiperparametreler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4151376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4151376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15137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" y="4151376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Ağaç Görselleştirme &amp; Kural Yorumlama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932688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932688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932688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75504" y="932688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Derinlik Analizi — Overfitting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737360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737360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737360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75504" y="173736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Özellik Önemleri (Feature Importances)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542032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542032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542032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75504" y="2542032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Karar Sınırları — Dikdörtgen Yapı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346704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346704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346704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75504" y="3346704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Naive Bayes Nedir? Bayes Teoremi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4151376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4151376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15137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75504" y="4151376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Gaussian, Multinomial &amp; Bernoulli NB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4956048"/>
            <a:ext cx="8686800" cy="128016"/>
          </a:xfrm>
          <a:prstGeom prst="rect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4956048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+ Model Karşılaştırması: KNN · LR · Karar Ağacı · Naive Bayes  |  Veri: Iris · Wine · 20 Newsgroups (Metin)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 Nedir? — Bileşenler &amp; Temel Özellikler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2"/>
                </a:solidFill>
              </a:rPr>
              <a:t>Tanım: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Veriyi ardışık ikili sorularla sınıflara ayıran kural bazlı denetimli öğrenme algoritması. Her düğüm 'Özellik j ≤ t mı?' sorusunu yanıtlar.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" y="1408176"/>
            <a:ext cx="4114800" cy="34015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408176"/>
            <a:ext cx="411480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9961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Ağaç Yapısı — Iris Örneği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1828800"/>
            <a:ext cx="2468880" cy="475488"/>
          </a:xfrm>
          <a:prstGeom prst="rect">
            <a:avLst/>
          </a:prstGeom>
          <a:solidFill>
            <a:srgbClr val="0D1B4B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828800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C9A7"/>
                </a:solidFill>
              </a:rPr>
              <a:t>Kök Düğüm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0C9A7"/>
                </a:solidFill>
              </a:rPr>
              <a:t>Petal uzunluk ≤ 2.45?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554480" y="2304288"/>
            <a:ext cx="0" cy="32918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34640" y="2304288"/>
            <a:ext cx="0" cy="329184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633472"/>
            <a:ext cx="1508760" cy="438912"/>
          </a:xfrm>
          <a:prstGeom prst="rect">
            <a:avLst/>
          </a:prstGeom>
          <a:solidFill>
            <a:srgbClr val="22C55E">
              <a:alpha val="5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33472"/>
            <a:ext cx="1508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1B4B"/>
                </a:solidFill>
              </a:rPr>
              <a:t>🍃 Yaprak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0D1B4B"/>
                </a:solidFill>
              </a:rPr>
              <a:t>Setosa (saf!)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148840" y="2633472"/>
            <a:ext cx="1371600" cy="438912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263347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İç Düğüm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Petal gen.≤1.8?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50592" y="3072384"/>
            <a:ext cx="0" cy="25603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18688" y="3072384"/>
            <a:ext cx="0" cy="256032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828800" y="3328416"/>
            <a:ext cx="1188720" cy="384048"/>
          </a:xfrm>
          <a:prstGeom prst="rect">
            <a:avLst/>
          </a:prstGeom>
          <a:solidFill>
            <a:srgbClr val="60A5FA">
              <a:alpha val="5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33284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4B"/>
                </a:solidFill>
              </a:rPr>
              <a:t>🍃 Versicolor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063240" y="3328416"/>
            <a:ext cx="1188720" cy="384048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332841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D1B4B"/>
                </a:solidFill>
              </a:rPr>
              <a:t>🍃 Virginica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4078224"/>
          <a:ext cx="4114800" cy="713232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</a:tblGrid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Bileşen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Kök Düğüm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veriyi içeren başlangıç noktası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İç Düğüm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Bir özellik üzerindeki test: x_j ≤ t?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 (Branch)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sonucuna göre yol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Yaprak Düğüm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tahmin — sınıf etiketi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Shape 25"/>
          <p:cNvSpPr/>
          <p:nvPr/>
        </p:nvSpPr>
        <p:spPr>
          <a:xfrm>
            <a:off x="4434840" y="1408176"/>
            <a:ext cx="457200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434840" y="1408176"/>
            <a:ext cx="457200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44568" y="1499616"/>
            <a:ext cx="4343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Karar Ağacı — Temel Özellikler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1792224"/>
          <a:ext cx="4572000" cy="2578608"/>
        </p:xfrm>
        <a:graphic>
          <a:graphicData uri="http://schemas.openxmlformats.org/drawingml/2006/table">
            <a:tbl>
              <a:tblPr/>
              <a:tblGrid>
                <a:gridCol w="2103120"/>
                <a:gridCol w="24688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Sınıflandırma + Regresyon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Yorumlanabilirlik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Çok Yüksek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Ölçeklendirme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Gerekmez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Türü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Sayısal + Kategorik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Sınır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Dikdörtgen (non-linear)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Riski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Yüksek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Önemi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Gini bazlı hesap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Eksik Veri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Bazı impl. destekler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 sayısı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(N_nodes × özellikleri)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ext 28"/>
          <p:cNvSpPr/>
          <p:nvPr/>
        </p:nvSpPr>
        <p:spPr>
          <a:xfrm>
            <a:off x="4544568" y="4443984"/>
            <a:ext cx="4343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B"/>
                </a:solidFill>
              </a:rPr>
              <a:t>Karşılaştırma — Önceki Modellerle:</a:t>
            </a:r>
            <a:endParaRPr lang="en-US" sz="95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34840" y="4681728"/>
          <a:ext cx="4572000" cy="420624"/>
        </p:xfrm>
        <a:graphic>
          <a:graphicData uri="http://schemas.openxmlformats.org/drawingml/2006/table">
            <a:tbl>
              <a:tblPr/>
              <a:tblGrid>
                <a:gridCol w="1188720"/>
                <a:gridCol w="1097280"/>
                <a:gridCol w="1005840"/>
                <a:gridCol w="1280160"/>
              </a:tblGrid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 Reg.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Ağacı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Dikdörtgen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Gerekli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Zorunlu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Gerekmez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Çok Yüksek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Shape 2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Karar ağacı = IF-THEN kural sistemi. İnsanlar tarafından kolayca okunabilir ve denetlenebilir.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Saflık Ölçütleri: Gini İmpurity &amp; Entropy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</a:rPr>
              <a:t>Karar ağacı her adımda 'hangi bölme veriyi en saf hale getirir?' sorusunu yanıtlar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4251960" cy="3273552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789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</a:rPr>
              <a:t>Gini İmpurity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389888"/>
            <a:ext cx="4005072" cy="475488"/>
          </a:xfrm>
          <a:prstGeom prst="rect">
            <a:avLst/>
          </a:prstGeom>
          <a:solidFill>
            <a:srgbClr val="000000">
              <a:alpha val="55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89888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Gini(t) = 1 − Σ pₖ²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" y="1956816"/>
            <a:ext cx="4005072" cy="384048"/>
          </a:xfrm>
          <a:prstGeom prst="rect">
            <a:avLst/>
          </a:prstGeom>
          <a:solidFill>
            <a:srgbClr val="253C8C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19751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Saf düğüm [0,0,0,0]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12848" y="19751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 = 0.000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38144" y="197510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✅ İdeal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7472" y="2395728"/>
            <a:ext cx="4005072" cy="384048"/>
          </a:xfrm>
          <a:prstGeom prst="rect">
            <a:avLst/>
          </a:prstGeom>
          <a:solidFill>
            <a:srgbClr val="253C8C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4140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Karışık [0,0,1,1,1]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12848" y="2414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 = 0.480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38144" y="2414016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⚠️ Kirli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7472" y="2834640"/>
            <a:ext cx="4005072" cy="384048"/>
          </a:xfrm>
          <a:prstGeom prst="rect">
            <a:avLst/>
          </a:prstGeom>
          <a:solidFill>
            <a:srgbClr val="253C8C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852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Eşit [0,1,0,1]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12848" y="28529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Gini = 0.500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38144" y="285292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❌ Max kirlilik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47472" y="3310128"/>
            <a:ext cx="4005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p=0.5 (2 sınıf) → Gini maksimum = 0.5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Hız avantajı: log hesabı yok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sklearn varsayılanı: criterion='gini'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987552"/>
            <a:ext cx="4251960" cy="3273552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1078992"/>
            <a:ext cx="4005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0A5FA"/>
                </a:solidFill>
              </a:rPr>
              <a:t>Shannon Entropisi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82312" y="1389888"/>
            <a:ext cx="4005072" cy="475488"/>
          </a:xfrm>
          <a:prstGeom prst="rect">
            <a:avLst/>
          </a:prstGeom>
          <a:solidFill>
            <a:srgbClr val="000000">
              <a:alpha val="55000"/>
            </a:srgbClr>
          </a:solidFill>
          <a:ln w="10160">
            <a:solidFill>
              <a:srgbClr val="60A5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82312" y="1389888"/>
            <a:ext cx="4005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H(t) = −Σ pₖ log₂(pₖ)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782312" y="1956816"/>
            <a:ext cx="4005072" cy="384048"/>
          </a:xfrm>
          <a:prstGeom prst="rect">
            <a:avLst/>
          </a:prstGeom>
          <a:solidFill>
            <a:srgbClr val="253C8C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73752" y="1975104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Saf düğüm [0,0,0,0]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647688" y="19751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0.000 bit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872984" y="1975104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✅ İdeal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82312" y="2395728"/>
            <a:ext cx="4005072" cy="384048"/>
          </a:xfrm>
          <a:prstGeom prst="rect">
            <a:avLst/>
          </a:prstGeom>
          <a:solidFill>
            <a:srgbClr val="253C8C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73752" y="24140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Karışık [0,0,1,1,1]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647688" y="2414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0.971 bit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872984" y="2414016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⚠️ Kirli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82312" y="2834640"/>
            <a:ext cx="4005072" cy="384048"/>
          </a:xfrm>
          <a:prstGeom prst="rect">
            <a:avLst/>
          </a:prstGeom>
          <a:solidFill>
            <a:srgbClr val="253C8C">
              <a:alpha val="4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73752" y="2852928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Eşit [0,1,0,1]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647688" y="285292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= 1.000 bit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872984" y="285292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❌ Max kirlilik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782312" y="3310128"/>
            <a:ext cx="400507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p=0.5 (2 sınıf) → Entropy maksimum = 1 bit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Bilgi teorisi ile tutarlı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→ sklearn: criterion='entropy'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4334256"/>
            <a:ext cx="8686800" cy="658368"/>
          </a:xfrm>
          <a:prstGeom prst="rect">
            <a:avLst/>
          </a:prstGeom>
          <a:solidFill>
            <a:srgbClr val="253C8C">
              <a:alpha val="7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43891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Karşılaştırma: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783080" y="4389120"/>
            <a:ext cx="6995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Her iki ölçüt de genellikle çok benzer ağaçlar üretir. Gini daha hızlı (log yok). Entropy bazen biraz daha dengeli bölme sağlar. Fark çoğu zaman ihmal edilebilir.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Bilgi Kazancı &amp; CART Algoritması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512064"/>
          </a:xfrm>
          <a:prstGeom prst="rect">
            <a:avLst/>
          </a:prstGeom>
          <a:solidFill>
            <a:srgbClr val="EEF2FF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IG(t, a) = H(t) − Σᵥ (|tᵥ|/|t|) · H(tᵥ)     |     Gini Azalma = Gini(t) − (Nₛₒₗ/N)·Gini(tₛₒₗ) − (Nₛₐğ/N)·Gini(tₛₐğ)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4592" y="1353312"/>
            <a:ext cx="5303520" cy="349300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1353312"/>
            <a:ext cx="530352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44752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Somut Örnek — Bilgi Kazancı Hesabı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737360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Ebeveyn düğüm: [5 Pozitif, 5 Negatif] → 10 örnek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" y="1956816"/>
            <a:ext cx="5074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9E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H(ebeveyn) = −(0.5·log₂0.5 + 0.5·log₂0.5) = 1.0 bit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231136"/>
            <a:ext cx="5074920" cy="1170432"/>
          </a:xfrm>
          <a:prstGeom prst="rect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228600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Bölme A (İYİ):  Sol [4P,1N]  |  Sağ [1P,4N]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" y="254203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H(sol) = 0.722 bit   H(sağ) = 0.722 bit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84048" y="2761488"/>
            <a:ext cx="4846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IG_A = 1.0 − (5/10)·0.722 − (5/10)·0.722 = 0.278 bit  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474720"/>
            <a:ext cx="5074920" cy="1024128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52958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Bölme B (KÖTÜ):  Sol [3P,3N]  |  Sağ [2P,2N]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" y="3785616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H(sol) = 1.0 bit   H(sağ) = 1.0 bit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4048" y="400507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IG_B = 1.0 − (6/10)·1.0 − (4/10)·1.0 = 0.0 bit  ❌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1353312"/>
            <a:ext cx="3364992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23560" y="1353312"/>
            <a:ext cx="336499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33288" y="1444752"/>
            <a:ext cx="3145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CART Algoritması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33288" y="1719072"/>
            <a:ext cx="3145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(Classification &amp; Regression Trees)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33288" y="1956816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33288" y="19568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80176" y="1920240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Tüm j, t çiftleri için Gini azalmasını hesapla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733288" y="2377440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33288" y="23774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980176" y="2340864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En büyük azalmayı sağlayan (j*, t*) seç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33288" y="2798064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33288" y="2798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80176" y="2761488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Veriyi D_sol (x_j ≤ t*) ve D_sağ'a böl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733288" y="3218688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33288" y="32186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980176" y="3182112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Her alt küme için özyinelemeli tekrar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33288" y="3639312"/>
            <a:ext cx="201168" cy="20116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33288" y="36393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5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980176" y="3602736"/>
            <a:ext cx="2898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Dur: saf düğüm / max_depth / min_samples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23560" y="4041648"/>
          <a:ext cx="3364992" cy="749808"/>
        </p:xfrm>
        <a:graphic>
          <a:graphicData uri="http://schemas.openxmlformats.org/drawingml/2006/table">
            <a:tbl>
              <a:tblPr/>
              <a:tblGrid>
                <a:gridCol w="1463040"/>
                <a:gridCol w="1901952"/>
              </a:tblGrid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Etki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Ağaç derinliği (None=tam)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min_samples_split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Bölme için min örnek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Yaprakta min örnek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'gini' veya 'entropy'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7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ccp_alpha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Budama (pruning) katsayısı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Shape 3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⭐  Karar ağacının eğitim karmaşıklığı: O(N × d × log N)  |  Tahmin karmaşıklığı: O(derinlik)  —  Tahmin çok hızlı!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Derinlik &amp; Overfitting — max_depth'in Kritik Rolü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2852928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285292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Çok Az (depth=1)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52144"/>
            <a:ext cx="2633472" cy="237744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521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UNDERFİTTİNG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444752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Çok az bölme — veriyi öğrenemez.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Yalnızca 1 kural. Hem train hem test hatası yüksek.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2633472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7860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Yaprak sayısı: 2 yaprak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1261872" cy="56692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8346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Eğitim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~67%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591056" y="2834640"/>
            <a:ext cx="1261872" cy="566928"/>
          </a:xfrm>
          <a:prstGeom prst="rect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591056" y="28346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~67%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" y="345643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Bias: Yüksek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91056" y="345643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Var.: Düşük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371246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🔧 Derinliği artır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749808"/>
            <a:ext cx="2852928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749808"/>
            <a:ext cx="285292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64408" y="8412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E82"/>
                </a:solidFill>
              </a:rPr>
              <a:t>Optimal (depth=3-5)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4408" y="1152144"/>
            <a:ext cx="2633472" cy="237744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11521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B4B"/>
                </a:solidFill>
              </a:rPr>
              <a:t>DENGE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64408" y="1444752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Yeterli bölme sayısı.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Train ve test yakın. CV ile bulunur.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64408" y="2578608"/>
            <a:ext cx="2633472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257860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Yaprak sayısı: 6-14 yaprak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64408" y="2834640"/>
            <a:ext cx="1261872" cy="56692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28346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Eğitim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~97%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81144" y="2834640"/>
            <a:ext cx="1261872" cy="566928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28346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E82"/>
                </a:solidFill>
              </a:rPr>
              <a:t>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9E82"/>
                </a:solidFill>
              </a:rPr>
              <a:t>~95%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64408" y="345643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Bias: Dengeli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581144" y="345643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Var.: Dengeli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64408" y="371246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🔧 GridSearchCV ile bul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44768" y="749808"/>
            <a:ext cx="2852928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44768" y="749808"/>
            <a:ext cx="285292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841248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Çok Derin (depth=None)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54496" y="1152144"/>
            <a:ext cx="2633472" cy="23774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1152144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OVERFİTTİNG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54496" y="1444752"/>
            <a:ext cx="263347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Her yaprak = 1 örnek.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Eğitim setini ezber.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Test performansı düşer!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54496" y="2578608"/>
            <a:ext cx="2633472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257860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Yaprak sayısı: N yaprak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54496" y="2834640"/>
            <a:ext cx="1261872" cy="56692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54496" y="28346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Eğitim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100%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71232" y="2834640"/>
            <a:ext cx="1261872" cy="56692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71232" y="2834640"/>
            <a:ext cx="1261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Test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~87%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254496" y="345643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Bias: Düşük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571232" y="3456432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Var.: Yüksek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54496" y="3712464"/>
            <a:ext cx="26334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🔧 max_depth sınırla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min_samples_leaf artır</a:t>
            </a:r>
            <a:endParaRPr lang="en-US" sz="900" dirty="0"/>
          </a:p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ccp_alpha ile budama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max_depth için altın kural: √N'den başla → CV ile {3,5,7,10,None} ara → OOB ya da hold-out doğruluğuna göre karar ver.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Önemleri &amp; Karar Sınırları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5120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512064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Özellik Önemleri — Nasıl Hesaplanır?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33856"/>
            <a:ext cx="489204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33856"/>
            <a:ext cx="4892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Importance(j) = Σ_t [Nₜ · ΔGini(t)]  / Σ_t' [Nₜ' · ΔGini(t')]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" y="1664208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Her bölme adımında, o adımın sağladığı ağırlıklı Gini azalmasının toplam azalmaya oranı alınır. Tüm özellik önemleri toplamı = 1.0</a:t>
            </a:r>
            <a:endParaRPr lang="en-US" sz="10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164592" y="2194560"/>
          <a:ext cx="5120640" cy="24505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5440680" y="749808"/>
            <a:ext cx="3547872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40680" y="749808"/>
            <a:ext cx="3547872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50408" y="841248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Karar Sınırları — Dikdörtgen Yapı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550408" y="1133856"/>
            <a:ext cx="332841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Karar ağacının sınırları HER ZAMAN yatay veya dikey — çünkü her bölme tek bir özelliğe göre yapılır.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40680" y="1700784"/>
            <a:ext cx="3547872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50408" y="1737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E82"/>
                </a:solidFill>
              </a:rPr>
              <a:t>depth=1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236208" y="17373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2 bölge, 1 çizgi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550408" y="1920240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97316"/>
                </a:solidFill>
              </a:rPr>
              <a:t>Underfitting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440680" y="2322576"/>
            <a:ext cx="3547872" cy="548640"/>
          </a:xfrm>
          <a:prstGeom prst="rect">
            <a:avLst/>
          </a:prstGeom>
          <a:solidFill>
            <a:srgbClr val="EEF2FF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50408" y="2359152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E82"/>
                </a:solidFill>
              </a:rPr>
              <a:t>depth=3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236208" y="2359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8 bölge, düzgün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550408" y="2542032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✅ İdeal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440680" y="2944368"/>
            <a:ext cx="3547872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550408" y="29809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E82"/>
                </a:solidFill>
              </a:rPr>
              <a:t>depth=8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236208" y="29809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Karmaşık, gürültülü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550408" y="316382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Overfitting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440680" y="3566160"/>
            <a:ext cx="3547872" cy="548640"/>
          </a:xfrm>
          <a:prstGeom prst="rect">
            <a:avLst/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550408" y="360273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E82"/>
                </a:solidFill>
              </a:rPr>
              <a:t>depth=None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236208" y="36027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 yaprak bölge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5550408" y="3785616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F4444"/>
                </a:solidFill>
              </a:rPr>
              <a:t>Tam ezber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5550408" y="4206240"/>
            <a:ext cx="3328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💡 Karmaşık (dairesel, eğrisel) sınırlar için Karar Ağacı derinliğe ihtiyaç duyar — overfitting riski artar. Bu senaryolarda Random Forest veya SVM tercih edilmeli.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📌  Özellik önemi, model yorumlama ve özellik seçimi için güçlü bir araçtır. sklearn'de: dt.feature_importances_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— Olasılıksal Sınıflandırıcı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" y="658368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</a:rPr>
              <a:t>Bayes teoremi + koşullu bağımsızlık varsayımı = hızlı ve etkili sınıflandırma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969264"/>
            <a:ext cx="8229600" cy="585216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9264"/>
            <a:ext cx="82296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P(y | x) = P(x | y) · P(y)  /  P(x)    →    Posterior = Likelihood × Prior  /  Kanıt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28600" y="1664208"/>
            <a:ext cx="2121408" cy="1508760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55648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P(y)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21031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Prior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" y="2340864"/>
            <a:ext cx="1883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Etiket bilgisinden önceki sınıf olasılığı. Eğitim setindeki frekanslar.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41448" y="1664208"/>
            <a:ext cx="2121408" cy="1508760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755648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P(x|y)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60320" y="21031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Likelihood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2340864"/>
            <a:ext cx="1883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Sınıf bilindiğinde verinin olasılığı. Gaussian, Multinomial vs. varsayım.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54296" y="1664208"/>
            <a:ext cx="2121408" cy="1508760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73168" y="1755648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P(x)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73168" y="21031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Kanıt (Evidence)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73168" y="2340864"/>
            <a:ext cx="1883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Normalizasyon. Tüm sınıflar için sabit — tahmin sırasında atlanabilir.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67144" y="1664208"/>
            <a:ext cx="2121408" cy="1508760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B71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6016" y="1755648"/>
            <a:ext cx="1883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P(y|x)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86016" y="2103120"/>
            <a:ext cx="1883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Posterior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86016" y="2340864"/>
            <a:ext cx="188366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Hesaplamak istediğimiz şey: veri görüldükten sonra sınıf olasılığı.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3255264"/>
            <a:ext cx="8686800" cy="768096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31012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⚠️  Naive Varsayım: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" y="3584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P(x₁, x₂, ..., xₐ | y) = ∏ⱼ P(xⱼ | y)   →   Tüm özellikler birbirinden KOŞULLU BAĞIMSIZ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28600" y="4114800"/>
            <a:ext cx="8686800" cy="786384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16966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MAP Kuralı (sınıflandırma):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44256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 = argmax_k  [ log P(y=k) + Σⱼ log P(xⱼ | y=k) ]   →   Log-uzayında numerik kararlılık sağlanır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Türleri — Gaussian, Multinomial, Bernoulli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Her NB türü farklı bir likelihood P(xⱼ|y) varsayımı kullanır. Veri tipine göre doğru türü seçmek kritiktir.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371600"/>
            <a:ext cx="285292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1371600"/>
            <a:ext cx="2852928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630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9A7"/>
                </a:solidFill>
              </a:rPr>
              <a:t>📊 Gaussian NB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792224"/>
            <a:ext cx="2633472" cy="402336"/>
          </a:xfrm>
          <a:prstGeom prst="rect">
            <a:avLst/>
          </a:prstGeom>
          <a:solidFill>
            <a:srgbClr val="EEF2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79222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P(xⱼ|y=k) = N(μₖⱼ, σ²ₖⱼ)  (Normal Dağılım)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2249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Eğitim: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316736" y="224942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Her sınıf-özellik çifti için μ ve σ hesapla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27249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Veri Tipi: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316736" y="272491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Sürekli sayısal değişkenler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3200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Örnek: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316736" y="320040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Tıbbi tanı (kan değerleri), sensör verisi, Iris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4320" y="3675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✅ Avantaj: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16736" y="36758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Hızlı, az parametre, küçük veride iyi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74320" y="4151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⚠️ Dezavantaj: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16736" y="4151376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Gaussianlık varsayımı her zaman doğru değil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154680" y="1371600"/>
            <a:ext cx="285292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1371600"/>
            <a:ext cx="285292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64408" y="14630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F6B"/>
                </a:solidFill>
              </a:rPr>
              <a:t>📝 Multinomial NB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64408" y="1792224"/>
            <a:ext cx="2633472" cy="402336"/>
          </a:xfrm>
          <a:prstGeom prst="rect">
            <a:avLst/>
          </a:prstGeom>
          <a:solidFill>
            <a:srgbClr val="EEF2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64408" y="179222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F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P(xⱼ|y=k) = (Nₖⱼ + α) / (Nₖ + α·d)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64408" y="2249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F6B"/>
                </a:solidFill>
              </a:rPr>
              <a:t>Eğitim: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06824" y="224942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Her sınıf için kelime frekans dağılımı öğren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264408" y="27249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F6B"/>
                </a:solidFill>
              </a:rPr>
              <a:t>Veri Tipi: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06824" y="272491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Tam sayı sayımları (kelime sayımı, TF)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64408" y="3200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F6B"/>
                </a:solidFill>
              </a:rPr>
              <a:t>Örnek: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306824" y="320040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E-posta spam, haber grubu sınıflandırma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64408" y="3675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F6B"/>
                </a:solidFill>
              </a:rPr>
              <a:t>✅ Avantaj: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06824" y="36758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Metin sınıflandırmada benchmark kalitesi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264408" y="4151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F6B"/>
                </a:solidFill>
              </a:rPr>
              <a:t>⚠️ Dezavantaj: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06824" y="4151376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Negatif değer kabul etmez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144768" y="1371600"/>
            <a:ext cx="285292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144768" y="1371600"/>
            <a:ext cx="285292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14630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⚡ Bernoulli NB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54496" y="1792224"/>
            <a:ext cx="2633472" cy="402336"/>
          </a:xfrm>
          <a:prstGeom prst="rect">
            <a:avLst/>
          </a:prstGeom>
          <a:solidFill>
            <a:srgbClr val="EEF2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54496" y="1792224"/>
            <a:ext cx="2633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P(xⱼ|y=k) = pₖⱼˣʲ · (1−pₖⱼ)^(1−ˣʲ)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54496" y="224942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Eğitim: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7296912" y="2249424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Her sınıf için özelliğin varlık olasılığı öğren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54496" y="27249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Veri Tipi: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96912" y="272491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İkili (0/1) özellikler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254496" y="32004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Örnek: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96912" y="3200400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Belgede kelime var mı? (binary BoW)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254496" y="36758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✅ Avantaj: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296912" y="3675888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Kısa belgeler ve az özellik için etkili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254496" y="415137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⚠️ Dezavantaj: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96912" y="4151376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Kelime sıklığını yok sayar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164592" y="4992624"/>
            <a:ext cx="8823960" cy="128016"/>
          </a:xfrm>
          <a:prstGeom prst="rect">
            <a:avLst/>
          </a:prstGeom>
          <a:solidFill>
            <a:srgbClr val="253C8C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6032" y="4992624"/>
            <a:ext cx="8595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💡  α (Laplace Smoothing): Eğitim setinde görülmemiş kelimeler için P=0 sorununu önler. α=1 (Laplace) varsayılan; α&lt;1 Lidstone smoothing. sklearn: MultinomialNB(alpha=1.0)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NB — Metin Sınıflandırma Pipeline'ı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Uygulama: 20 Newsgroups — 4 Kategori (sci.med · rec.sport.hockey · comp.graphics · talk.politics.guns)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4592" y="1389888"/>
            <a:ext cx="2121408" cy="1572768"/>
          </a:xfrm>
          <a:prstGeom prst="rect">
            <a:avLst/>
          </a:prstGeom>
          <a:solidFill>
            <a:srgbClr val="EEF2FF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41832" y="1481328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41832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B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7744" y="212140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Ham Metin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37744" y="250545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'The patient was diagnosed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with...' → string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286000" y="2176272"/>
            <a:ext cx="9144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dot"/>
          </a:ln>
        </p:spPr>
      </p:sp>
      <p:sp>
        <p:nvSpPr>
          <p:cNvPr id="15" name="Shape 13"/>
          <p:cNvSpPr/>
          <p:nvPr/>
        </p:nvSpPr>
        <p:spPr>
          <a:xfrm>
            <a:off x="2377440" y="1389888"/>
            <a:ext cx="2121408" cy="1572768"/>
          </a:xfrm>
          <a:prstGeom prst="rect">
            <a:avLst/>
          </a:prstGeom>
          <a:solidFill>
            <a:srgbClr val="EEF2FF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54680" y="1481328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54680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B"/>
                </a:solidFill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50592" y="212140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TF-IDF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Vektörleştirme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50592" y="250545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10.000 kelimelik seyrek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vektör [0, 0.3, 0, ...]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498848" y="2176272"/>
            <a:ext cx="9144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dot"/>
          </a:ln>
        </p:spPr>
      </p:sp>
      <p:sp>
        <p:nvSpPr>
          <p:cNvPr id="21" name="Shape 19"/>
          <p:cNvSpPr/>
          <p:nvPr/>
        </p:nvSpPr>
        <p:spPr>
          <a:xfrm>
            <a:off x="4590288" y="1389888"/>
            <a:ext cx="2121408" cy="1572768"/>
          </a:xfrm>
          <a:prstGeom prst="rect">
            <a:avLst/>
          </a:prstGeom>
          <a:solidFill>
            <a:srgbClr val="EEF2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67528" y="1481328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7528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B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212140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Multinomial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Naive Bayes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663440" y="250545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P(kelime|kategori)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dağılımını öğren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711696" y="2176272"/>
            <a:ext cx="9144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dot"/>
          </a:ln>
        </p:spPr>
      </p:sp>
      <p:sp>
        <p:nvSpPr>
          <p:cNvPr id="27" name="Shape 25"/>
          <p:cNvSpPr/>
          <p:nvPr/>
        </p:nvSpPr>
        <p:spPr>
          <a:xfrm>
            <a:off x="6803136" y="1389888"/>
            <a:ext cx="2121408" cy="1572768"/>
          </a:xfrm>
          <a:prstGeom prst="rect">
            <a:avLst/>
          </a:prstGeom>
          <a:solidFill>
            <a:srgbClr val="EEF2FF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0376" y="1481328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0376" y="148132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4B"/>
                </a:solidFill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76288" y="2121408"/>
            <a:ext cx="19751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Tahmin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76288" y="2505456"/>
            <a:ext cx="1975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log P(y) + Σ log P(x|y)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→ argmax → 'sci.med'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164592" y="3072384"/>
            <a:ext cx="42519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64592" y="3072384"/>
            <a:ext cx="4251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16382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20 Newsgroups — Model Karşılaştırması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456432"/>
          <a:ext cx="4251960" cy="1005840"/>
        </p:xfrm>
        <a:graphic>
          <a:graphicData uri="http://schemas.openxmlformats.org/drawingml/2006/table">
            <a:tbl>
              <a:tblPr/>
              <a:tblGrid>
                <a:gridCol w="1463040"/>
                <a:gridCol w="1005840"/>
                <a:gridCol w="1005840"/>
                <a:gridCol w="7772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F1-Macro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Hızı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Multinomial NB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~91%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Çok Hızlı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Complement NB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~93%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Çok Hızlı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 Reg.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Shape 33"/>
          <p:cNvSpPr/>
          <p:nvPr/>
        </p:nvSpPr>
        <p:spPr>
          <a:xfrm>
            <a:off x="4572000" y="3072384"/>
            <a:ext cx="4416552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4572000" y="3072384"/>
            <a:ext cx="4416552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681728" y="3163824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TF-IDF Nedir?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4681728" y="3456432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TF-IDF(t, d) = TF(t,d) × IDF(t)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4681728" y="3767328"/>
            <a:ext cx="4187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9E82"/>
                </a:solidFill>
              </a:rPr>
              <a:t>TF: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Belgedeki kelime frekansı
</a:t>
            </a:r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IDF: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log(N / df)  — nadir kelimeler daha değerli
</a:t>
            </a:r>
            <a:pPr indent="0" marL="0">
              <a:buNone/>
            </a:pPr>
            <a:r>
              <a:rPr lang="en-US" sz="950" b="1" dirty="0">
                <a:solidFill>
                  <a:srgbClr val="000000"/>
                </a:solidFill>
              </a:rPr>
              <a:t>Sonuç: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Yaygın kelimeler (the, is) baskılanır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'Naive' varsayımı pratikte nadiren doğru olsa da metin sınıflandırmada놀라운 performans sağlar. Özellikle az veriyle!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Karşılaştırması — KNN · LR · Karar Ağacı · Naive Bayes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823960" cy="4224528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737360"/>
                <a:gridCol w="1737360"/>
                <a:gridCol w="187452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 Reg.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Ağacı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Sınırı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Dikdörtgen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Doğrusal/soft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Öğrenme Türü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Lazy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Ağaç Büyüme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Ölçeklendirme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Zorunlu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Gerekmez 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Gerekmez 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Yorumlanabilirlik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Düşük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Çok Yüksek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 Hızı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⚡ Çok Hızlı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Tahmin Hızı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Yavaş O(Nd)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 O(d)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O(depth) Hızlı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O(Kd) Hızlı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Yok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L1/L2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depth, pruning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smoothing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 kalitesi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Yaklaşık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Kalibre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Zayıf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Yüksek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Düşük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Kategorik Veri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Doğal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Doğal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Veri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Zayıf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Güçlü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Veri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Yavaş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İyi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İyi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İyi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Metin Sınıflandırma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Uygun değil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Uygun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Mükemmel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⭐  Pratik: Yorumlanabilirlik → Karar Ağacı  |  Metin verisi → Naive Bayes  |  Genel tablo verisi → LR ile başla, sonra XGBoost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Kod Özeti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749808"/>
            <a:ext cx="8823960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1. Karar Ağacı + Görselleştirme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1005840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42416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DecisionTreeClassifier, plot_tree, export_text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 = DecisionTreeClassifier(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criterion='gini',   # veya 'entropy'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max_depth=5,        # kritik hiperparametre!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min_samples_leaf=2,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dt.fit(X_train, y_train)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Metin kural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print(export_text(dt, feature_names=feature_names))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Özellik önemi: dt.feature_importances_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64592" y="2194560"/>
            <a:ext cx="8823960" cy="25603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1945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2. Naive Bayes (Gaussian + Multinomial)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2450592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487168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Sayısal veri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sklearn.naive_bayes import GaussianNB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gnb = GaussianNB()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gnb.fit(X_train, y_train)        # μ ve σ öğren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Metin sınıflandırma (TF-IDF + Multinomial)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sklearn.feature_extraction.text import TfidfVectorizer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sklearn.naive_bayes import MultinomialNB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= Pipeline([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('tfidf', TfidfVectorizer(max_features=10000)),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('nb',    MultinomialNB(alpha=1.0))  # Laplace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pipeline.fit(texts_train, y_train)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64592" y="3639312"/>
            <a:ext cx="8823960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36393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3. GridSearchCV ile max_depth Optimizasyonu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" y="3895344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931920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'max_depth' : [2,3,5,7,10,None],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'criterion' : ['gini','entropy'],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'min_samples_leaf': [1,2,5]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 = GridSearchCV(DecisionTreeClassifier(),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param_grid, cv=5,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scoring='f1_macro', n_jobs=-1)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gs.fit(X_train, y_train)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print(gs.best_params_) # {'criterion':'gini','max_depth':5,...}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4592" y="5065776"/>
            <a:ext cx="8823960" cy="182880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506577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⚠️  Karar ağacında ölçeklendirme gerekmez  |  NB'de negatif TF-IDF → MultinomialNB için sublinear_tf veya normalize kullan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Özeti — Karar Ağacı &amp; Naive Bayes Hızlı Referans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823960" cy="4206240"/>
        </p:xfrm>
        <a:graphic>
          <a:graphicData uri="http://schemas.openxmlformats.org/drawingml/2006/table">
            <a:tbl>
              <a:tblPr/>
              <a:tblGrid>
                <a:gridCol w="1920240"/>
                <a:gridCol w="3429000"/>
                <a:gridCol w="3474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Ağacı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Temel Fikir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IF-THEN kural öğrenimi — Gini/Entropy ile bölme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Bayes teoremi + koşullu bağımsızlık varsayımı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Saflık Ölçütü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= 1−Σpₖ²  |  Entropy = −Σpₖlog₂pₖ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 × Likelihood / Kanıt = Posterior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CART: argmax Gini azalması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MAP: argmax [logP(y) + Σ logP(xⱼ|y)]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Kritik Hiperpar.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 (CV ile seç!)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Laplace smoothing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Sınırı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Dikdörtgen (yatay/dikey)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(Gaussian)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Ölçeklendirme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Gerekmez 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Gerekmez 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max_depth, min_samples_leaf, ccp_alpha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ile kontrol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Önemi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feature_importances_ (Gini bazlı)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feature_log_prob_ ile kelime katkısı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Yorumlanabilirlik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✅✅ Çok Yüksek — IF-THEN kurallar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— olasılıksal yorumlama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Güçlü Yön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Yorumlanabilirlik, kategorik veri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Metin sınıflama, az veri, hız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Zayıf Yön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riski yüksek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Bağımsızlık varsayımı gerçekçi değil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sklearn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DecisionTreeClassifier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GaussianNB, MultinomialNB, BernoulliNB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64592" y="4992624"/>
            <a:ext cx="8823960" cy="128016"/>
          </a:xfrm>
          <a:prstGeom prst="rect">
            <a:avLst/>
          </a:prstGeom>
          <a:solidFill>
            <a:srgbClr val="253C8C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992624"/>
            <a:ext cx="8595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🚀  Sonraki Hafta: SVM — Maksimum marjin, kernel trick, RBF/Poly/Sigmoid, destek vektörleri, C &amp; γ hiperparametreleri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C8C">
              <a:alpha val="30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 &amp; Ödev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36576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869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81328" y="8869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Géron — Hands-On ML (3rd ed.), Bölüm 6: Karar Ağaçları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9304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3075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81328" y="130759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Mitchell — Machine Learning (1997), Bölüm 3: ID3 Algoritması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709928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7282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81328" y="17282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Bishop — PRML, Bölüm 8.1: Graphical Models (Naive Bayes)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130552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1488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81328" y="21488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Breiman et al. (1984) — CART: Classification and Regression Trees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51176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5694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81328" y="256946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McCallum &amp; Nigam (1998) — A Comparison of Event Models for NB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9900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🌐 Sklearn DT: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81328" y="299008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scikit-learn.org/stable/modules/tree.html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392424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4107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🌐 Sklearn NB: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81328" y="341071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scikit-learn.org/stable/modules/naive_bayes.html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813048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8313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🗃️ UCI: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81328" y="3831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Iris: archive.ics.uci.edu/ml/datasets/iris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749808"/>
            <a:ext cx="2103120" cy="4206240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84124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📝 Ödev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67728" y="1261872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78040" y="1216152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Iris verisiyle depth=1'den None'a kadar tüm max_depth değerleri için eğitim ve test doğruluğunu karşılaştır, grafiğini çiz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67728" y="1828800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18288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78040" y="1783080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Wine verisinde en önemli 5 özelliği tespit et. Bu 5 özellikle model yeniden eğitilince fark ne?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67728" y="2395728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7728" y="2395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78040" y="2350008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Mushroom verisini Kaggle'dan indir. Karar ağacı ile hangi kurallar mantar türlerini ayırt ediyor?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967728" y="2962656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29626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78040" y="2916936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GaussianNB ile LogisticReg karşılaştır (5-CV). Fark neden oluşuyor?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67728" y="3529584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35295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78040" y="3483864"/>
            <a:ext cx="16916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Bonus: 20 Newsgroups'u 20 kategorinin tamamına genişlet. ComplementNB ile karşılaştır.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663440"/>
            <a:ext cx="6309360" cy="41148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681728"/>
            <a:ext cx="6089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Sorularınız için ders saatleri veya e-posta yoluyla ulaşabilirsiniz.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Karar Ağaçları &amp; Naive Bayes</dc:title>
  <dc:subject>PptxGenJS Presentation</dc:subject>
  <dc:creator>Uygulamalı Makine Öğrenmesi</dc:creator>
  <cp:lastModifiedBy>Uygulamalı Makine Öğrenmesi</cp:lastModifiedBy>
  <cp:revision>1</cp:revision>
  <dcterms:created xsi:type="dcterms:W3CDTF">2026-03-14T14:33:48Z</dcterms:created>
  <dcterms:modified xsi:type="dcterms:W3CDTF">2026-03-14T14:33:48Z</dcterms:modified>
</cp:coreProperties>
</file>