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5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11480"/>
            <a:ext cx="457200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11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B4B"/>
                </a:solidFill>
              </a:rPr>
              <a:t>UYGULAMALI MAKİNE ÖĞRENMESİ — HAFTA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896112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8600" y="1591056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28600" y="2304288"/>
            <a:ext cx="50292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468880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4140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Denetimsiz Öğrenme — Etiket Olmadan Yapı Keşfi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816352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761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K-Means Lloyd Algoritması &amp; K-Means++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163824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Elbow Method &amp; Silhouette Analizi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511296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4564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Mini-Batch K-Means — Büyük Veri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858768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803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Hiyerarşik Kümeleme &amp; Dendrogram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420624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41513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Ward/Complete/Average Bağlantı Yöntemleri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2606040" cy="1143000"/>
          </a:xfrm>
          <a:prstGeom prst="rect">
            <a:avLst/>
          </a:prstGeom>
          <a:solidFill>
            <a:srgbClr val="1A2F6B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840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📅 Hafta 11 — Kümeleme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4087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🎓 Lisans 3-4 / YL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4334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⏱️  ~3 Ders Saati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45811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🗃️  Iris · Wine · Mall Müşteri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 Öğrenme &amp; Kümeleme Yöntemlerine Genel Bakış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</a:rPr>
              <a:t>Denetimsiz Öğrenme: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Etiket (y) olmadan verinin içsel yapısını keşfet — kümeleme, boyut indirgeme, anomali tespiti.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335024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335024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44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🎯  K-Means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1755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Merkez tabanlı. K küre şeklinde küme arar. Hızlı, ölçeklenebilir.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39696"/>
            <a:ext cx="1938528" cy="201168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3969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✅ Çok hızlı, büyük 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67712" y="2139696"/>
            <a:ext cx="2029968" cy="20116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213969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⚠️ K bilinmeli, küresel varsayım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2377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Bu hafta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✅ Detaylı anlatım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74320" y="2377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✅ Bu hafta detaylı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45152" y="1335024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1335024"/>
            <a:ext cx="425196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444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🌳  Hiyerarşik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755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Bağlantı tabanlı. Dendrogram üretir. K sonradan seçilir.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139696"/>
            <a:ext cx="1938528" cy="201168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3969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✅ K gereksiz, dendrogram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48272" y="2139696"/>
            <a:ext cx="2029968" cy="20116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213969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⚠️ Yavaş O(N²), büyük N'de kullanışsız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2377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Bu hafta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✅ Detaylı anlatım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54880" y="2377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✅ Bu hafta detaylı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4592" y="3054096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64592" y="3054096"/>
            <a:ext cx="4251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163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🌊  DBSCAN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3474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Yoğunluk tabanlı. Gürültü noktası tespiti. K gerekmez.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858768"/>
            <a:ext cx="1938528" cy="201168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85876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✅ Keyfi şekil, gürültü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267712" y="3858768"/>
            <a:ext cx="2029968" cy="20116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67712" y="385876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⚠️ Parametre hassas (ε, minPts)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40965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</a:rPr>
              <a:t>Bu hafta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⏭️ Hafta 12'de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74320" y="40965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⏭️ Sonraki hafta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3054096"/>
            <a:ext cx="4251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45152" y="3054096"/>
            <a:ext cx="4251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163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🎲  GMM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54880" y="3474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Olasılık tabanlı. Her küme Gaussian dağılım. Soft assignment.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0" y="3858768"/>
            <a:ext cx="1938528" cy="201168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385876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✅ Olasılıksal, eliptik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748272" y="3858768"/>
            <a:ext cx="2029968" cy="20116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48272" y="385876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⚠️ K bilinmeli, EM yavaş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54880" y="40965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8BFA"/>
                </a:solidFill>
              </a:rPr>
              <a:t>Bu hafta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⏭️ Hafta 12'de</a:t>
            </a: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54880" y="40965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⏭️ Sonraki hafta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Bu hafta K-Means + Hiyerarşik Kümeleme. Hafta 12: DBSCAN + Kapsamlı Küme Değerlendirme.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— Lloyd Algoritması &amp; İnertia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86384"/>
            <a:ext cx="8229600" cy="603504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8638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Inertia = Σₖ Σ_{xᵢ∈Cₖ} ‖xᵢ − μₖ‖²   →   min{C}  (Within-Cluster Sum of Squares)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1517904"/>
            <a:ext cx="2121408" cy="2999232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609344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09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22494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Başlat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578608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K merkezi (μ₁,...,μK) başlangıç değerleriyle seç.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Rastgele: Hızlı ama kötü yerel min. riski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K-Means++: Uzaklık orantılı → Önerilen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2596896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12" name="Shape 10"/>
          <p:cNvSpPr/>
          <p:nvPr/>
        </p:nvSpPr>
        <p:spPr>
          <a:xfrm>
            <a:off x="2377440" y="1517904"/>
            <a:ext cx="2121408" cy="2999232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609344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609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68880" y="22494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578608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Her xᵢ'yi en yakın merkeze ata: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Cᵢ = argmin_k ‖xᵢ − μₖ‖²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Tüm N nokta için tekrar.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98848" y="2596896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18" name="Shape 16"/>
          <p:cNvSpPr/>
          <p:nvPr/>
        </p:nvSpPr>
        <p:spPr>
          <a:xfrm>
            <a:off x="4590288" y="1517904"/>
            <a:ext cx="2121408" cy="2999232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67528" y="1609344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7528" y="1609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81728" y="22494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Güncelle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81728" y="2578608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Her kümenin yeni ortalamasını hesapla: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μₖ = (1/|Cₖ|) Σ_{xᵢ∈Cₖ} xᵢ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Merkezi yenile.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11696" y="2596896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24" name="Shape 22"/>
          <p:cNvSpPr/>
          <p:nvPr/>
        </p:nvSpPr>
        <p:spPr>
          <a:xfrm>
            <a:off x="6803136" y="1517904"/>
            <a:ext cx="2121408" cy="2999232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0376" y="1609344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0376" y="1609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94576" y="2249424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Yakınsama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94576" y="2578608"/>
            <a:ext cx="193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Atamalar değişmeyene kadar 2-3'ü tekrar et.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Garanti: Her adımda inertia azalır.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Uyarı: Yerel minimum riski!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590288"/>
            <a:ext cx="8686800" cy="420624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645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Önemli: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25880" y="464515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K-Means NP-hard → Lloyd yerel minimum garantisi.  n_init=10 (birden fazla başlangıç) ile en iyi çalıştırmayı seç.  Ölçeklendirme ZORUNLU.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&amp; Optimal K Belirleme — Elbow + Silhouette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51960" cy="2157984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K-Means++ Başlangıç Stratejisi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E82"/>
                </a:solidFill>
              </a:rPr>
              <a:t>Neden?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11338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Rastgele başlangıç → Yakın başlayan merkezler → Kötü küme ayrımı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35331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1. İlk merkezi rastgele seç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609344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57276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2. Her noktanın min uzaklık karesini hesapla: d(x)²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79222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3. P(x) ∝ d(x)² olasılıkla bir sonraki merkezi seç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048256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01168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4. K merkez seçilene kadar tekrar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267712"/>
            <a:ext cx="91440" cy="914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23113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E82"/>
                </a:solidFill>
              </a:rPr>
              <a:t>Sonuç: Merkezler birbirinden uzak başlar → Daha az iterasyon → Daha düşük inertia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749808"/>
            <a:ext cx="4416552" cy="2157984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749808"/>
            <a:ext cx="441655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84124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Elbow Method &amp; Silhouette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33856"/>
          <a:ext cx="4416552" cy="1170432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5819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Hesaplama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Yorumlama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Elbow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vs Inertia grafik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Kırılma noktası = optimal 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sil(i) = (b−a)/max(a,b)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1'e yakın = iyi, 0 = sınır, negatif = yanlış küme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Kümeler arası / içi varyans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değer = iyi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Davies-Bouldin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Ort. küme benzerliği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değer = iyi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681728" y="237744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</a:rPr>
              <a:t>💡 Elbow başlangıç, Silhouette doğrulama. Birlikte kullan.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64592" y="2999232"/>
            <a:ext cx="88239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64592" y="2999232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30906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K-Means Varyantları Karşılaştırması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383280"/>
          <a:ext cx="8823960" cy="1316736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914400"/>
                <a:gridCol w="1051560"/>
                <a:gridCol w="914400"/>
                <a:gridCol w="25603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'random'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K-Means++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'k-means++'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önerilen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'k-means++'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Hızlı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Biraz düşük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N&gt;100K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veri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n_init&gt;1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Çoklu başlangıç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Yavaş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Yüksek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K/N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sklearn: KMeans(n_clusters=K, init='k-means++', n_init=10, random_state=42)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Sınırlamaları — Başarısız Senaryolar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</a:rPr>
              <a:t>K-Means küresel, benzer boyutlu ve benzer yoğunluklu kümeler varsayar. Bu varsayımlar bozulunca başarısız olur.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" y="1005840"/>
            <a:ext cx="2852928" cy="1682496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7899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İç içe Halkalar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1371600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Circles: İki halka tam olarak K-Means'i kandırır. Geometrik ortalaması hemen hemen aynı.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2084832"/>
            <a:ext cx="2670048" cy="237744"/>
          </a:xfrm>
          <a:prstGeom prst="rect">
            <a:avLst/>
          </a:prstGeom>
          <a:solidFill>
            <a:srgbClr val="EF4444">
              <a:alpha val="3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08483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DBSCAN (Hafta 12) veya Kernel K-Means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17520" y="1920240"/>
            <a:ext cx="137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ot"/>
          </a:ln>
        </p:spPr>
      </p:sp>
      <p:sp>
        <p:nvSpPr>
          <p:cNvPr id="11" name="Shape 9"/>
          <p:cNvSpPr/>
          <p:nvPr/>
        </p:nvSpPr>
        <p:spPr>
          <a:xfrm>
            <a:off x="3154680" y="1005840"/>
            <a:ext cx="2852928" cy="1682496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7899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</a:rPr>
              <a:t>Ay Şekli (Moons)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1371600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Eğimli şekiller doğrusal sınırla ayrılamaz. K-Means sadece Voronoi bölgesi oluşturur.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2084832"/>
            <a:ext cx="2670048" cy="237744"/>
          </a:xfrm>
          <a:prstGeom prst="rect">
            <a:avLst/>
          </a:prstGeom>
          <a:solidFill>
            <a:srgbClr val="F97316">
              <a:alpha val="3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08483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DBSCAN veya Spectral Clustering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07608" y="1920240"/>
            <a:ext cx="137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ot"/>
          </a:ln>
        </p:spPr>
      </p:sp>
      <p:sp>
        <p:nvSpPr>
          <p:cNvPr id="17" name="Shape 15"/>
          <p:cNvSpPr/>
          <p:nvPr/>
        </p:nvSpPr>
        <p:spPr>
          <a:xfrm>
            <a:off x="6144768" y="1005840"/>
            <a:ext cx="2852928" cy="1682496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07899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Farklı Boyutlu Kümeler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36208" y="1371600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Büyük küme küçük kümeye girişir. K-Means büyük kümeyi böler.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36208" y="2084832"/>
            <a:ext cx="2670048" cy="237744"/>
          </a:xfrm>
          <a:prstGeom prst="rect">
            <a:avLst/>
          </a:prstGeom>
          <a:solidFill>
            <a:srgbClr val="FFD166">
              <a:alpha val="3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208483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GMM (farklı kovaryans)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97696" y="1920240"/>
            <a:ext cx="137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ot"/>
          </a:ln>
        </p:spPr>
      </p:sp>
      <p:sp>
        <p:nvSpPr>
          <p:cNvPr id="23" name="Shape 21"/>
          <p:cNvSpPr/>
          <p:nvPr/>
        </p:nvSpPr>
        <p:spPr>
          <a:xfrm>
            <a:off x="164592" y="2816352"/>
            <a:ext cx="2852928" cy="1682496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88950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7185"/>
                </a:solidFill>
              </a:rPr>
              <a:t>Farklı Yoğunluklar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" y="3182112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Seyrek bölgedeki küçük küme yoğun büyük kümeye 'çekilir'.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3895344"/>
            <a:ext cx="2670048" cy="237744"/>
          </a:xfrm>
          <a:prstGeom prst="rect">
            <a:avLst/>
          </a:prstGeom>
          <a:solidFill>
            <a:srgbClr val="FB7185">
              <a:alpha val="3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8953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DBSCAN otomatik yoğunluk analizi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017520" y="3730752"/>
            <a:ext cx="137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ot"/>
          </a:ln>
        </p:spPr>
      </p:sp>
      <p:sp>
        <p:nvSpPr>
          <p:cNvPr id="29" name="Shape 27"/>
          <p:cNvSpPr/>
          <p:nvPr/>
        </p:nvSpPr>
        <p:spPr>
          <a:xfrm>
            <a:off x="3154680" y="2816352"/>
            <a:ext cx="2852928" cy="1682496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288950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Uzun İnce Kümeler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46120" y="3182112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Elips şekilli kümeler küresel merkez hesabıyla doğru temsil edilemez.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46120" y="3895344"/>
            <a:ext cx="2670048" cy="237744"/>
          </a:xfrm>
          <a:prstGeom prst="rect">
            <a:avLst/>
          </a:prstGeom>
          <a:solidFill>
            <a:srgbClr val="A78BFA">
              <a:alpha val="3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8953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GMM (tam kovaryans)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07608" y="3730752"/>
            <a:ext cx="1371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ot"/>
          </a:ln>
        </p:spPr>
      </p:sp>
      <p:sp>
        <p:nvSpPr>
          <p:cNvPr id="35" name="Shape 33"/>
          <p:cNvSpPr/>
          <p:nvPr/>
        </p:nvSpPr>
        <p:spPr>
          <a:xfrm>
            <a:off x="6144768" y="2816352"/>
            <a:ext cx="2852928" cy="1682496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288950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K Bilinmiyor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36208" y="3182112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En büyük pratik sorun: K'yı önceden bilmiyoruz. Elbow + Silhouette iyi ama garantili değil.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36208" y="3895344"/>
            <a:ext cx="2670048" cy="237744"/>
          </a:xfrm>
          <a:prstGeom prst="rect">
            <a:avLst/>
          </a:prstGeom>
          <a:solidFill>
            <a:srgbClr val="64748B">
              <a:alpha val="3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38953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✅ Hiyerarşik (K sonradan) veya DBSCAN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4645152"/>
            <a:ext cx="8686800" cy="384048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681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Pratik Kural: Veri küreler gibi görünüyor ve N büyükse → K-Means.  Keyfi şekil + gürültü var → DBSCAN.  K bilinmiyor → Hiyerarşik ile başla.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Kümeleme — Dendrogram &amp; Bağlantı Yöntemleri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51960" cy="4114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5196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Agglomerative (Bottom-Up) Algoritma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Her adımda en yakın iki kümeyi birleştir. N noktadan başla, tek kümede bitir. Dendrogram tüm geçmişi gösterir.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17904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1. Her nokta kendi kümesinde: C₁={x₁}, C₂={x₂}, ...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865376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2. Tüm küme çiftleri için mesafeleri hesapla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7627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3. En yakın iki kümeyi (Cᵢ, Cⱼ) birleştir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4. Mesafeleri güncelle (seçilen bağlantı ile)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07792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7121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5. N kümeden 1 kümeye gelene kadar tekrar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255264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1868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6. Dendrogramda yatay kesme → K küme seç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36027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Avantajlar: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8404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✅ K'yı önceden bilmek gerekmez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✅ Dendrogram veri yapısını gösterir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✅ Farklı şekilli kümeler mümkün (linkage'e göre)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⚠️ O(N²) bellek — büyük N'de kullanışsız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749808"/>
            <a:ext cx="44165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749808"/>
            <a:ext cx="4416552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84124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Bağlantı (Linkage) Yöntemleri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152144"/>
            <a:ext cx="4416552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1704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</a:rPr>
              <a:t>Single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32704" y="117043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min(d(xᵢ,xⱼ)) ∀xᵢ∈Cᵢ,xⱼ∈Cⱼ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81728" y="1408176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En yakın iki nokta arası. Uzun zincir kümeler. 'Chaining' sorunu.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1865376"/>
            <a:ext cx="44165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1883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Complete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32704" y="188366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max(d(xᵢ,xⱼ)) ∀xᵢ∈Cᵢ,xⱼ∈Cⱼ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81728" y="2121408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En uzak iki nokta arası. Kompakt kümeler. Gürültüye duyarlı.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2578608"/>
            <a:ext cx="4416552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5968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Average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32704" y="25968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avg(d(xᵢ,xⱼ))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81728" y="2834640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Tüm çift kombinasyonların ortalaması. Denge sağlar.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291840"/>
            <a:ext cx="44165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33101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Ward ⭐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32704" y="3310128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Δ(toplam varyans)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81728" y="3547872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Birleşme sonrası varyans artışını minimize eder. En kompakt, K-Means benzeri. Önerilen!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0" y="4005072"/>
            <a:ext cx="4416552" cy="786384"/>
          </a:xfrm>
          <a:prstGeom prst="rect">
            <a:avLst/>
          </a:prstGeom>
          <a:solidFill>
            <a:srgbClr val="EEF2FF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4059936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B"/>
                </a:solidFill>
              </a:rPr>
              <a:t>sklearn kullanımı: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81728" y="4297680"/>
            <a:ext cx="4187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 = AgglomerativeClustering(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n_clusters=3, linkage='ward', metric='euclidean')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Ward linkage genellikle en iyi sonuç verir — K-Means ile karşılaştırılabilir küme kalitesi, ancak K'yı sonradan seçebilirsiniz!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— Yorumlama Rehberi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5212080" cy="409651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5212080" cy="640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Dendrogramı Nasıl Okuyalım?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152144"/>
            <a:ext cx="5212080" cy="438912"/>
          </a:xfrm>
          <a:prstGeom prst="rect">
            <a:avLst/>
          </a:prstGeom>
          <a:solidFill>
            <a:srgbClr val="EEF2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Y ekseni: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00200" y="117043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Birleşme mesafesi — ne kadar yüksek, kümeler o kadar farklı.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" y="1627632"/>
            <a:ext cx="52120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45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X ekseni: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00200" y="164592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Örnek indeksleri (veya etiketler).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2103120"/>
            <a:ext cx="5212080" cy="438912"/>
          </a:xfrm>
          <a:prstGeom prst="rect">
            <a:avLst/>
          </a:prstGeom>
          <a:solidFill>
            <a:srgbClr val="EEF2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214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Uzun dikey çizgi: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00200" y="2121408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İki küme arasında büyük mesafe → İyi küme ayrımı burada!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4592" y="2578608"/>
            <a:ext cx="52120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968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Kısa dikey çizgi: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00200" y="2596896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Yakın kümeler birleşiyor → Zayıf ayrım.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3054096"/>
            <a:ext cx="5212080" cy="438912"/>
          </a:xfrm>
          <a:prstGeom prst="rect">
            <a:avLst/>
          </a:prstGeom>
          <a:solidFill>
            <a:srgbClr val="EEF2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72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Yatay kesme: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600200" y="3072384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Seçilen eşiği geçen dikey çizgi sayısı = Küme sayısı.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" y="3529584"/>
            <a:ext cx="521208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47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Geniş boşluk: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00200" y="354787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Kesmeden önce büyük mesafe farkı → Güçlü K önerisi.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0050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Dendrogram Okuma Örneği (3 Küme):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26110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Yatay kesme çizgisini çizin → Tam üzerinden geçtiği dikey çizgi sayısı = K.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Geniş boşlukta kes → Doğal 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32120" y="749808"/>
            <a:ext cx="3456432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32120" y="749808"/>
            <a:ext cx="345643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41848" y="841248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K-Means vs Hiyerarşik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152144"/>
          <a:ext cx="3456432" cy="2231136"/>
        </p:xfrm>
        <a:graphic>
          <a:graphicData uri="http://schemas.openxmlformats.org/drawingml/2006/table">
            <a:tbl>
              <a:tblPr/>
              <a:tblGrid>
                <a:gridCol w="1005840"/>
                <a:gridCol w="1225296"/>
                <a:gridCol w="122529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Hiyerarşik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gerekir?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Evet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Sonradan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O(NKd)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🐢 O(N²)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Dendrogram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Şekil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Küresel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Esnek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Gürültü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Duyarlı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Duyarlı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 vs 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Yakın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Yakın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N&gt;10K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N&lt;5K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5641848" y="3438144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Kombine Kullanım: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Hiyerarşik ile K'yı keşfet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K-Means ile ölçeklendir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532120" y="4059936"/>
            <a:ext cx="3456432" cy="731520"/>
          </a:xfrm>
          <a:prstGeom prst="rect">
            <a:avLst/>
          </a:prstGeom>
          <a:solidFill>
            <a:srgbClr val="EEF2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41848" y="4096512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 kodu: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scipy.cluster.hierarchy import linkage, dendrogram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linkage(X, method='ward')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dendrogram(Z, color_threshold=7.0)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Strateji: Küçük veri → Hiyerarşik (dendrogram ile K keşfet). Büyük veri → Bulunan K ile K-Means çalıştır.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 Değerlendirme Metrikleri — Dahili &amp; Harici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51960" cy="4114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Harici Metrikler (Etiket Gerekli)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</a:rPr>
              <a:t>Gerçek etiket varsa küme kalitesini ölç: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53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ARI (Adjusted Rand Index)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Şansa göre düzeltilmiş uyum.  [-1, 1]  — 1.0 = Mükemmel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865376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288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NMI (Normalized MI)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Normalize edilmiş ortak bilgi.  [0, 1]  — 1.0 = Mükemmel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340864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04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Homogeneity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Küme = tek sınıf?  [0, 1]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7797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Completeness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Sınıf = tek kümede?  [0, 1]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V-Measure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3456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Homogeneity × Completeness harmonik  [0, 1]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4592" y="3877056"/>
            <a:ext cx="4251960" cy="914400"/>
          </a:xfrm>
          <a:prstGeom prst="rect">
            <a:avLst/>
          </a:prstGeom>
          <a:solidFill>
            <a:srgbClr val="EEF2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1363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adjusted_rand_score,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normalized_mutual_info_score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 = adjusted_rand_score(y_true, labels)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nmi = normalized_mutual_info_score(y_true, labels)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749808"/>
            <a:ext cx="44165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749808"/>
            <a:ext cx="441655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84124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Dahili Metrikler (Etiket Gerekmez)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81728" y="113385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</a:rPr>
              <a:t>Etiket yoksa kümeler için kendi değerlendirmesi: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1389888"/>
            <a:ext cx="4416552" cy="566928"/>
          </a:xfrm>
          <a:prstGeom prst="rect">
            <a:avLst/>
          </a:prstGeom>
          <a:solidFill>
            <a:srgbClr val="EEF2FF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1408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Silhouette Score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81728" y="1609344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sil(i) = (b−a)/max(a,b)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29984" y="1408176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a: Küme içi ortalama uzaklık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b: En yakın komşu kümeye ortalama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[-1,1] — yüksek iyi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2011680"/>
            <a:ext cx="441655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2029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Calinski-Harabasz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81728" y="223113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= (SSB/SSW)·(N−K)/(K−1)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29984" y="202996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Kümeler arası varyans / Küme içi varyans oranı. Büyük değer iyi.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2633472"/>
            <a:ext cx="4416552" cy="566928"/>
          </a:xfrm>
          <a:prstGeom prst="rect">
            <a:avLst/>
          </a:prstGeom>
          <a:solidFill>
            <a:srgbClr val="EEF2FF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2651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Davies-Bouldin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81728" y="285292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(1/K)Σmax(Sᵢ+Sⱼ)/dᵢⱼ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29984" y="265176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Ortalama küme benzerliği. Küçük değer iyi.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0" y="3255264"/>
            <a:ext cx="441655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3273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Inertia (WCSS)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81728" y="347472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Σ_k Σ ‖xᵢ−μₖ‖²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29984" y="327355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Küme içi kareler toplamı. Elbow'da kullanılır.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0" y="3877056"/>
            <a:ext cx="4416552" cy="914400"/>
          </a:xfrm>
          <a:prstGeom prst="rect">
            <a:avLst/>
          </a:prstGeom>
          <a:solidFill>
            <a:srgbClr val="EEF2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3913632"/>
            <a:ext cx="4187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silhouette_score,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calinski_harabasz_score, davies_bouldin_score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 = silhouette_score(X, labels)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 = calinski_harabasz_score(X, labels)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Gerçek etiket varsa ARI kullan. Yoksa Silhouette + Calinski-H kombinasyonu iyi başlangıç noktası.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 Sonuçları — Iris &amp; Wine &amp; Mall Karşılaştırması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Kapsamlı Değerlendirme Tablosu (K=3 veya K=5)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33856"/>
          <a:ext cx="8823960" cy="2432304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822960"/>
                <a:gridCol w="777240"/>
                <a:gridCol w="1097280"/>
                <a:gridCol w="118872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Calinski-H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K-Means++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Agglo. 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Agglo. 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K-Means++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Agglo. 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Agglo. Avg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 (K=5)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K-Means++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 (K=5)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Agglo. 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3639312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B"/>
                </a:solidFill>
              </a:rPr>
              <a:t>Temel Bulgular: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4320" y="389534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K-Means++ ve Ward Agglomerative çok yakın ARI/NMI değerleri veriyor. Ward linkage tutarlı şekilde en iyi agglomerative yöntem. Single linkage (tabloda yok) zincirlenme nedeniyle genellikle en kötü. Ölçeklendirme her iki yöntem için kritik.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Önce K-Means++ dene (hızlı). Sonuç tatmin edici değilse Ward Agglomerative ile karşılaştır. Etiket varsa ARI ölç.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&amp; SciPy Kod Özeti — Kümeleme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1. K-Means — Elbow + Silhouette ile Optimal 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1005840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42416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silhouette_score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Önce ölçeklendir!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 = StandardScaler().fit_transform(X)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inertias, sil_scores = [], []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range(2, 12):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 = KMeans(n_clusters=k, init='k-means++',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n_init=10, random_state=42)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km.fit(X_sc)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inertias.append(km.inertia_)               # Elbow için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sil_scores.append(silhouette_score(X_sc, km.labels_))  # Silhouette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2194560"/>
            <a:ext cx="8823960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1945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2. Hiyerarşik — Dendrogram + AgglomerativeClustering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2450592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487168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scipy.cluster.hierarchy import dendrogram, linkage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AgglomerativeClustering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Dendrogram (scipy)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linkage(X_sc, method='ward')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dendrogram(Z, color_threshold=7.0)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AgglomerativeClustering (sklearn)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 = AgglomerativeClustering(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n_clusters=3, linkage='ward', metric='euclidean'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agg.fit_predict(X_sc)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Not: AgglomerativeClustering dendrogram üretmez!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Dendrogram için scipy linkage + dendrogram kullan.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" y="3639312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36393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3. Küme Değerlendirme — Tam Metrik Seti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3895344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931920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adjusted_rand_score, normalized_mutual_info_score,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silhouette_score, calinski_harabasz_score, davies_bouldin_score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Harici (etiket varsa):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print(adjusted_rand_score(y_true, labels))       # [-1, 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print(normalized_mutual_info_score(y_true, labels))  # [0, 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Dahili (etiket gereksiz):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print(silhouette_score(X_sc, labels))            # [-1, 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print(calinski_harabasz_score(X_sc, labels))     # büyük iyi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print(davies_bouldin_score(X_sc, labels))        # küçük iyi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5065776"/>
            <a:ext cx="8823960" cy="182880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506577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⚠️  StandardScaler ZORUNLU  |  K-Means için n_init≥10 kullan  |  Dendrogram için scipy, sklearn'dan bağımsız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Özeti — K-Means &amp; Hiyerarşik Kümeleme Hızlı Referans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23960" cy="4078224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4709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 Nokta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Inertia minimize, K merkez bul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lloyd: Ata → Güncelle → Tekrar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K-Means++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Uzaklık orantılı başlangıç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kararlı, daha az iterasyon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Elbow 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Inertia vs K — kırılma noktası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başına yeterli değil, Silhouette ile kombinle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-1'den 1'e — 1 iyi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sil(i) = (b−a)/max(a,b)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Mini-Batch K-Means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N&gt;100K için batch güncelleme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MiniBatchKMeans(batch_size=1024)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Sınırı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Küresel şekil varsayımı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 içe/ay şekli → DBSCAN kullan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Hiyerarşik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Bottom-up birleştirme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K'yı sonradan dendrogram ile seç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 Linkage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Varyans artışı minimize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kompakt, önerilen linkage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Linkage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uzaklık birleştirme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Zincirlenme sorunu — genellikle kaçın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 / NMI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etiketle uyum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etiket varsa kullan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(Dahili)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Etiket gereksiz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+ Silhouette → güçlü kombinasyon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iki yöntem için zorunlu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StandardScaler().fit_transform(X)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64592" y="4873752"/>
            <a:ext cx="8823960" cy="228600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🚀  Sonraki Hafta: DBSCAN + Küme Değerlendirme — Yoğunluk Tabanlı, ε/minPts, Gürültü Tespiti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0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 &amp; Ödev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36576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86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8869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Géron — Hands-On ML (3rd ed.), Bölüm 9: Unsupervised Learning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9304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3075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1328" y="13075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Hastie et al. — ESL, Bölüm 14: Unsupervised Learning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282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81328" y="17282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Lloyd (1982) — Least Squares Quantization in PCM (K-Means orijinali)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148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21488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Arthur &amp; Vassilvitskii (2007) — K-Means++: The Advantages of Careful Seeding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51176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5694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81328" y="25694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Ward (1963) — Hierarchical Grouping to Optimize an Objective Function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9900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🌐 Sklearn: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81328" y="29900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scikit-learn.org/stable/modules/clustering.html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92424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4107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🗃️ Iris/Wine: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81328" y="341071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UCI ML Repository — sklearn.datasets.load_iris(), load_wine()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813048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8313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🎥 Video: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81328" y="3831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StatQuest — K-Means Clustering &amp; Hierarchical Clustering (Josh Starmer)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749808"/>
            <a:ext cx="2103120" cy="4206240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84124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📝 Ödev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67728" y="1261872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8040" y="12161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Iris: K=2'den 8'e Elbow ve Silhouette grafiklerini çiz. Hangi K en iyi?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67728" y="1828800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1828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804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K-Means++ vs Rastgele başlangıç: 20 çalıştırma için inertia boxplot karşılaştırması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67728" y="2395728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2395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78040" y="2350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Wine verisi için 4 bağlantı yöntemi (single/complete/avg/ward) dendrogramlarını yan yana çiz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67728" y="2962656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29626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78040" y="29169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Mall Customer: K=5 ile segmentasyon yap, her segmentin ortalama Yaş ve Harcama tablosunu oluştur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67728" y="3529584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35295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78040" y="348386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Bonus: Silhouette diyagramı çiz (K=2,3,4,5 için), her K'nın kalitesini yorumla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663440"/>
            <a:ext cx="6309360" cy="41148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681728"/>
            <a:ext cx="6089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Sorularınız için ders saatleri veya e-posta yoluyla ulaşabilirsiniz.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&amp; Hiyerarşik Kümeleme</dc:title>
  <dc:subject>PptxGenJS Presentation</dc:subject>
  <dc:creator>Uygulamalı Makine Öğrenmesi</dc:creator>
  <cp:lastModifiedBy>Uygulamalı Makine Öğrenmesi</cp:lastModifiedBy>
  <cp:revision>1</cp:revision>
  <dcterms:created xsi:type="dcterms:W3CDTF">2026-03-16T22:34:46Z</dcterms:created>
  <dcterms:modified xsi:type="dcterms:W3CDTF">2026-03-16T22:34:46Z</dcterms:modified>
</cp:coreProperties>
</file>