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347472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B4B"/>
                </a:solidFill>
              </a:rPr>
              <a:t>UYGULAMALI MAKİNE ÖĞRENMESİ — HAFTA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286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" y="2340864"/>
            <a:ext cx="4572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505456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450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Sigmoid Fonksiyonu &amp; Karar Sınırı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816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Binary Cross-Entropy Kayıp Fonksiyonu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236976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182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Gradyan İniş Optimizasyonu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602736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547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L1 (Lasso) &amp; L2 (Ridge) Regularization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968496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913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Odds Ratio ile Katsayı Yorumlama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334256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279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Çok Sınıflı: OvR &amp; Softmax (Multinomial)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2606040" cy="1143000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📅 Hafta 2 — Sınıflandırma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87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🎓 Lisans 3-4 / YL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⏱️  ~3 Ders Saati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581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🗃️  Breast Cancer · Titanic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Lojistik Regresyon Nedir? Neden Gerekli?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Sigmoid Fonksiyonu &amp; Matematiksel Temel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Karar Sınırı (Decision Boundary)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Binary Cross-Entropy Kayıp Fonksiyonu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Gradyan İniş &amp; Parametre Güncelleme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Model Değerlendirme: Confusion Matrix, F1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ROC Eğrisi &amp; AUC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7550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Regularization: L1 vs L2, C Parametresi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Katsayı Yorumlama — Odds Ratio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Çok Sınıflı: OvR vs Softmax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 Gerçek Dünya: Breast Cancer · Titanic · KNN ile Karşılaştırma · Pipeline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Nedir? — Tanım &amp; Motivasyon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Tanım: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Adında 'regresyon' geçmesine karşın bir sınıflandırma algoritmasıdır. Girdi özelliklerinden yola çıkarak bir gözlemin belirli bir sınıfa ait olma olasılığını tahmin eder. Çıktı her zaman [0, 1] aralığındadır.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64592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645920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 Lineer Regresyon Neden Çalışmaz?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66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Sınırsız Çıktı: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267712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Lineer modelin çıktısı (−∞,+∞). Olasılık yorumu imkânsız.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Aykırı Değer Etkisi: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944368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Tek bir aykırı değer karar sınırını tamamen bozar.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5643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19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Yanlış Kayıp Fon.: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621024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MSE, sınıflandırma için optimal değil — konveks değil.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13308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96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Saçma Tahminler: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4297680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p=-0.3 veya p=1.8 gibi anlamsız olasılıklar üretir.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1645920"/>
            <a:ext cx="4572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1645920"/>
            <a:ext cx="4572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17373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82"/>
                </a:solidFill>
              </a:rPr>
              <a:t>✅  Lojistik Regresyon'un Çözümü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0288" y="210312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Sigmoid Çıktı: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gerçek sayıyı (0,1) aralığına sıkıştırır.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90288" y="265176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Olasılıksal: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91456" y="2816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Çıktı gerçek anlamda P(y=1|x) olasılığıdır.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90288" y="320040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Parametrik: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 ve b parametrelerini veriden öğrenir.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90288" y="374904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Cross-Entropy: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91456" y="3913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Konveks kayıp → global minimum garantili.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90288" y="429768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261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Yorumlanabilir: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4462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Odds Ratio ile her katsayı yorumlanabilir.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590288"/>
          <a:ext cx="8823960" cy="512064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611880"/>
              </a:tblGrid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Lineer Regresyon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Regresyon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Aralığı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(−∞, +∞)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 Amacı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değer tahmini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Aktivasyon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 (kimlik)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Fon.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(konveks değil)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(konveks)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Kısaca: Lojistik Regresyon = Lineer Regresyon + Sigmoid + Cross-Entropy Kaybı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Fonksiyonu — Matematiksel Temel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749808"/>
            <a:ext cx="5486400" cy="658368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74980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σ(z) = 1 / (1 + e^(−z))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" y="1435608"/>
            <a:ext cx="8823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burada  z = w₁x₁ + w₂x₂ + ... + wₐxₐ + b  =  wᵀx + b  (log-odds / logit)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" y="1755648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755648"/>
            <a:ext cx="212140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6B"/>
                </a:solidFill>
              </a:rPr>
              <a:t>z =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1901952" cy="329184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96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0.5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25054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Eşit belirsizlik — karar eşiği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1755648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1755648"/>
            <a:ext cx="21214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8470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z → +∞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87168" y="2139696"/>
            <a:ext cx="1901952" cy="329184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1396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→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7168" y="25054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Kesin Sınıf 1 tahmini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90288" y="1755648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1755648"/>
            <a:ext cx="212140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8470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z → −∞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0016" y="2139696"/>
            <a:ext cx="1901952" cy="329184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21396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→ 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0016" y="25054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Kesin Sınıf 0 tahmini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03136" y="1755648"/>
            <a:ext cx="21214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755648"/>
            <a:ext cx="212140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18470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σ'(z)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12864" y="2139696"/>
            <a:ext cx="1901952" cy="329184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21396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σ(z)·(1−σ(z))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12864" y="25054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Türevi kendisiyle ifade edilir — gradyan hesabı temiz!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4592" y="3328416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64592" y="3328416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419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Sigmoid vs Birim Adım (Heaviside)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703320"/>
          <a:ext cx="4114800" cy="10972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Adım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mi?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Türevi var mı?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 verir?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0 veya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[0,1]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Grad. İniş?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Çalışmaz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Çalışır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434840" y="3328416"/>
            <a:ext cx="4572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434840" y="3328416"/>
            <a:ext cx="4572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44568" y="341985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Karar Mekanizması (Eşik = 0.5)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44568" y="37216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=  1  eğer  σ(z) ≥ 0.5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544568" y="40507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=  0  eğer  σ(z) &lt; 0.5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544568" y="440740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Eşik 0.5'ten farklı seçilebilir: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FN maliyet &gt; FP: eşiği düşür (0.3)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FP maliyet &gt; FN: eşiği yükselt (0.7)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📐  σ'(z) = σ(z)·(1−σ(z))  →  Bu zariflik sayesinde geri yayılım sırasında türev zinciri son derece sade kalır.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Sınırı (Decision Boundary)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749808"/>
            <a:ext cx="6400800" cy="566928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7498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 Sınırı: wᵀx + b = 0  →  σ(z) = 0.5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4592" y="1417320"/>
            <a:ext cx="28529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417320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1 Boyut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8105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w₁x₁ + b = 0  →  Tek bir NOKTA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1031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Örnek: Yaş &gt; 50 → Hasta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417320"/>
            <a:ext cx="28529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17320"/>
            <a:ext cx="28529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5087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E82"/>
                </a:solidFill>
              </a:rPr>
              <a:t>2 Boyut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18105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w₁x₁ + w₂x₂ + b = 0  →  Doğru (Line)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64408" y="21031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Örnek: Tümör boyutu &amp; yaşa göre ayrım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4768" y="1417320"/>
            <a:ext cx="28529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417320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5087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d Boyut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18105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w₁x₁+...+wₐxₐ+b = 0  →  Hiper Düzlem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4496" y="21031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Örnek: 30 özellikle kanser teşhisi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277063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4592" y="2770632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⚠️  Kısıt: Doğrusal Sınır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Lojistik regresyon yalnızca doğrusal ayrılabilir (linearly separable) problemleri çözebilir.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XOR problemi → çözemez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İç içe çemberler → çözemez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151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Ay (moons) veri seti → başarısız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2770632"/>
            <a:ext cx="4572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2770632"/>
            <a:ext cx="4572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2862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E82"/>
                </a:solidFill>
              </a:rPr>
              <a:t>✅  Doğrusal Sınırla İyi Çalıştığı Durumlar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90288" y="32186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638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Spam tespiti (e-posta içeriği → spam/değil)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90288" y="35295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474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Hasta teşhisi (özellikler doğrusal ilişkiliyse)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90288" y="38404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7856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Kredi skoru (ödeme gücü)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90288" y="41513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96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Belge sınıflandırma (metin özellikleri)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90288" y="446227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407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İkili tıbbi karar (test sonuçları)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Doğrusal olmayan sınır gerekiyorsa: Kernel SVM, Karar Ağaçları, Sinir Ağları veya Polinom özellik ekleme tercih et.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Fonksiyonu: Binary Cross-Entropy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Lojistik regresyon MSE kullanmaz — bunun yerine sınıflandırma için tasarlanmış log-kaybı kullanır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L(w) = −(1/N) Σ [ y·log(p̂) + (1−y)·log(1−p̂) 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755648"/>
            <a:ext cx="4251960" cy="2395728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470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y = 1 durumu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176272"/>
            <a:ext cx="4005072" cy="402336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1762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−log(p̂)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p̂ → 1 olduğunda kayıp → 0 (doğru tahmin).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p̂ → 0 olduğunda kayıp → ∞ (büyük ceza)!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3456432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📌 Hasta gerçekten hasta → p̂ yüksek olmalı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755648"/>
            <a:ext cx="4251960" cy="2395728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8470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y = 0 durumu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28032" y="2176272"/>
            <a:ext cx="4005072" cy="402336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1762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−log(1 − p̂)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28032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p̂ → 0 olduğunda kayıp → 0 (doğru tahmin).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p̂ → 1 olduğunda kayıp → ∞ (büyük ceza)!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3456432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📌 Hasta sağlıklı → p̂ düşük olmalı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4224528"/>
            <a:ext cx="8686800" cy="7498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🔑  Neden Cross-Entropy Konveks?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45171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MSE + Sigmoid → Non-konveks (birden fazla lokal minimum)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Cross-Entropy + Sigmoid → Konveks (tek global minimum garantili)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4315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Gradyanlar:  ∂L/∂w = (1/N) Xᵀ(p̂ − y)   ·   ∂L/∂b = (1/N) Σ(p̂ − 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İniş &amp; Eğitim Süreci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493776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8823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 ←  w − η · (1/N) Xᵀ(p̂ − y)     </a:t>
            </a:r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b  ←  b − η · (1/N) Σ(p̂ − 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" y="1344168"/>
            <a:ext cx="1673352" cy="3383280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3560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" y="208483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İleri Geçiş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(Forward Pass)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" y="2578608"/>
            <a:ext cx="152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z = Xw + b  →  p̂ = σ(z)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Her örnek için tahmin olasılığını hesapla.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37944" y="260604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4" name="Shape 12"/>
          <p:cNvSpPr/>
          <p:nvPr/>
        </p:nvSpPr>
        <p:spPr>
          <a:xfrm>
            <a:off x="1929384" y="1344168"/>
            <a:ext cx="1673352" cy="3383280"/>
          </a:xfrm>
          <a:prstGeom prst="rect">
            <a:avLst/>
          </a:prstGeom>
          <a:solidFill>
            <a:srgbClr val="EEF2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43560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02536" y="208483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Kayıp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Hesapla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02536" y="2578608"/>
            <a:ext cx="152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 = −(1/N) Σ [y·log(p̂) + (1−y)·log(1−p̂)]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Mevcut parametrelerle ne kadar hata yapılıyor?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02736" y="260604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3694176" y="1344168"/>
            <a:ext cx="1673352" cy="3383280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42816" y="143560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67328" y="208483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Gradyan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Hesapla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2578608"/>
            <a:ext cx="152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∂L/∂w = (1/N) Xᵀ(p̂−y)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∂L/∂b = (1/N) Σ(p̂−y)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67528" y="260604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5458968" y="1344168"/>
            <a:ext cx="1673352" cy="3383280"/>
          </a:xfrm>
          <a:prstGeom prst="rect">
            <a:avLst/>
          </a:prstGeom>
          <a:solidFill>
            <a:srgbClr val="EEF2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143560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208483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Parametre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Güncelle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578608"/>
            <a:ext cx="152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 ← w − η·∂L/∂w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 ← b − η·∂L/∂b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η = öğrenme hızı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260604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32" name="Shape 30"/>
          <p:cNvSpPr/>
          <p:nvPr/>
        </p:nvSpPr>
        <p:spPr>
          <a:xfrm>
            <a:off x="7223760" y="1344168"/>
            <a:ext cx="1673352" cy="3383280"/>
          </a:xfrm>
          <a:prstGeom prst="rect">
            <a:avLst/>
          </a:prstGeom>
          <a:solidFill>
            <a:srgbClr val="EEF2FF"/>
          </a:solidFill>
          <a:ln w="19050">
            <a:solidFill>
              <a:srgbClr val="009E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1435608"/>
            <a:ext cx="566928" cy="566928"/>
          </a:xfrm>
          <a:prstGeom prst="ellipse">
            <a:avLst/>
          </a:prstGeom>
          <a:solidFill>
            <a:srgbClr val="009E82"/>
          </a:solidFill>
          <a:ln w="12700">
            <a:solidFill>
              <a:srgbClr val="009E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96912" y="208483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Yakınsama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Kontrol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96912" y="2578608"/>
            <a:ext cx="152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Kayıp yeterince düştü mü? Max iter doldu mu?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Evet → Dur. Hayır → Adım 1'e dön.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754880"/>
          <a:ext cx="8823960" cy="347472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611880"/>
              </a:tblGrid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(Öğrenme Hızı)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küçük (0.0001)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 yakınsama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süre ama güvenli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İdeal (0.01-0.1)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Düzgün azalış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İstenen durum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büyük (10+)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salınım/patlama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Yakınsamamaz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⚡  Scikit-learn varsayılan solver: lbfgs (L-BFGS). 2. dereceden türevleri kullanır — basit GD'dan çok daha hızlı yakınsar.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 — Confusion Matrix &amp; Metrikler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0624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Confusion Matrix (Karmaşıklık Matrisi)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1874520" cy="768096"/>
          </a:xfrm>
          <a:prstGeom prst="rect">
            <a:avLst/>
          </a:prstGeom>
          <a:solidFill>
            <a:srgbClr val="22C55E">
              <a:alpha val="3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874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Doğru Pozitif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+, Tahmin +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1170432"/>
            <a:ext cx="1874520" cy="768096"/>
          </a:xfrm>
          <a:prstGeom prst="rect">
            <a:avLst/>
          </a:prstGeom>
          <a:solidFill>
            <a:srgbClr val="EF4444">
              <a:alpha val="3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170432"/>
            <a:ext cx="1874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FN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Yanlış Negatif (Tip II)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+, Tahmin 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1874520" cy="768096"/>
          </a:xfrm>
          <a:prstGeom prst="rect">
            <a:avLst/>
          </a:prstGeom>
          <a:solidFill>
            <a:srgbClr val="F97316">
              <a:alpha val="3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75104"/>
            <a:ext cx="1874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FP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Yanlış Pozitif (Tip I)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−, Tahmin +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94560" y="1975104"/>
            <a:ext cx="1874520" cy="768096"/>
          </a:xfrm>
          <a:prstGeom prst="rect">
            <a:avLst/>
          </a:prstGeom>
          <a:solidFill>
            <a:srgbClr val="00C9A7">
              <a:alpha val="3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975104"/>
            <a:ext cx="1874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TN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Doğru Negatif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−, Tahmin 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28529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Eğitim notu: Kötü huylu tümörü kaçırmak (FN) çok tehlikeliyken gereksiz alarm (FP) daha tolere edilebilir.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26280" y="749808"/>
            <a:ext cx="64008" cy="7680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749808"/>
            <a:ext cx="43616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804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⚠️ 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024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76288" y="804672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Genel doğruluk. Dengesiz veride yanıltıcı!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26280" y="1627632"/>
            <a:ext cx="64008" cy="7680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627632"/>
            <a:ext cx="43616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682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📌 Precision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76288" y="168249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Pozitif tahminlerin isabet oranı. FP maliyetliyse.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26280" y="2505456"/>
            <a:ext cx="64008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505456"/>
            <a:ext cx="43616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36592" y="2560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🏥 Recall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7797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76288" y="256032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Gerçek pozitifleri yakalama. FN maliyetliyse kritik!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26280" y="3383280"/>
            <a:ext cx="64008" cy="7680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383280"/>
            <a:ext cx="43616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36592" y="3438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⭐ F1 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36592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2·P·R / (P+R)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76288" y="343814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Precision-Recall dengesi. Tek metrik seçilecekse.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26280" y="4261104"/>
            <a:ext cx="64008" cy="7680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4261104"/>
            <a:ext cx="43616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36592" y="43159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📈 AUC-ROC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36592" y="4535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∫TPR d(FPR)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76288" y="43159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Eşik bağımsız. Ranklama kalitesi. 1.0=mükemmel.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⚕️  Kanser tespiti: Recall (Sensitivity) öncelikli. Spam filtresi: Precision öncelikli. Genel: F1 öncelikli.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 &amp; AUC — Eşik Bağımsız Değerlendirme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ROC (Receiver Operating Characteristic):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Farklı karar eşiklerinde (0→1) modelin TPR (True Positive Rate) ve FPR (False Positive Rate) dengesi. Eşikten bağımsız genel performans göstergesi.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508760"/>
            <a:ext cx="28529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508760"/>
            <a:ext cx="285292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02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AUC = 1.0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1947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Mükemmel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221284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Sol üst köşeye yapışık eğri. Her eşikte mükemmel ayrım. Gerçek hayatta şüpheyle karşılanmalı.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508760"/>
            <a:ext cx="28529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508760"/>
            <a:ext cx="285292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6002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AUC = 0.5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1947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Rastgele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221284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Çapraz köşegenle üst üste. Parametre öğrenilmemiş gibi. Model işe yaramıyor demek.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1508760"/>
            <a:ext cx="28529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508760"/>
            <a:ext cx="28529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6002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AUC = 0.97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496" y="1947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Çok İyi Model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54496" y="221284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Breast Cancer verisinde tipik. Tıbbi tanı için yeterli. Validation gerekli.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1089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108960"/>
            <a:ext cx="416052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Optimal Eşik Seçimi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493008"/>
          <a:ext cx="416052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1430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Youden's 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max(TPR − FPR)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dengeli seçim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Maximize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F1(threshold)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Dengesiz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Precision-fix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oranını sabitle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filtresi, hukuk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Recall-fix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oranını sabitle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Kanser tespiti, güvenlik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480560" y="3108960"/>
            <a:ext cx="45720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0560" y="3108960"/>
            <a:ext cx="4572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32004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AUC Yorumlama Skalası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90288" y="3511296"/>
            <a:ext cx="1097280" cy="18288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0288" y="35112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0.9-1.0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742432" y="351129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Mükemmel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90288" y="3712464"/>
            <a:ext cx="1097280" cy="18288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90288" y="37124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0.8-0.9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742432" y="371246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Çok İyi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90288" y="3913632"/>
            <a:ext cx="1097280" cy="18288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90288" y="3913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0.7-0.8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74243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İyi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90288" y="4114800"/>
            <a:ext cx="1097280" cy="18288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90288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0.6-0.7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742432" y="411480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Kabul Edilebilir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90288" y="4315968"/>
            <a:ext cx="1097280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0288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0.5-0.6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742432" y="431596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Zayıf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590288" y="4517136"/>
            <a:ext cx="1097280" cy="182880"/>
          </a:xfrm>
          <a:prstGeom prst="rect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90288" y="4517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~0.5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5742432" y="451713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Rastgele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AUC = P(P(x⁺) &gt; P(x⁻))  →  Rastgele seçilen pozitif örneğe negatiften daha yüksek skor verme olasılığı.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— L1 (Lasso), L2 (Ridge) &amp; C Parametresi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Regularization: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Overfitting'i önlemek için kayıp fonksiyonuna ağırlıkları cezalandıran bir terim eklenir. Modelin karmaşıklığını sınırlar.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426464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426464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L2 Regularization (Ridge)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4023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105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L_CE + (λ/2) Σwⱼ²  =  L_CE + (1/2C) Σwⱼ²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267712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Ağırlıkları sıfıra yaklaştırır ama TAM sıfır yapmaz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Tüm özellikler modelde kalır, ama küçük katkı yapanlar baskılanır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Çok değişkenli durumda (multicollinearity) koruyucudur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426464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426464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L1 Regularization (Lasso)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7448" y="1810512"/>
            <a:ext cx="4023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8105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L_CE + λ Σ|wⱼ|  =  L_CE + (1/C) Σ|wⱼ|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2267712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Bazı ağırlıkları TAM olarak 0 yapar!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Otomatik özellik seçimi (feature selection)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Sparse (seyrek) model: az sayıda özellik kullanır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3438144"/>
            <a:ext cx="8823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3438144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295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 Parametresi  (sklearn: default C=1.0)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1/λ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29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Küçük C → Güçlü regularization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Büyük C → Zayıf regularization (overfitting riski)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822192"/>
          <a:ext cx="8823960" cy="987552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  <a:gridCol w="1737360"/>
                <a:gridCol w="29718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Değeri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(Ceza)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0.001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Güçlü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gürültülü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0.1-1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İdeal başlangıç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Genellikle iyi çalışır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→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Zayıf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büyük, temiz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Strateji: C=1 ile başla → GridSearchCV ile C ∈ {0.001, 0.01, 0.1, 1, 10, 100} optimizasyonu yap.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Katsayı Yorumlama — Odds Ratio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Lojistik regresyonun en güçlü yanı: Her katsayı anlamlı biçimde yorumlanabilir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9264"/>
            <a:ext cx="8686800" cy="10058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Log-Odds (Logit): log(p/(1-p)) = wᵀx +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Ratio: OR_j = e^(wⱼ)  →  Özellik j 1 birim arttığında oddsın çarpanı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103120"/>
            <a:ext cx="2852928" cy="256032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9456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OR &gt;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(wⱼ &gt; 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7432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Özellik j arttıkça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y=1 olasılığı ARTAR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346704"/>
            <a:ext cx="2633472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3467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Örnek: OR=2.0 → j, 1 birim artar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odds 2 katına çıkar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3657600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OR=2.0 → j, 1 birim artar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odds 2 katına çıkar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2103120"/>
            <a:ext cx="2852928" cy="256032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9456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OR =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(wⱼ = 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Özellik j'nin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hiçbir etkisi yok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3346704"/>
            <a:ext cx="2633472" cy="256032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3467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Örnek: Regularization bu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ağırlığı sıfırlar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3657600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Regularization bu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ağırlığı sıfırlar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2103120"/>
            <a:ext cx="2852928" cy="256032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219456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OR &lt;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(wⱼ &lt; 0)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7648" y="27432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Özellik j arttıkça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y=1 olasılığı AZALIR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27648" y="3346704"/>
            <a:ext cx="2633472" cy="256032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3467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Örnek: OR=0.5 → j, 1 birim artar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odds yarıya iner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27648" y="3657600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OR=0.5 → j, 1 birim artar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odds yarıya iner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4754880"/>
            <a:ext cx="8686800" cy="310896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Titanic örneği: sex_enc (erkek=1) için OR &lt; 1 → erkek yolcuların hayatta kalma olasılığı düşük  |  pclass için OR &lt; 1 → üst sınıf numarası büyük → daha az şans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 Lojistik Regresyon — OvR &amp; Softmax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Lojistik regresyon doğası gereği ikili (binary) bir algoritmadır. K &gt; 2 sınıf için iki strateji vardır: OvR ve Multinomial (Softmax).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353312"/>
            <a:ext cx="425196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353312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One-vs-Rest (OvR)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737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Her sınıf için ayrı binary sınıflandırıcı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4023360" cy="1170432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2996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Sınıflandırıcı 1: Setosa vs {Versicolor, Virginica}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37744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Sınıflandırıcı 2: Versicolor vs {Setosa, Virginica}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272491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Sınıflandırıcı 3: Virginica vs {Setosa, Versicolor}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182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K sınıf için K model eğitilir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En yüksek skorlu sınıf seçilir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Olasılıklar toplamı 1 olmak zorunda değil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858768"/>
          <a:ext cx="4251960" cy="896112"/>
        </p:xfrm>
        <a:graphic>
          <a:graphicData uri="http://schemas.openxmlformats.org/drawingml/2006/table">
            <a:tbl>
              <a:tblPr/>
              <a:tblGrid>
                <a:gridCol w="1463040"/>
                <a:gridCol w="2788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 — 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sayısı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normalize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multi_class='ovr'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617720" y="1353312"/>
            <a:ext cx="425196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1353312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Multinomial (Softmax)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27448" y="1737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Tek model, tüm sınıfları birlikte öğrenir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27448" y="1975104"/>
            <a:ext cx="4023360" cy="1170432"/>
          </a:xfrm>
          <a:prstGeom prst="rect">
            <a:avLst/>
          </a:prstGeom>
          <a:solidFill>
            <a:srgbClr val="EEF2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27448" y="197510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P(y=k | x) = e^(wₖᵀx + bₖ) / Σⱼ e^(wⱼᵀx + bⱼ)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27448" y="3182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Tüm sınıflar için tek optimizasyon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Olasılıklar toplamı kesinlikle 1'dir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Daha tutarlı olasılıksal tahmin</a:t>
            </a:r>
            <a:endParaRPr lang="en-US" sz="9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3858768"/>
          <a:ext cx="4251960" cy="896112"/>
        </p:xfrm>
        <a:graphic>
          <a:graphicData uri="http://schemas.openxmlformats.org/drawingml/2006/table">
            <a:tbl>
              <a:tblPr/>
              <a:tblGrid>
                <a:gridCol w="1463040"/>
                <a:gridCol w="2788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yavaş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sayısı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model (K sınıf)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normalize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Σ =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multi_class='multinomial'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Softmax, Lojistik Regresyon'un K sınıflı genellemesidir. K=2 durumunda ikisi de aynı sonucu verir.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vs KNN — Kapsamlı Karşılaştırma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169664"/>
        </p:xfrm>
        <a:graphic>
          <a:graphicData uri="http://schemas.openxmlformats.org/drawingml/2006/table">
            <a:tbl>
              <a:tblPr/>
              <a:tblGrid>
                <a:gridCol w="2057400"/>
                <a:gridCol w="2514600"/>
                <a:gridCol w="251460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Regresyon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Olmayan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(kompleks yapı)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Öğrenme Türü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Parametrik (w, b öğrenir)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(veri saklar)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Duruma göre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Hızı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(iteratif)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anında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Hızı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O(d) — hızlı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O(N×d) — yavaş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 Yüksek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Düşük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 Kalitesi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Kalibre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Yaklaşık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 Kullanımı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Az (sadece w,b)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Tüm eğitim verisi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Berabere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L1/L2 yerleşik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 ölçeklenir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Çok yavaşlar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veri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Yetersiz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 adapte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penalty, solver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metrik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(az HPT)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Pratik: Yorumlanabilirlik + hız + büyük veri → LR  |  Doğrusal olmayan sınır + küçük veri → KNN  |  Her ikisi de baseline olarak denenebilir.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ile Lojistik Regresyon — Kod Özeti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Pipeline — Veri Sızıntısı Yok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('scaler', StandardScaler()),       # fit sadece eğitimde!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('lr',    LogisticRegression(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C=1.0, penalty='l2',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max_iter=1000, random_state=42))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pipeline.fit(X_train, y_train)          # tüm akış otomatik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2194560"/>
            <a:ext cx="8823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GridSearchCV ile C Optimizasyonu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2450592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'lr__C'       : [0.001, 0.01, 0.1, 1, 10, 100],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'lr__penalty' : ['l1', 'l2'],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'lr__solver'  : ['liblinear', 'lbfgs'],  # L1 için liblinear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GridSearchCV(pipeline, param_grid, cv=5,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scoring='f1', n_jobs=-1)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print(gs.best_params_)                  # en iyi kombinasyon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3639312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Tahmin &amp; Değerlendirme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895344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931920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      = pipeline.predict(X_test)         # sınıf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y_pred_proba = pipeline.predict_proba(X_test)[:, 1]  # P(y=1)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(roc_auc_score,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classification_report, confusion_matrix)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print(roc_auc_score(y_test, y_pred_proba))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Katsayılar (ölçeklenmiş)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pipeline.named_steps['lr']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print(lr.coef_)         # w değerleri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print(np.exp(lr.coef_)) # odds ratio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5074920"/>
            <a:ext cx="8823960" cy="1828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50749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L1 penalty için solver='liblinear' kullan  |  L2 için solver='lbfgs' yeterli  |  Büyük veri için solver='saga'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Uygulaması — Breast Cancer Wisconsin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Görev: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Tümörün kötü huylu (malignant) mu yoksa iyi huylu (benign) mu olduğunu 30 hücre çekirdeği özelliğiyle tahmin etmek.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389888"/>
            <a:ext cx="4251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🗃️ Veri Seti Bilgileri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773936"/>
          <a:ext cx="4251960" cy="2889504"/>
        </p:xfrm>
        <a:graphic>
          <a:graphicData uri="http://schemas.openxmlformats.org/drawingml/2006/table">
            <a:tbl>
              <a:tblPr/>
              <a:tblGrid>
                <a:gridCol w="1828800"/>
                <a:gridCol w="2423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 / sklearn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Yazarlar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W.H. Wolberg et al., 1992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 örnek × 30 özellik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 Malignant · 357 Benign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Değer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Türü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Sayısal (sürekli)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archive.ics.uci.edu/ml/datasets/...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load_breast_cancer()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617720" y="1389888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1389888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7448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📊 Model Sonuçları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773936"/>
          <a:ext cx="4251960" cy="1463040"/>
        </p:xfrm>
        <a:graphic>
          <a:graphicData uri="http://schemas.openxmlformats.org/drawingml/2006/table">
            <a:tbl>
              <a:tblPr/>
              <a:tblGrid>
                <a:gridCol w="1508760"/>
                <a:gridCol w="914400"/>
                <a:gridCol w="822960"/>
                <a:gridCol w="1005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L2 C=1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L1 C=1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L2 C=0.1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K=5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K=11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727448" y="3291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⭐ Önemli Gözlemler: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27448" y="362102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82896" y="35661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LR, KNN'den daha iyi AUC ve F1 sağlar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27448" y="389534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82896" y="384048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L1 bazı ağırlıkları sıfırlar (özellik seçimi)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27448" y="416966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82896" y="4114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AUC ~0.995 → neredeyse mükemmel ayrım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27448" y="444398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82896" y="43891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Olasılık kalibrasyonu LR'de çok daha iyi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727448" y="471830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82896" y="466344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30 özellikten en önemli: concave points, radius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⚕️  Klinik uygulamada: Recall (sensitivity) en kritik metrik. Kötü huylu tümörü kaçırmak (FN) kabul edilemez hata.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Lojistik Regresyon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059936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4251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Nokta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σ(z) = 1/(1+e^(−z))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z=0 → 0.5; z→+∞ → 1; z→−∞ →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wᵀx + b = 0 — Doğrusal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doğrusal ayrılabilir veri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Konveks → global minimum garantili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∂L/∂w = (1/N)Xᵀ(p̂−y)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türevi zarifliği sayesinde sade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L2: w'leri küçült · L1: sıfırla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1/λ; küçük C = güçlü ceza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Parametresi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C=1.0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ile optimize 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e^(wⱼ)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birim artışın odds üzerindeki çarpan etkisi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Sınıflı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OvR: K model · Softmax: 1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olasılıkları normalize (Σ=1)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 + LR birlikte sardır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sızıntısını (data leakage) önler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AUC-ROC, Confusion Matrix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Dengesiz veride Accuracy yanıltıcı!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vs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LR: yorumlanabilir, hızlı tahmin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KNN: non-linear, yavaş tahmin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873752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🚀  Sonraki Ders: Karar Ağaçları + Naive Bayes — Gini/Entropy ile dal ayırma, olasılıksal öğrenme, yorumlanabilir kural öğrenimi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886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Géron — Hands-On ML (3rd ed.), Bölüm 4: Modeli Eğitme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075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Bishop — PRML, Bölüm 4: Linear Models for Classification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282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Cox (1958) — The Regression Analysis of Binary Sequences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Wolberg &amp; Mangasarian (1990) — Breast Cancer Wisconsin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569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scikit-learn.org/stable/modules/linear_model.html#logistic-regression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90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UCI: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29900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archive.ics.uci.edu/ml/datasets/Breast+Cancer+Wisconsin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🎥 Video: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StatQuest — Logistic Regression (Josh Starmer, YouTube)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78040" y="12161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Breast Cancer verisiyle C=[0.001, 0.01, 0.1, 1, 10] için LR eğit, CV F1 karşılaştır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67728" y="186537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865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8196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L1 vs L2 ile kaç özellik sıfırlanıyor? Farklı C için incele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67728" y="246888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4688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24231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ROC eğrisini çiz, optimal eşiği bul ve yorumla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67728" y="307238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3072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302666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Titanic verisine 2 yeni feature ekle, model performansına etkisi?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67728" y="367588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36301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Bonus: predict_proba() ile kalibrasyon eğrisi çiz (sklearn CalibrationDisplay)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681728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 ders saatleri veya e-posta yoluyla ulaşabilirsiniz.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Lojistik Regresyon</dc:title>
  <dc:subject>PptxGenJS Presentation</dc:subject>
  <dc:creator>Uygulamalı Makine Öğrenmesi</dc:creator>
  <cp:lastModifiedBy>Uygulamalı Makine Öğrenmesi</cp:lastModifiedBy>
  <cp:revision>1</cp:revision>
  <dcterms:created xsi:type="dcterms:W3CDTF">2026-03-14T14:00:04Z</dcterms:created>
  <dcterms:modified xsi:type="dcterms:W3CDTF">2026-03-14T14:00:04Z</dcterms:modified>
</cp:coreProperties>
</file>