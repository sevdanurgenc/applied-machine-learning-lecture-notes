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253C8C">
              <a:alpha val="35000"/>
            </a:srgbClr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2560320"/>
            <a:ext cx="3474720" cy="3474720"/>
          </a:xfrm>
          <a:prstGeom prst="ellipse">
            <a:avLst/>
          </a:prstGeom>
          <a:solidFill>
            <a:srgbClr val="00C9A7">
              <a:alpha val="1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411480"/>
            <a:ext cx="4206240" cy="347472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4114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0D1B4B"/>
                </a:solidFill>
              </a:rPr>
              <a:t>UYGULAMALI MAKİNE ÖĞRENMESİ — HAFTA 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228600" y="896112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Ağaç Tabanlı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228600" y="1591056"/>
            <a:ext cx="7315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C9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Regresyon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228600" y="2304288"/>
            <a:ext cx="475488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2468880"/>
            <a:ext cx="109728" cy="10972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" y="241401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Decision Tree Regressor — Adım Fonksiyonu &amp; MSE Kriteri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8600" y="2816352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276148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Random Forest Reg. — OOB &amp; Özellik Önemleri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8600" y="3163824"/>
            <a:ext cx="109728" cy="10972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2336" y="3108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Gradient Boosting Reg. — Artık Hata Azaltma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8600" y="3511296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" y="345643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XGBoost &amp; LightGBM — Early Stopping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3858768"/>
            <a:ext cx="109728" cy="10972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38039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Permutation Importance &amp; Partial Dependence Plot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8600" y="4206240"/>
            <a:ext cx="109728" cy="1097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336" y="415137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Tüm Modeller Kapsamlı RMSE / R² Karşılaştırması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3749040"/>
            <a:ext cx="2606040" cy="1143000"/>
          </a:xfrm>
          <a:prstGeom prst="rect">
            <a:avLst/>
          </a:prstGeom>
          <a:solidFill>
            <a:srgbClr val="1A2F6B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46520" y="38404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📅 Hafta 10 — Regresyon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46520" y="40873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🎓 Lisans 3-4 / YL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46520" y="4334256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⏱️  ~3 Ders Saati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46520" y="4581144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</a:rPr>
              <a:t>🗃️  California Housing · Diabetes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828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Planı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749808"/>
            <a:ext cx="41148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932688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32688"/>
            <a:ext cx="438912" cy="69494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32688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0664" y="932688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DT Regressor — Adım Fonksiyonu &amp; MSE Kriteri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" y="1737360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28600" y="1737360"/>
            <a:ext cx="438912" cy="69494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737360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40664" y="1737360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Sıfırdan CART Regresyon (NumPy)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8600" y="2542032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542032"/>
            <a:ext cx="438912" cy="69494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542032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0664" y="2542032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sklearn &amp; Ağaç Görselleştirmesi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3346704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346704"/>
            <a:ext cx="438912" cy="69494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346704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0664" y="3346704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max_depth Analizi &amp; Overfitting Tanısı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28600" y="4151376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28600" y="4151376"/>
            <a:ext cx="438912" cy="69494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4151376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0664" y="4151376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Random Forest Regressor — OOB &amp; Özellik Önemi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932688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932688"/>
            <a:ext cx="438912" cy="69494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932688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175504" y="932688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Gradient Boosting Regressor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1737360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3440" y="1737360"/>
            <a:ext cx="438912" cy="69494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737360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07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75504" y="1737360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XGBoost &amp; LightGBM — Early Stopping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663440" y="2542032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663440" y="2542032"/>
            <a:ext cx="438912" cy="69494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542032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08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175504" y="2542032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Özellik Önemleri: Gini vs Permutation vs PDP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3346704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663440" y="3346704"/>
            <a:ext cx="438912" cy="694944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3346704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09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175504" y="3346704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GridSearchCV ile Hiperparametre Optimizasyonu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663440" y="4151376"/>
            <a:ext cx="4206240" cy="694944"/>
          </a:xfrm>
          <a:prstGeom prst="rect">
            <a:avLst/>
          </a:prstGeom>
          <a:solidFill>
            <a:srgbClr val="253C8C">
              <a:alpha val="7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663440" y="4151376"/>
            <a:ext cx="438912" cy="694944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4151376"/>
            <a:ext cx="4389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4B"/>
                </a:solidFill>
              </a:rPr>
              <a:t>10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175504" y="4151376"/>
            <a:ext cx="36118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4FF"/>
                </a:solidFill>
              </a:rPr>
              <a:t>Tüm Modeller Karşılaştırması &amp; Tahmin Kalitesi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28600" y="4956048"/>
            <a:ext cx="8686800" cy="128016"/>
          </a:xfrm>
          <a:prstGeom prst="rect">
            <a:avLst/>
          </a:prstGeom>
          <a:solidFill>
            <a:srgbClr val="00C9A7">
              <a:alpha val="3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28600" y="4956048"/>
            <a:ext cx="8686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California Housing (20.640 ev) · Diabetes · Sentetik 1D  |  Sıfırdan CART Regresyon · PDP · permutation_importance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Regressor — Temel Fikir &amp; Sınıflandırma ile Farklar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882396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88239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046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E82"/>
                </a:solidFill>
              </a:rPr>
              <a:t>Temel Fikir: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04241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Özellik uzayını dikdörtgen bölgelere böl. Her bölgedeki örneklerin y ortalamasını tahmin olarak ver. Sınıflandırmadan farkı: yaprakta 'çoğunluk sınıfı' yerine 'ortalama' kullanılır.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64592" y="1335024"/>
            <a:ext cx="8823960" cy="530352"/>
          </a:xfrm>
          <a:prstGeom prst="rect">
            <a:avLst/>
          </a:prstGeom>
          <a:solidFill>
            <a:srgbClr val="EEF2FF"/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335024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9E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ŷ_yaprak = (1/|Rₘ|) Σ yᵢ  |  MSE Azalma = MSE(t) − (Nₛₒₗ/N)·MSE(tₛₒₗ) − (Nₛₐğ/N)·MSE(tₛₐğ)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64592" y="1956816"/>
            <a:ext cx="88239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64592" y="1956816"/>
            <a:ext cx="8823960" cy="640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048256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Sınıflandırma vs Regresyon Ağacı</a:t>
            </a:r>
            <a:endParaRPr lang="en-US" sz="11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2340864"/>
          <a:ext cx="8823960" cy="1207008"/>
        </p:xfrm>
        <a:graphic>
          <a:graphicData uri="http://schemas.openxmlformats.org/drawingml/2006/table">
            <a:tbl>
              <a:tblPr/>
              <a:tblGrid>
                <a:gridCol w="1920240"/>
                <a:gridCol w="3383280"/>
                <a:gridCol w="3520440"/>
              </a:tblGrid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Sınıflandırma Ağacı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Regresyon Ağacı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Bölme Kriteri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 İmpurity / Entropy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9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 Azalması / MAE Azalması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Yaprak Tahmini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Çoğunluk Sınıfı (mode)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9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Ortalama ŷ = mean(y)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Kayıp Fonksiyonu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Cross-Entropy / Gini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9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 / MAE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Çıktı Türü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Sınıf etiketi (kategorik)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Sürekli değer (sayısal)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 risk — max_depth kritik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Aynı risk — max_depth kritik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 param.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'gini' veya 'entropy'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'squared_error' veya 'absolute_error'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164592" y="3675888"/>
            <a:ext cx="8823960" cy="109728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164592" y="3675888"/>
            <a:ext cx="8823960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4320" y="3767328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Neden 'Adım Fonksiyonu'?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74320" y="4041648"/>
            <a:ext cx="4114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Her yaprak → sabit bir değer tahmini. Derinlik arttıkça adımlar küçülür, fonksiyon şekline yaklaşır. Ancak depth=None ise her veri noktası kendi yaprağında — tam ezber!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480560" y="4041648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depth=1: 1 bölme → 2 sabit bölge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depth=3: 8 bölme → 8 sabit bölge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depth=None: N nokta → N yaprak (Train RMSE=0!)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💡  Regresyon ağacı için de max_depth kontrolü kritik! depth=None → Eğitim seti ezber, test performansı kötü.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Algoritması — Regresyon İçin Uyarlama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786384"/>
            <a:ext cx="8229600" cy="566928"/>
          </a:xfrm>
          <a:prstGeom prst="rect">
            <a:avLst/>
          </a:prstGeom>
          <a:solidFill>
            <a:srgbClr val="1A2F6B">
              <a:alpha val="70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8638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9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min(j,t) [ Σ(yᵢ−ȳ_R1)² + Σ(yᵢ−ȳ_R2)² ]   →   En iyi (özellik j, eşik t) çifti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64592" y="1481328"/>
            <a:ext cx="1673352" cy="2706624"/>
          </a:xfrm>
          <a:prstGeom prst="rect">
            <a:avLst/>
          </a:prstGeom>
          <a:solidFill>
            <a:srgbClr val="1A2F6B">
              <a:alpha val="75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572768"/>
            <a:ext cx="566928" cy="56692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B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37744" y="2212848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Tüm özellikler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ve eşikler tara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37744" y="2596896"/>
            <a:ext cx="152704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Her (j,t) çifti için sol ve sağ bölmeleri hesapla. N×d kombinasyon.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837944" y="2542032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ot"/>
          </a:ln>
        </p:spPr>
      </p:sp>
      <p:sp>
        <p:nvSpPr>
          <p:cNvPr id="12" name="Shape 10"/>
          <p:cNvSpPr/>
          <p:nvPr/>
        </p:nvSpPr>
        <p:spPr>
          <a:xfrm>
            <a:off x="1929384" y="1481328"/>
            <a:ext cx="1673352" cy="2706624"/>
          </a:xfrm>
          <a:prstGeom prst="rect">
            <a:avLst/>
          </a:prstGeom>
          <a:solidFill>
            <a:srgbClr val="1A2F6B">
              <a:alpha val="75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78024" y="1572768"/>
            <a:ext cx="566928" cy="5669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78024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B"/>
                </a:solidFill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02536" y="2212848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MSE azalmasını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hesapla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002536" y="2596896"/>
            <a:ext cx="152704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MSE_parent − (N_L/N)MSE_L − (N_R/N)MSE_R. Max azalmayı seç.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02736" y="2542032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ot"/>
          </a:ln>
        </p:spPr>
      </p:sp>
      <p:sp>
        <p:nvSpPr>
          <p:cNvPr id="18" name="Shape 16"/>
          <p:cNvSpPr/>
          <p:nvPr/>
        </p:nvSpPr>
        <p:spPr>
          <a:xfrm>
            <a:off x="3694176" y="1481328"/>
            <a:ext cx="1673352" cy="2706624"/>
          </a:xfrm>
          <a:prstGeom prst="rect">
            <a:avLst/>
          </a:prstGeom>
          <a:solidFill>
            <a:srgbClr val="1A2F6B">
              <a:alpha val="75000"/>
            </a:srgbClr>
          </a:solidFill>
          <a:ln w="19050">
            <a:solidFill>
              <a:srgbClr val="00C9A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42816" y="1572768"/>
            <a:ext cx="566928" cy="566928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42816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B"/>
                </a:solidFill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767328" y="2212848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Böl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767328" y="2596896"/>
            <a:ext cx="152704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Seçilen (j*, t*) ile veriyi D_sol ve D_sağ olarak ayır.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5367528" y="2542032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ot"/>
          </a:ln>
        </p:spPr>
      </p:sp>
      <p:sp>
        <p:nvSpPr>
          <p:cNvPr id="24" name="Shape 22"/>
          <p:cNvSpPr/>
          <p:nvPr/>
        </p:nvSpPr>
        <p:spPr>
          <a:xfrm>
            <a:off x="5458968" y="1481328"/>
            <a:ext cx="1673352" cy="2706624"/>
          </a:xfrm>
          <a:prstGeom prst="rect">
            <a:avLst/>
          </a:prstGeom>
          <a:solidFill>
            <a:srgbClr val="1A2F6B">
              <a:alpha val="75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07608" y="1572768"/>
            <a:ext cx="566928" cy="566928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07608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B"/>
                </a:solidFill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532120" y="2212848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Özyinelemeli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devam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532120" y="2596896"/>
            <a:ext cx="152704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Her alt küme için aynı süreci tekrar et. Derinlik artar.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132320" y="2542032"/>
            <a:ext cx="914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ot"/>
          </a:ln>
        </p:spPr>
      </p:sp>
      <p:sp>
        <p:nvSpPr>
          <p:cNvPr id="30" name="Shape 28"/>
          <p:cNvSpPr/>
          <p:nvPr/>
        </p:nvSpPr>
        <p:spPr>
          <a:xfrm>
            <a:off x="7223760" y="1481328"/>
            <a:ext cx="1673352" cy="2706624"/>
          </a:xfrm>
          <a:prstGeom prst="rect">
            <a:avLst/>
          </a:prstGeom>
          <a:solidFill>
            <a:srgbClr val="1A2F6B">
              <a:alpha val="75000"/>
            </a:srgbClr>
          </a:solidFill>
          <a:ln w="19050">
            <a:solidFill>
              <a:srgbClr val="009E8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0" y="1572768"/>
            <a:ext cx="566928" cy="566928"/>
          </a:xfrm>
          <a:prstGeom prst="ellipse">
            <a:avLst/>
          </a:prstGeom>
          <a:solidFill>
            <a:srgbClr val="009E82"/>
          </a:solidFill>
          <a:ln w="12700">
            <a:solidFill>
              <a:srgbClr val="009E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0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4B"/>
                </a:solidFill>
              </a:rPr>
              <a:t>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296912" y="2212848"/>
            <a:ext cx="1527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Dur koşulları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296912" y="2596896"/>
            <a:ext cx="1527048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</a:rPr>
              <a:t>max_depth, min_samples_split veya min_samples_leaf eşiği → Yaprak tahmini = mean(y).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28600" y="4279392"/>
            <a:ext cx="8686800" cy="749808"/>
          </a:xfrm>
          <a:prstGeom prst="rect">
            <a:avLst/>
          </a:prstGeom>
          <a:solidFill>
            <a:srgbClr val="00C9A7">
              <a:alpha val="25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4334256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Kritik Hiperparametreler: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47472" y="457200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max_depth — Overfit kontrolü   |   min_samples_leaf — Yaprak boyutu (aykırı değer direnci)   |   criterion='squared_error' (MSE) veya 'absolute_error' (MAE — aykırı değere dayanıklı)   |   ccp_alpha — Post-pruning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Regressor — OOB, Özellik Önemleri &amp; Hiperparametreler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4251960" cy="411480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425196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RF Regressor — Temel Özellikler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1133856"/>
          <a:ext cx="4251960" cy="2048256"/>
        </p:xfrm>
        <a:graphic>
          <a:graphicData uri="http://schemas.openxmlformats.org/drawingml/2006/table">
            <a:tbl>
              <a:tblPr/>
              <a:tblGrid>
                <a:gridCol w="1463040"/>
                <a:gridCol w="731520"/>
                <a:gridCol w="2057400"/>
              </a:tblGrid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Açıklama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Ağaç sayısı. 100-500 yeterli.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max_features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'sqrt'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bölmede √d özellik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min_samples_leaf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Yaprakta min örnek. Gürültüye karşı.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oob_score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~%37 OOB → ücretsiz val.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n_jobs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Tüm CPU çekirdekleri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Tam büyüme — bagging korur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'squared_error'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 kriteri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bootstrap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Yerine koyarak örnekle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274320" y="323697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Regresyon için max_features: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74320" y="3493008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Sınıflandırma: 'sqrt' (default) → √d özellik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Regresyon: '1.0' (sklearn default) veya 'sqrt' — deneyin!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Önerim: 'sqrt' veya 0.5 ile dene, CV'de karşılaştır.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164592" y="4169664"/>
            <a:ext cx="4251960" cy="621792"/>
          </a:xfrm>
          <a:prstGeom prst="rect">
            <a:avLst/>
          </a:prstGeom>
          <a:solidFill>
            <a:srgbClr val="EEF2FF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74320" y="42062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 = RandomForestRegressor(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n_estimators=200, max_features='sqrt',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min_samples_leaf=5, oob_score=True, n_jobs=-1)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4572000" y="749808"/>
            <a:ext cx="441655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749808"/>
            <a:ext cx="4416552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81728" y="841248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Özellik Önemleri — 3 Yöntem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0" y="1133856"/>
            <a:ext cx="4416552" cy="877824"/>
          </a:xfrm>
          <a:prstGeom prst="rect">
            <a:avLst/>
          </a:prstGeom>
          <a:solidFill>
            <a:srgbClr val="EEF2FF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81728" y="1170432"/>
            <a:ext cx="4187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9A7"/>
                </a:solidFill>
              </a:rPr>
              <a:t>Gini / MSE Bazlı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681728" y="1408176"/>
            <a:ext cx="4187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Her bölmede sağlanan MSE azalmasının toplamı.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Hızlı, yerleşik. Yüksek kardinaliteli özellikler aşırı değerlenebilir.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4681728" y="1773936"/>
            <a:ext cx="4187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rf.feature_importances_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4572000" y="2084832"/>
            <a:ext cx="4416552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81728" y="2121408"/>
            <a:ext cx="4187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166"/>
                </a:solidFill>
              </a:rPr>
              <a:t>Permutation Importance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681728" y="2359152"/>
            <a:ext cx="4187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Özelliği karıştır → performans düşüşü. Daha güvenilir.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Test seti üzerinde hesaplanır.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681728" y="2724912"/>
            <a:ext cx="4187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permutation_importance(rf, X_te, y_te)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0" y="3035808"/>
            <a:ext cx="4416552" cy="877824"/>
          </a:xfrm>
          <a:prstGeom prst="rect">
            <a:avLst/>
          </a:prstGeom>
          <a:solidFill>
            <a:srgbClr val="EEF2FF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681728" y="3072384"/>
            <a:ext cx="4187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Partial Dependence Plot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681728" y="3310128"/>
            <a:ext cx="41879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Özelliğin değişirken diğerleri sabit → marginal etki. Doğrusallık/yön gösterir.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4681728" y="3675888"/>
            <a:ext cx="4187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partial_dependence(rf, X, [feat_idx])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681728" y="4023360"/>
            <a:ext cx="41879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SHAP (Bonus): Shapley değerleri → En güvenilir özellik katkısı. pip install shap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💡  Permutation importance her zaman Gini bazlıdan daha güvenilir. Test seti üzerinde hesapla, train seti üzerinde değil!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&amp; XGBoost Regressor — Early Stopping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4251960" cy="411480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425196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GradientBoostingRegressor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1133856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Her yeni ağaç önceki artık hataları öğrenir. Regresyonda kayıp fonksiyonu: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default: 'squared_error' (MSE). Alternatif: 'absolute_error' (aykırı değere dayanıklı), 'huber', 'quantile'.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1645920"/>
          <a:ext cx="4251960" cy="1426464"/>
        </p:xfrm>
        <a:graphic>
          <a:graphicData uri="http://schemas.openxmlformats.org/drawingml/2006/table">
            <a:tbl>
              <a:tblPr/>
              <a:tblGrid>
                <a:gridCol w="1554480"/>
                <a:gridCol w="822960"/>
                <a:gridCol w="187452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Açıklama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n_estimators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Ağaç sayısı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learning_rate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Küçük lr + early stopping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Sığ ağaç tercih edilir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subsample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Stochastic boosting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'squared_error'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 kayıp fonksiyonu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min_samples_leaf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Yaprak düzenleme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164592" y="3127248"/>
            <a:ext cx="4251960" cy="1664208"/>
          </a:xfrm>
          <a:prstGeom prst="rect">
            <a:avLst/>
          </a:prstGeom>
          <a:solidFill>
            <a:srgbClr val="070E1E"/>
          </a:solidFill>
          <a:ln w="10160">
            <a:solidFill>
              <a:srgbClr val="F973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6032" y="3163824"/>
            <a:ext cx="4114800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 = GradientBoostingRegressor(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n_estimators=300,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learning_rate=0.05,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max_depth=4,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subsample=0.8,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loss='squared_error',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random_state=42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gb.fit(X_train, y_train)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572000" y="749808"/>
            <a:ext cx="441655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0" y="749808"/>
            <a:ext cx="4416552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81728" y="841248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XGBoost &amp; LightGBM Regressor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681728" y="1133856"/>
            <a:ext cx="41879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XGBoost'un 2. dereceden Taylor açılımı ve regularization avantajları regresyonda da geçerli. Early stopping n_estimators'ı otomatik belirler.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572000" y="1572768"/>
            <a:ext cx="4416552" cy="2615184"/>
          </a:xfrm>
          <a:prstGeom prst="rect">
            <a:avLst/>
          </a:prstGeom>
          <a:solidFill>
            <a:srgbClr val="070E1E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663440" y="1609344"/>
            <a:ext cx="4251960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xgboost import XGBRegressor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lightgbm import LGBMRegressor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lightgbm as lgb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XGBoost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 = XGBRegressor(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n_estimators=1000,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learning_rate=0.05,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max_depth=5, subsample=0.8,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colsample_bytree=0.8,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random_state=42, verbosity=0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xgb.fit(X_tr, y_tr,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eval_set=[(X_te, y_te)],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early_stopping_rounds=50,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verbose=False)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print(xgb.best_iteration)  # Optimal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LightGBM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lgb.fit(X_tr, y_tr,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eval_set=[(X_te,y_te)],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callbacks=[lgb.early_stopping(50)])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572000" y="4242816"/>
            <a:ext cx="4416552" cy="548640"/>
          </a:xfrm>
          <a:prstGeom prst="rect">
            <a:avLst/>
          </a:prstGeom>
          <a:solidFill>
            <a:srgbClr val="EEF2FF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681728" y="4279392"/>
            <a:ext cx="41879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XGBoost vs LightGBM — Hız: LightGBM daha hızlı (histogram)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Kategorik: LightGBM dahili destek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Büyük veri (N&gt;100K): LightGBM tercih et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⭐  Strateji: n_estimators=1000 + early_stopping_rounds=50 + lr=0.05 → Otomatik optimal ağaç sayısı bulunur.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Özellik Önemleri &amp; Partial Dependence Plot (PDP)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4251960" cy="4114800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42519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Özellik Önemi Yöntemleri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1133856"/>
          <a:ext cx="4251960" cy="1115568"/>
        </p:xfrm>
        <a:graphic>
          <a:graphicData uri="http://schemas.openxmlformats.org/drawingml/2006/table">
            <a:tbl>
              <a:tblPr/>
              <a:tblGrid>
                <a:gridCol w="1371600"/>
                <a:gridCol w="1554480"/>
                <a:gridCol w="13258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Yöntem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Nasıl?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Güvenilirlik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9E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Gini/MSE Bazlı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Toplam impurity azalması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 — Yüksek kardinalite sapmalı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Permutation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Özelliği karıştır, RMSE artışı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Yüksek — Model agnostik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Drop-Column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Özelliği çıkar, modeli yeniden eğit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 Yüksek — Yavaş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A78B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Shapley değerleri (oyun teorisi)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Yüksek — pip install shap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274320" y="230428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Dikkat Edilmesi Gerekenler: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4320" y="2596896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20624" y="2542032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Yüksek kardinaliteli (çok kategorili) özellik → Gini sapmalı → Permutation tercih et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274320" y="2944368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20624" y="2889504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Korelasyonlu özellikler → Her iki yöntemde de düşük görünebilir (önemi paylaşırlar)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74320" y="3291840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0624" y="3236976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Permutation test seti üzerinde hesaplanmalı — train seti overfitting nedeniyle yanıltıcı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274320" y="3639312"/>
            <a:ext cx="91440" cy="914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0624" y="3584448"/>
            <a:ext cx="3858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</a:rPr>
              <a:t>SHAP: Hem global hem lokal yorumlama sağlar. Örnek bazında katkı görülür.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4572000" y="749808"/>
            <a:ext cx="4416552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572000" y="749808"/>
            <a:ext cx="4416552" cy="640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681728" y="841248"/>
            <a:ext cx="41879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Partial Dependence Plot (PDP)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681728" y="1133856"/>
            <a:ext cx="4187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PDP: Hedeflenen özellik farklı değerler alırken diğerleri sabit tutularak marginal etkisi izlenir.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572000" y="1499616"/>
            <a:ext cx="4416552" cy="457200"/>
          </a:xfrm>
          <a:prstGeom prst="rect">
            <a:avLst/>
          </a:prstGeom>
          <a:solidFill>
            <a:srgbClr val="EEF2FF"/>
          </a:solidFill>
          <a:ln w="3810">
            <a:solidFill>
              <a:srgbClr val="C7D2F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81728" y="151790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</a:rPr>
              <a:t>Kullanım Amacı: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998464" y="1517904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Tek özelliğin y üzerindeki marginal, ortalama etkisini görmek.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4572000" y="2011680"/>
            <a:ext cx="4416552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7D2F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681728" y="202996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</a:rPr>
              <a:t>Yorumlama: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5998464" y="2029968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Artış yönü → pozitif/negatif etki. Doğrusallık → lineer mi yoksa karmaşık bir ilişki mi?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572000" y="2523744"/>
            <a:ext cx="4416552" cy="457200"/>
          </a:xfrm>
          <a:prstGeom prst="rect">
            <a:avLst/>
          </a:prstGeom>
          <a:solidFill>
            <a:srgbClr val="EEF2FF"/>
          </a:solidFill>
          <a:ln w="3810">
            <a:solidFill>
              <a:srgbClr val="C7D2F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681728" y="25420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</a:rPr>
              <a:t>ICE Plot: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998464" y="2542032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Individual Conditional Expectation — Her örnek için ayrı eğri. Gruplar arası farklılık görülür.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572000" y="3035808"/>
            <a:ext cx="4416552" cy="457200"/>
          </a:xfrm>
          <a:prstGeom prst="rect">
            <a:avLst/>
          </a:prstGeom>
          <a:solidFill>
            <a:srgbClr val="FFFFFF"/>
          </a:solidFill>
          <a:ln w="3810">
            <a:solidFill>
              <a:srgbClr val="C7D2FE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681728" y="30540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</a:rPr>
              <a:t>2D PDP:</a:t>
            </a:r>
            <a:endParaRPr lang="en-US" sz="950" dirty="0"/>
          </a:p>
        </p:txBody>
      </p:sp>
      <p:sp>
        <p:nvSpPr>
          <p:cNvPr id="34" name="Text 31"/>
          <p:cNvSpPr/>
          <p:nvPr/>
        </p:nvSpPr>
        <p:spPr>
          <a:xfrm>
            <a:off x="5998464" y="3054096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İki özelliğin birleşik etkisi. Etkileşimler görselleştirilir.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572000" y="3547872"/>
            <a:ext cx="4416552" cy="457200"/>
          </a:xfrm>
          <a:prstGeom prst="rect">
            <a:avLst/>
          </a:prstGeom>
          <a:solidFill>
            <a:srgbClr val="EEF2FF"/>
          </a:solidFill>
          <a:ln w="3810">
            <a:solidFill>
              <a:srgbClr val="C7D2F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681728" y="356616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</a:rPr>
              <a:t>Sınırlılıklar:</a:t>
            </a:r>
            <a:endParaRPr lang="en-US" sz="950" dirty="0"/>
          </a:p>
        </p:txBody>
      </p:sp>
      <p:sp>
        <p:nvSpPr>
          <p:cNvPr id="37" name="Text 34"/>
          <p:cNvSpPr/>
          <p:nvPr/>
        </p:nvSpPr>
        <p:spPr>
          <a:xfrm>
            <a:off x="5998464" y="3566160"/>
            <a:ext cx="28712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</a:rPr>
              <a:t>Korelasyonlu özellikler varsa PDP yanıltıcı olabilir → SHAP değerlerine bak.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4572000" y="4059936"/>
            <a:ext cx="4416552" cy="731520"/>
          </a:xfrm>
          <a:prstGeom prst="rect">
            <a:avLst/>
          </a:prstGeom>
          <a:solidFill>
            <a:srgbClr val="EEF2FF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4681728" y="4096512"/>
            <a:ext cx="4187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sklearn kodu: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sklearn.inspection import partial_dependence, PartialDependenceDisplay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pd_result = partial_dependence(rf, X_train, features=[feat_idx])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veya: PartialDependenceDisplay.from_estimator(rf, X, [0,1,2,3])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💡  PDP ile bir özelliğin yönünü/önemini anlayın. SHAP ile örneklere özel açıklama üretin. İkisi birbirini tamamlar.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Regresyon Modelleri — California Housing Karşılaştırması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749808"/>
            <a:ext cx="8823960" cy="3401568"/>
          </a:xfrm>
          <a:prstGeom prst="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4592" y="749808"/>
            <a:ext cx="8823960" cy="64008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4124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4B"/>
                </a:solidFill>
              </a:rPr>
              <a:t>California Housing (20.640 Ev) — 5-Fold CV &amp; Test Metrikleri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1133856"/>
          <a:ext cx="8823960" cy="2414016"/>
        </p:xfrm>
        <a:graphic>
          <a:graphicData uri="http://schemas.openxmlformats.org/drawingml/2006/table">
            <a:tbl>
              <a:tblPr/>
              <a:tblGrid>
                <a:gridCol w="2057400"/>
                <a:gridCol w="1005840"/>
                <a:gridCol w="1005840"/>
                <a:gridCol w="914400"/>
                <a:gridCol w="914400"/>
                <a:gridCol w="10972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RMSE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RMSE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MAE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R²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Ölçek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(ES)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Hayır 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LightGBM (ES)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Hayır 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GS Best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~0.32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Hayır 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C9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200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~0.33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Hayır 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0A5F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Trees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~0.33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Hayır 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D1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~0.36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~0.76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Hayır 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B71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 (CV-best 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Hayır 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/ OLS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~0.60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Gerekli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164592" y="4224528"/>
            <a:ext cx="8823960" cy="603504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64592" y="4224528"/>
            <a:ext cx="8823960" cy="64008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74320" y="4315968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Temel Bulgular: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645920" y="431596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Ağaç ensembleleri (XGBoost/LightGBM/RF) doğrusal modellere (~R²=0.60) karşı büyük avantaj sağlar (R²=0.80+). California Housing'de doğrusal olmayan ilişkiler güçlü. Tek Karar Ağacı (~R²=0.63) ensemble yöntemlerine kıyasla belirgin şekilde zayıf.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64592" y="4887468"/>
            <a:ext cx="8823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⭐  Tablo verisi regresyonu için XGBoost/LightGBM standart tercih. Yorumlanabilirlik lazımsa RF + permutation_importance.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28600" y="164592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Kod Özeti — Ağaç Tabanlı Regresyon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64592" y="749808"/>
            <a:ext cx="8823960" cy="256032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6032" y="74980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1. Decision Tree + Random Forest Regressor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4592" y="1005840"/>
            <a:ext cx="8823960" cy="1115568"/>
          </a:xfrm>
          <a:prstGeom prst="rect">
            <a:avLst/>
          </a:prstGeom>
          <a:solidFill>
            <a:srgbClr val="070E1E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56032" y="1042416"/>
            <a:ext cx="85953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sklearn.tree import DecisionTreeRegressor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sklearn.ensemble import RandomForestRegressor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DT: max_depth kritik!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 = DecisionTreeRegressor(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max_depth=5,           # CV ile belirle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min_samples_leaf=10,   # Aykırı değer direnci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criterion='squared_error'  # veya 'absolute_error'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RF: oob_score ücretsiz validation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rf = RandomForestRegressor(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n_estimators=200, max_features='sqrt',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min_samples_leaf=5, oob_score=True, n_jobs=-1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print(rf.oob_score_)  # R² — ücretsiz!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64592" y="2194560"/>
            <a:ext cx="8823960" cy="256032"/>
          </a:xfrm>
          <a:prstGeom prst="rect">
            <a:avLst/>
          </a:prstGeom>
          <a:solidFill>
            <a:srgbClr val="FFD166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" y="219456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2. Özellik Önemi: Permutation + PDP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64592" y="2450592"/>
            <a:ext cx="8823960" cy="1115568"/>
          </a:xfrm>
          <a:prstGeom prst="rect">
            <a:avLst/>
          </a:prstGeom>
          <a:solidFill>
            <a:srgbClr val="070E1E"/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2487168"/>
            <a:ext cx="85953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sklearn.inspection import permutation_importance, partial_dependence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Permutation Importance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perm = permutation_importance(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rf, X_test, y_test,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n_repeats=10, random_state=42, n_jobs=-1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perm.importances_mean, perm.importances_std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Partial Dependence Plot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pd_res = partial_dependence(rf, X_train, features=[0, 2])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pd_res['average'][0] — özellik 0'ın marginal etkisi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pd_res['grid_values'][0] — özellik değerleri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4592" y="3639312"/>
            <a:ext cx="8823960" cy="256032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363931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4B"/>
                </a:solidFill>
              </a:rPr>
              <a:t>3. GridSearchCV + Tahmin Kalitesi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4592" y="3895344"/>
            <a:ext cx="8823960" cy="1115568"/>
          </a:xfrm>
          <a:prstGeom prst="rect">
            <a:avLst/>
          </a:prstGeom>
          <a:solidFill>
            <a:srgbClr val="070E1E"/>
          </a:solidFill>
          <a:ln w="10160">
            <a:solidFill>
              <a:srgbClr val="00C9A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" y="3931920"/>
            <a:ext cx="85953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sklearn.model_selection import GridSearchCV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sklearn.metrics import mean_squared_error, r2_score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param_grid =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'n_estimators'    : [100, 200],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'max_features'    : ['sqrt', 0.5],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'min_samples_leaf': [1, 5, 10],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'max_depth'       : [None, 10, 20]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 = GridSearchCV(rf, param_grid, cv=5,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scoring='neg_root_mean_squared_error', n_jobs=-1)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gs.fit(X_train, y_train)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 = gs.predict(X_test)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C9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print(f'RMSE={np.sqrt(mean_squared_error(y_test,y_pred)):.4f}  R²={r2_score(y_test,y_pred):.4f}')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4592" y="5065776"/>
            <a:ext cx="8823960" cy="182880"/>
          </a:xfrm>
          <a:prstGeom prst="rect">
            <a:avLst/>
          </a:prstGeom>
          <a:solidFill>
            <a:srgbClr val="FFD166">
              <a:alpha val="3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" y="5065776"/>
            <a:ext cx="8595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⚠️  Ağaç modelleri ölçeklendirme gerektirmez  |  oob_score ayrı validation seti yerine geçer  |  Permutation test seti üzerinde çalıştır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4B"/>
          </a:solidFill>
          <a:ln w="12700">
            <a:solidFill>
              <a:srgbClr val="0D1B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73152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Özeti — Ağaç Tabanlı Regresyon Hızlı Referans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253C8C"/>
          </a:solidFill>
          <a:ln w="12700">
            <a:solidFill>
              <a:srgbClr val="253C8C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64592" y="749808"/>
          <a:ext cx="8823960" cy="4078224"/>
        </p:xfrm>
        <a:graphic>
          <a:graphicData uri="http://schemas.openxmlformats.org/drawingml/2006/table">
            <a:tbl>
              <a:tblPr/>
              <a:tblGrid>
                <a:gridCol w="1737360"/>
                <a:gridCol w="2606040"/>
                <a:gridCol w="4480560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Anahtar Nokta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4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DT Regressor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Bölge ortalamalarını tahmin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Adım fonksiyonu — max_depth kritik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Bölme Kriteri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 / MAE azalması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'squared_error' (MSE) default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Yaprak Tahmini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ŷ = mean(y) bölgede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yaprak sabit bir değer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max_depth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Overfitting kontrolü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ile optimal değer bul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min_samples_leaf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Yaprak boyutu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Aykırı değere karşı direnç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 Regressor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Bagging + max_features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Variance azalır, bias sabit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OOB Skoru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~%37 bootstrap dışı veri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Ücretsiz validation — oob_score=True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max_features (Reg.)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'sqrt' veya 0.5 dene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Regresyonda 1.0 da kullanılabilir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GB/XGBoost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Artık hata → bias azalır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lr=0.05 + early_stopping=50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 Önemi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 ≈ hızlı, Perm. ≈ güvenilir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seti üzerinde permutation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Marginal özellik etkisi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Tek özellik yön/büyüklük analizi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Ölçeklendirme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Gerekmez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Ağaç sıralama tabanlı çalışır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7D2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164592" y="4873752"/>
            <a:ext cx="8823960" cy="228600"/>
          </a:xfrm>
          <a:prstGeom prst="rect">
            <a:avLst/>
          </a:prstGeom>
          <a:solidFill>
            <a:srgbClr val="253C8C">
              <a:alpha val="80000"/>
            </a:srgbClr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6032" y="487375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D166"/>
                </a:solidFill>
              </a:rPr>
              <a:t>🚀  Sonraki Hafta: K-Means + Hiyerarşik Kümeleme — Denetimsiz Öğrenme, Elbow Method, Dendrogram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253C8C">
              <a:alpha val="30000"/>
            </a:srgbClr>
          </a:solidFill>
          <a:ln w="12700">
            <a:solidFill>
              <a:srgbClr val="253C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28600"/>
            <a:ext cx="6400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Kaynaklar &amp; Ödev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713232"/>
            <a:ext cx="3657600" cy="36576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868680"/>
            <a:ext cx="54864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8696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📘 Kitap: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481328" y="88696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Géron — Hands-On ML (3rd ed.), Bölüm 6-7: Karar Ağaçları &amp; Ensemble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1289304"/>
            <a:ext cx="54864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" y="130759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📘 Kitap: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81328" y="130759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Hastie et al. — ESL, Bölüm 9: Additive Models, Trees, and Related Methods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709928"/>
            <a:ext cx="54864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172821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📄 Makale: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81328" y="172821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Breiman (2001) — Random Forests (Machine Learning Journal)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130552"/>
            <a:ext cx="54864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02336" y="2148840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📄 Makale: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81328" y="214884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Friedman (2001) — Greedy Function Approximation: A Gradient Boosting Machine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551176"/>
            <a:ext cx="54864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2336" y="2569464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📄 Makale: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481328" y="2569464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Molnar (2022) — Interpretable Machine Learning (online kitap, ücretsiz)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971800"/>
            <a:ext cx="54864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2336" y="2990088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🌐 Sklearn DT: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81328" y="299008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scikit-learn.org/stable/modules/tree.html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392424"/>
            <a:ext cx="54864" cy="34747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2336" y="3410712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🌐 PDP: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481328" y="3410712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scikit-learn.org/stable/modules/partial_dependence.html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4320" y="3813048"/>
            <a:ext cx="54864" cy="34747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" y="3831336"/>
            <a:ext cx="1051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</a:rPr>
              <a:t>🗃️ California: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481328" y="3831336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F4FF"/>
                </a:solidFill>
              </a:rPr>
              <a:t>Kelley Pace &amp; Barry (1997) — fetch_california_housing()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0" y="749808"/>
            <a:ext cx="2103120" cy="4206240"/>
          </a:xfrm>
          <a:prstGeom prst="rect">
            <a:avLst/>
          </a:prstGeom>
          <a:solidFill>
            <a:srgbClr val="1A2F6B">
              <a:alpha val="70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67728" y="841248"/>
            <a:ext cx="1883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166"/>
                </a:solidFill>
              </a:rPr>
              <a:t>📝 Ödev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967728" y="1261872"/>
            <a:ext cx="164592" cy="164592"/>
          </a:xfrm>
          <a:prstGeom prst="ellipse">
            <a:avLst/>
          </a:prstGeom>
          <a:solidFill>
            <a:srgbClr val="FFD166">
              <a:alpha val="70000"/>
            </a:srgbClr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67728" y="12618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</a:rPr>
              <a:t>1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178040" y="121615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max_depth=1'den 20'ye kadar DT Regressor için Train/Test/CV RMSE grafiği çiz. Optimal noktayı belirle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967728" y="1828800"/>
            <a:ext cx="164592" cy="164592"/>
          </a:xfrm>
          <a:prstGeom prst="ellipse">
            <a:avLst/>
          </a:prstGeom>
          <a:solidFill>
            <a:srgbClr val="FFD166">
              <a:alpha val="70000"/>
            </a:srgbClr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67728" y="182880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</a:rPr>
              <a:t>2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178040" y="178308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RF'de min_samples_leaf=[1,5,10,20,50] analizi yap. Değer arttıkça RMSE ve R² nasıl değişiyor?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967728" y="2395728"/>
            <a:ext cx="164592" cy="164592"/>
          </a:xfrm>
          <a:prstGeom prst="ellipse">
            <a:avLst/>
          </a:prstGeom>
          <a:solidFill>
            <a:srgbClr val="FFD166">
              <a:alpha val="70000"/>
            </a:srgbClr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67728" y="239572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</a:rPr>
              <a:t>3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178040" y="235000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Gini bazlı vs Permutation özellik önemi karşılaştırması — California Housing'de farklı sıralanan özellik var mı?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967728" y="2962656"/>
            <a:ext cx="164592" cy="164592"/>
          </a:xfrm>
          <a:prstGeom prst="ellipse">
            <a:avLst/>
          </a:prstGeom>
          <a:solidFill>
            <a:srgbClr val="FFD166">
              <a:alpha val="70000"/>
            </a:srgbClr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67728" y="296265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</a:rPr>
              <a:t>4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178040" y="291693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Top 3 özellik için PDP çiz. MedInc ile MedHouseVal ilişkisi doğrusal mı, parabolik mi?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967728" y="3529584"/>
            <a:ext cx="164592" cy="164592"/>
          </a:xfrm>
          <a:prstGeom prst="ellipse">
            <a:avLst/>
          </a:prstGeom>
          <a:solidFill>
            <a:srgbClr val="FFD166">
              <a:alpha val="70000"/>
            </a:srgbClr>
          </a:solidFill>
          <a:ln w="10160">
            <a:solidFill>
              <a:srgbClr val="FFD16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67728" y="352958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166"/>
                </a:solidFill>
              </a:rPr>
              <a:t>5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7178040" y="3483864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Bonus: SHAP kütüphanesini kur, RF için summary_plot ve waterfall_plot üret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4663440"/>
            <a:ext cx="6309360" cy="411480"/>
          </a:xfrm>
          <a:prstGeom prst="rect">
            <a:avLst/>
          </a:prstGeom>
          <a:solidFill>
            <a:srgbClr val="00C9A7">
              <a:alpha val="80000"/>
            </a:srgbClr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84048" y="4681728"/>
            <a:ext cx="6089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Sorularınız için ders saatleri veya e-posta yoluyla ulaşabilirsiniz.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Ağaç Tabanlı Regresyon</dc:title>
  <dc:subject>PptxGenJS Presentation</dc:subject>
  <dc:creator>Uygulamalı Makine Öğrenmesi</dc:creator>
  <cp:lastModifiedBy>Uygulamalı Makine Öğrenmesi</cp:lastModifiedBy>
  <cp:revision>1</cp:revision>
  <dcterms:created xsi:type="dcterms:W3CDTF">2026-03-16T22:25:29Z</dcterms:created>
  <dcterms:modified xsi:type="dcterms:W3CDTF">2026-03-16T22:25:29Z</dcterms:modified>
</cp:coreProperties>
</file>