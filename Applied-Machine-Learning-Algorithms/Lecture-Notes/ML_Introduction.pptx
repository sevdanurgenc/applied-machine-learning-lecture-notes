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5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41148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4B"/>
                </a:solidFill>
              </a:rPr>
              <a:t>UYGULAMALI MAKİNE ÖĞRENMESİ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&amp;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28600" y="1600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Temelleri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2304288"/>
            <a:ext cx="4572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487168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231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Yapay Zeka Hiyerarşisi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889504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8254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Denetimli / Denetimsiz / Pekiştirmeli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278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Sınıflandırma · Regresyon · Kümeleme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694176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6301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Topluluk (Ensemble) Yöntemleri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096512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0325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Temel Terimler &amp; Algoritma Kataloğu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657600"/>
            <a:ext cx="2651760" cy="1234440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749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📅 Giriş Dersi — Bölüm 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0965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🎓 Lisans 3-4 / Yüksek Lisans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44439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📄 28 Slayt · ~90 dk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32688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9326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Yapay Zeka Nedir? Tarihsel Perspektif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700784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00784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00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" y="1700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AI → ML → DL Hiyerarşisi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468880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468880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6888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24688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Makine Öğrenmesi Kategorileri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236976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236976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23697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32369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Temel ML Kavramları &amp; Terimler Sözlüğü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005072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005072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00507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" y="400507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ML Süreci: Veri'den Modele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32688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3268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9326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DENETİMLİ ÖĞRENME: Sınıflandırma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700784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00784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00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5504" y="1700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Sınıflandırma Algoritmaları Hiyerarşisi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468880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468880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6888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75504" y="24688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Sınıflandırma Algoritmaları Karşılaştırma Tablosu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236976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36976"/>
            <a:ext cx="43891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23697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32369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DENETİMLİ ÖĞRENME: Regresyon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005072"/>
            <a:ext cx="4206240" cy="658368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005072"/>
            <a:ext cx="43891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0507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75504" y="400507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Regresyon Algoritmaları Hiyerarşisi &amp; Tablosu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553712"/>
            <a:ext cx="2148840" cy="475488"/>
          </a:xfrm>
          <a:prstGeom prst="rect">
            <a:avLst/>
          </a:prstGeom>
          <a:solidFill>
            <a:srgbClr val="1A2F6B">
              <a:alpha val="7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4553712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" y="45537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DENETİMSİZ ÖĞRENME: Kümeleme &amp; Hiyerarşi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441448" y="4553712"/>
            <a:ext cx="2148840" cy="475488"/>
          </a:xfrm>
          <a:prstGeom prst="rect">
            <a:avLst/>
          </a:prstGeom>
          <a:solidFill>
            <a:srgbClr val="1A2F6B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4553712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843784" y="45537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TOPLULUK YÖNTEMLERİ: Bagging · Boosting · Stacking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54296" y="4553712"/>
            <a:ext cx="2148840" cy="475488"/>
          </a:xfrm>
          <a:prstGeom prst="rect">
            <a:avLst/>
          </a:prstGeom>
          <a:solidFill>
            <a:srgbClr val="1A2F6B">
              <a:alpha val="7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553712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13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56632" y="45537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Overfitting · Underfitting · Bias-Variance · CV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67144" y="4553712"/>
            <a:ext cx="2148840" cy="475488"/>
          </a:xfrm>
          <a:prstGeom prst="rect">
            <a:avLst/>
          </a:prstGeom>
          <a:solidFill>
            <a:srgbClr val="1A2F6B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22008" y="4553712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14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269480" y="45537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Algoritma Seçim Rehberi &amp; Büyük Resim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Nedir? — Tanım &amp; Tarihsel Perspektif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Yapay Zeka (Artificial Intelligence):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İnsan zekasına özgü işlevleri (öğrenme, akıl yürütme, problem çözme, dil anlama, algı) gerçekleştirmeye çalışan bilgisayar sistemleri ve bilim dalıdır.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828800"/>
            <a:ext cx="882396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755648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1481328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261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1950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146304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Turing Testi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(Alan Turing)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55648" y="1755648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37944" y="1956816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1956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243230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'AI' terimi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(J.McCarthy, Dartmouth)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71216" y="1755648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53512" y="1481328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1261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1970s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146304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1. Kış Dönemi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(Fon kesintileri)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986784" y="1755648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1956816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1986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75888" y="243230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Backprop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(Rumelhart)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02352" y="1755648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84648" y="1481328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261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1997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146304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Deep Blue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(IBM, Satranç)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17920" y="1755648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1956816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2012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07024" y="243230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AlexNet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(Derin Öğrenme)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33488" y="1755648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15784" y="1481328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1261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2017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22592" y="146304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Transformer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(Attention is All)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449056" y="1755648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31352" y="1956816"/>
            <a:ext cx="0" cy="27432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7888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2022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38160" y="243230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ChatGPT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(OpenAI/GPT-4)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64592" y="3182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64592" y="3182112"/>
            <a:ext cx="28346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273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Dar YZ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35844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Tek bir görevi çözer.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Örn: Yüz tanıma, spam filtresi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36392" y="3182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36392" y="3182112"/>
            <a:ext cx="28346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3273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6B"/>
                </a:solidFill>
              </a:rPr>
              <a:t>Genel YZ (AGI)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246120" y="35844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İnsan benzeri genel akıl yürütme.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Henüz mevcut değil.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08192" y="3182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08192" y="3182112"/>
            <a:ext cx="28346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3273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Süper YZ (ASI)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217920" y="358444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Her alanda insanı aşan zeka.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Teorik kavram.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Günümüzdeki tüm AI uygulamaları 'Dar YZ' kategorisindedir. AGI henüz gerçekleşmemiş bir hedeftir.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ML → DL → Generative AI: İç İçe Hiyerarşi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4937760" cy="4160520"/>
          </a:xfrm>
          <a:prstGeom prst="ellipse">
            <a:avLst/>
          </a:prstGeom>
          <a:solidFill>
            <a:srgbClr val="A78BFA">
              <a:alpha val="2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229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Yapay Zeka (AI)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1950'ler~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078992"/>
            <a:ext cx="3931920" cy="3493008"/>
          </a:xfrm>
          <a:prstGeom prst="ellipse">
            <a:avLst/>
          </a:prstGeom>
          <a:solidFill>
            <a:srgbClr val="00C9A7">
              <a:alpha val="25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152144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Makine Öğrenmesi (ML)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" y="1408176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1980'ler~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17320" y="1417320"/>
            <a:ext cx="2834640" cy="2816352"/>
          </a:xfrm>
          <a:prstGeom prst="ellipse">
            <a:avLst/>
          </a:prstGeom>
          <a:solidFill>
            <a:srgbClr val="FFD166">
              <a:alpha val="30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14904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F6B"/>
                </a:solidFill>
              </a:rPr>
              <a:t>Derin Öğrenme (DL)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90472" y="174650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2010'lar~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1783080"/>
            <a:ext cx="2011680" cy="2084832"/>
          </a:xfrm>
          <a:prstGeom prst="ellipse">
            <a:avLst/>
          </a:prstGeom>
          <a:solidFill>
            <a:srgbClr val="FB7185">
              <a:alpha val="40000"/>
            </a:srgbClr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18562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7185"/>
                </a:solidFill>
              </a:rPr>
              <a:t>Generative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01952" y="211226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2020'ler~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0" y="749808"/>
            <a:ext cx="35204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749808"/>
            <a:ext cx="35204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841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🧠 Yapay Zeka (AI)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96128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İnsan zekasını taklit eden her türlü sistem. En geniş kapsam.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Kural tabanlı sistemler de AI sayılır.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828800"/>
            <a:ext cx="35204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828800"/>
            <a:ext cx="35204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📊 Makine Öğrenmesi (ML)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2128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AI'nin alt dalı. Veriden istatistiksel örüntü öğrenerek tahmin yapar. Açık programlama gerekmez.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2907792"/>
            <a:ext cx="35204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2907792"/>
            <a:ext cx="35204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🔗 Derin Öğrenme (DL)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32918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ML'nin alt dalı. Çok katmanlı sinir ağları kullanır. Görüntü, ses, metin için güçlüdür.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3986784"/>
            <a:ext cx="35204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3986784"/>
            <a:ext cx="352044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✨ Generative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96128" y="43708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DL'nin alt dalı. Yeni içerik üretir: metin (GPT), görsel (DALL-E), kod, müzik.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Her iç halka bir öncekinin özelleşmiş halidir. Tüm Derin Öğrenme ML'dir, ama her ML Derin Öğrenme değildir.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Kategorileri — Genel Hiyerarşi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49808"/>
            <a:ext cx="8823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MAKİNE ÖĞRENMESİ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" y="1170432"/>
            <a:ext cx="283464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170432"/>
            <a:ext cx="28346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61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🏷️ Denetimli Öğrenme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1563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Supervised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2487168" cy="329184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647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Etiketli veri ile öğrenir.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Girdi-çıktı çifti verilir.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1305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Başlıca Algoritmalar: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31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Lineer/Lojistik Regresyon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06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KNN, SVM, Naive Bayes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80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Karar Ağaçları, Random Forest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XGBoost, LightGBM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29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YSA, CNN, RNN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767328"/>
            <a:ext cx="2487168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673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4B"/>
                </a:solidFill>
              </a:rPr>
              <a:t>📌 Spam tespiti, hastalık tanısı,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4B"/>
                </a:solidFill>
              </a:rPr>
              <a:t>fiyat tahmini, görüntü sınıflandırma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36392" y="1170432"/>
            <a:ext cx="283464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36392" y="1170432"/>
            <a:ext cx="28346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1261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F6B"/>
                </a:solidFill>
              </a:rPr>
              <a:t>🔍 Denetimsiz Öğrenme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46120" y="1563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Unsupervised Learning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1764792"/>
            <a:ext cx="2487168" cy="329184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17647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Etiketsiz veri ile öğrenir.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Gizli yapı/örüntü arar.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46120" y="21305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Başlıca Algoritmalar: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237744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331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K-Means, DBSCAN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265176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606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Hiyerarşik Kümeleme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46120" y="292608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880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PCA, t-SNE, UMAP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46120" y="320040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154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Otokodlayıcı (Autoencoder)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46120" y="347472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429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GANs, VAE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46120" y="3767328"/>
            <a:ext cx="2487168" cy="201168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37673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4B"/>
                </a:solidFill>
              </a:rPr>
              <a:t>📌 Müşteri segmentasyonu,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4B"/>
                </a:solidFill>
              </a:rPr>
              <a:t>anomali tespiti, boyut indirgeme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1170432"/>
            <a:ext cx="283464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1170432"/>
            <a:ext cx="28346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1261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</a:rPr>
              <a:t>🎮 Pekiştirmeli Öğrenme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17920" y="1563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Reinforcement Learning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1764792"/>
            <a:ext cx="2487168" cy="32918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17647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Ajan ödül/ceza ile öğrenir.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Deneme-yanılma yöntemi.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17920" y="21305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Başlıca Algoritmalar: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237744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23317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Q-Learning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17920" y="26517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606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Deep Q-Network (DQN)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292608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880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Policy Gradient (PPO)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320040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154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Actor-Critic (A3C)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17920" y="347472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3429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AlphaGo, AlphaZero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3767328"/>
            <a:ext cx="2487168" cy="201168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76732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4B"/>
                </a:solidFill>
              </a:rPr>
              <a:t>📌 Oyun yapay zekası,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4B"/>
                </a:solidFill>
              </a:rPr>
              <a:t>robotik, otonom araçlar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 4. Kategori: Yarı-Denetimli Öğrenme (az etiketli veri + çok etiketsiz veri). 5. Kategori: Öz-Denetimli (SSL) — BERT, GPT pre-training.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ML Kavramları &amp; Terimler Sözlüğü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0"/>
            <a:ext cx="64008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Özellik (Feature / X)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1155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Modelin girdi olarak kullandığı bağımsız değişkenler. Örn: yaş, boyut, renk.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45152" y="82296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6B"/>
                </a:solidFill>
              </a:rPr>
              <a:t>Hedef (Target / 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28032" y="11155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Tahmin etmeye çalıştığımız çıktı değişkeni. Sürekli → regresyon, kategorik → sınıflandırma.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682496"/>
            <a:ext cx="64008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682496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1728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1975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Eğitim verisi üzerinde öğrenilen matematiksel fonksiyon: ŷ = f(X; θ).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5152" y="1682496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82496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1728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6B"/>
                </a:solidFill>
              </a:rPr>
              <a:t>Parametre (θ)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1975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eğitim sırasında veri'den öğrenir. Örn: regresyon katsayıları, ağırlıklar.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4592" y="2542032"/>
            <a:ext cx="64008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542032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" y="25877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Hiperparametre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28346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Eğitim öncesi insan tarafından belirlenir. Örn: K (KNN), learning rate, derinlik.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45152" y="2542032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542032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28032" y="25877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6B"/>
                </a:solidFill>
              </a:rPr>
              <a:t>Eğitim Seti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8346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Modelin öğrenmek için kullandığı veri. Toplam verinin %60-80'i.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4592" y="3401568"/>
            <a:ext cx="64008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401568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3447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Doğrulama Seti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36941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Hiperparametre ayarı ve erken durdurma için. Toplam verinin %10-20'si.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45152" y="3401568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401568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28032" y="3447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6B"/>
                </a:solidFill>
              </a:rPr>
              <a:t>Test Seti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36941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Nihai model performansı için. Sadece bir kez kullanılır. Asla eğitimde görmez!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" y="4261104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4261104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" y="4306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Overfitting (Aşırı Öğrenme)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" y="455371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eğitim verisini ezberler, yeni veriye genelleşemez. Yüksek variance.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45152" y="4261104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4261104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28032" y="4306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Underfitting (Eksik Öğrenme)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8032" y="455371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veriyi yeterince öğrenemez. Yüksek bias. Hem eğitim hem test hatası yüksek.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4592" y="5120640"/>
            <a:ext cx="64008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51206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47472" y="5166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Cross-Validation (CV)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7472" y="54132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k-katlı çapraz doğrulama. Veriyi k parçaya böl, sırayla test et. Güvenilir performans ölçümü.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45152" y="512064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51206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28032" y="5166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6B"/>
                </a:solidFill>
              </a:rPr>
              <a:t>Kayıp Fonksiyonu (Loss)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28032" y="54132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 tahmininin gerçekten ne kadar saptığını ölçer. MSE, Cross-Entropy vb.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Bu terimler tüm ML algoritmalarında ortaktır. Dersin ilerleyen bölümlerinde bu kavramlara sürekli dönülecektir.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Süreci — Veri'den Üretime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Bir ML projesinin standart yaşam döngüsü 8 aşamadan oluşur: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24128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097280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097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7373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Tanımı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" y="2157984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Hedef nedir? Sınıflandırma mı, regresyon mu? Başarı metriği ne olmalı?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1938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1" name="Shape 9"/>
          <p:cNvSpPr/>
          <p:nvPr/>
        </p:nvSpPr>
        <p:spPr>
          <a:xfrm>
            <a:off x="2377440" y="1024128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97280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97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50592" y="17373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Toplama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50592" y="2157984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Ham veri kaynakları: veritabanı, API, web scraping, sensörler, açık veri setleri.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98848" y="1938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4590288" y="1024128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67528" y="1097280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1097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 Anlama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157984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İstatistikler, görselleştirme, eksik değer analizi, dağılım, korelasyon.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11696" y="1938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6803136" y="1024128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0376" y="1097280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0376" y="1097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17373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Ön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İşleme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2157984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Eksik değer doldurma, aykırı değer, ölçeklendirme, kodlama, bölme.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4592" y="3017520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090672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37744" y="373075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" y="415137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Yeni özellik türetme, özellik seçimi, boyut indirgeme (PCA).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0" y="393192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34" name="Shape 32"/>
          <p:cNvSpPr/>
          <p:nvPr/>
        </p:nvSpPr>
        <p:spPr>
          <a:xfrm>
            <a:off x="2377440" y="3017520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3090672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50592" y="373075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Seçimi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50592" y="415137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Baseline'dan başla. Birden fazla algoritma dene. CV ile karşılaştır.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98848" y="393192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40" name="Shape 38"/>
          <p:cNvSpPr/>
          <p:nvPr/>
        </p:nvSpPr>
        <p:spPr>
          <a:xfrm>
            <a:off x="4590288" y="3017520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67528" y="3090672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67528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663440" y="373075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Değerlendirme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Tuning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415137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Confusion matrix, F1, RMSE, AUC. GridSearchCV ile hiperparametre optimizasyonu.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11696" y="3931920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46" name="Shape 44"/>
          <p:cNvSpPr/>
          <p:nvPr/>
        </p:nvSpPr>
        <p:spPr>
          <a:xfrm>
            <a:off x="6803136" y="3017520"/>
            <a:ext cx="2121408" cy="182880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3090672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0376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8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76288" y="3730752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Üretim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İzleme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76288" y="415137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Pipeline, API, Docker. Model drift izleme, yeniden eğitim stratejisi.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4592" y="4892040"/>
            <a:ext cx="8823960" cy="22860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🔄  ML, doğrusal değil döngüsel bir süreçtir. EDA veya değerlendirme aşamasından geri dönmek son derece normaldir.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 Öğrenme: Sınıflandırma (Classification)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Sınıflandırma: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Bir gözlemi önceden tanımlı, sonlu sayıda kategorilerden birine atayan denetimli öğrenme görevidir. Çıktı süreksiz (kategorik/etiket) bir değerdir.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609344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609344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007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E82"/>
                </a:solidFill>
              </a:rPr>
              <a:t>İkili Sınıflandırma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9751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∈ {0, 1}  →  2 sınıf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Spam/Değil, Hasta/Sağlıklı,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Dolandırıcılık/Normal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35808" y="1609344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35808" y="1609344"/>
            <a:ext cx="27432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7007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Çok Sınıflı (Multiclass)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45536" y="19751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∈ {0,1,2,...,K}  →  K sınıf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45536" y="21945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El yazısı tanıma (0-9),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çiçek türü (Iris), dil tanıma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07024" y="1609344"/>
            <a:ext cx="30815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07024" y="1609344"/>
            <a:ext cx="308152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170078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Çok Etiketli (Multi-label)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16752" y="197510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∈ {0,1}ᴷ  →  Birden fazla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752" y="219456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Fotoğraftaki nesneler,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bir filmin türleri (aksiyon+komedi)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" y="3172968"/>
            <a:ext cx="8823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17296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644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Sınıflandırma Değerlendirme Metrikleri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547872"/>
          <a:ext cx="8823960" cy="1344168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560320"/>
                <a:gridCol w="29718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Ölçer?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(TP+TN)/(T+P+FP+FN)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doğruluk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Dengesiz veride yanıltıcı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Pozitif tahminde isabet oranı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filtresi, hukuk — FP maliyetli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pozitifleri yakalama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Hastalık tespiti — FN maliyetli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2·(P·R)/(P+R)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Precision-Recall harmonik ort.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 en güvenilir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Alan(FPR,TPR)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 bağımsız skor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Ranklama, ikili sınıflandırma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Gerçek projede: önce hangi hatanın maliyetli olduğunu belirle (FP mi? FN mi?), sonra metriği seç.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Algoritmaları — Tam Hiyerarşi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749808"/>
            <a:ext cx="256032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749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SINIFLANDIRMA ALGORİTMALARI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44752"/>
            <a:ext cx="80467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1444752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700784"/>
            <a:ext cx="2029968" cy="43891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700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Olasılıksal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İstatistiksel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70432" y="2139696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304288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23042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Naive Bayes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(Gaussian, Multinomial, Bernoulli)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70432" y="2798064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962656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29626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Lojistik Regresyon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(ikili, çok sınıflı)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170432" y="3456432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3621024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" y="36210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Lineer Diskriminant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Analizi (LDA)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1444752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1700784"/>
            <a:ext cx="2029968" cy="43891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1700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Geometrik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Uzaklık Tabanlı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139696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2304288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86584" y="23042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KNN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(K-En Yakın Komşu)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37560" y="2798064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2962656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86584" y="29626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SVM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(Destek Vektör Makineleri)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37560" y="3456432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3621024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86584" y="36210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Radius Neighbors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Classifier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04688" y="1444752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8848" y="1700784"/>
            <a:ext cx="2029968" cy="43891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1700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Ağaç Tabanlı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04688" y="2139696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8848" y="2304288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23042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Karar Ağacı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(CART, ID3, C4.5)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04688" y="2798064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98848" y="2962656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29626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Random Forest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(Bagging + Ağaç)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04688" y="3456432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98848" y="3621024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36210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Extra Trees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62672" y="1444752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56832" y="1700784"/>
            <a:ext cx="2029968" cy="438912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1700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Gradient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Boosting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662672" y="2139696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6832" y="2304288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11696" y="23042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XGBoost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662672" y="2798064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56832" y="2962656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11696" y="29626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LightGBM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62672" y="3456432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56832" y="3621024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11696" y="36210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CatBoost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662672" y="4114800"/>
            <a:ext cx="0" cy="16459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56832" y="4279392"/>
            <a:ext cx="20299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11696" y="42793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AdaBoost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64592" y="4617720"/>
            <a:ext cx="8823960" cy="347472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617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 Yapay Sinir Ağları (ANN/DL):  MLP  ·  CNN (görüntü)  ·  RNN/LSTM (dizi/metin)  ·  Transformer (NLP)  ·  GNN (graflar)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Algoritmaları — Karşılaştırma Tablosu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77240"/>
          <a:ext cx="8823960" cy="420624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822960"/>
                <a:gridCol w="822960"/>
                <a:gridCol w="100584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 Prensibi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Olduğu Alan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Regresyon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ile doğrusal sınır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 sınıflama, açıklanabilir sonuç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komşu oylaması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Düşük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veri, prototip,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 teoremi + bağımsızlık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✅/❌ Her iki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sınıflandırma, spam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Gini/Entropy ile dal ayırma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Çok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 tabanlı, yorumlanabilir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Maksimum marjin hiper düzlemi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✅/❌ Kernel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veri, yüksek boyut, ikili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+ çok karar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amaçlı, dengeli performans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boosting, artık hata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Tablo verisi yarışmalarında kral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Leaf-wise büyüme, hızlı 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veri, hız kritikse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Kural: Yorumlanabilirlik → Lojistik Reg. / Karar Ağacı  |  Performans → XGBoost / LightGBM  |  Hız → Naive Bayes / Lojistik Reg.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 Öğrenme: Regresyon (Regression)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Regresyon: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Bir veya birden fazla bağımsız değişken (X) ile sürekli bir sayısal çıktı (y) arasındaki ilişkiyi modelleyen denetimli öğrenme görevidir. Çıktı kesintisiz (continuous) bir değerdir.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618488"/>
            <a:ext cx="21214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618488"/>
            <a:ext cx="212140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099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Basit Lineer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190195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665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β₀ + β₁x₁ + 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4231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 bağımsız değişken, 1 hedef. Doğrusal ilişki.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1618488"/>
            <a:ext cx="21214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77440" y="1618488"/>
            <a:ext cx="212140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17099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Çok Değişkenli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Lineer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87168" y="2066544"/>
            <a:ext cx="190195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20665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β₀ + Σ βᵢxᵢ + 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87168" y="24231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Birden fazla özellik, lineer ilişki.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1618488"/>
            <a:ext cx="21214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618488"/>
            <a:ext cx="21214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7099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Polinom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Regresyon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2066544"/>
            <a:ext cx="190195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0665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Σ βᵢ xᵢⁿ + 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0016" y="24231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Doğrusal olmayan eğrisel ilişki. Derece ayarlanır.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03136" y="1618488"/>
            <a:ext cx="21214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618488"/>
            <a:ext cx="21214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17099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Düzenleştirilmiş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Regresyon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12864" y="2066544"/>
            <a:ext cx="190195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20665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(L2): + λΣβ²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(L1): + λΣ|β|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12864" y="242316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Overfitting'i önler. λ ceza parametresi.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4592" y="3538728"/>
            <a:ext cx="8823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64592" y="353872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630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Regresyon Değerlendirme Metrikleri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913632"/>
          <a:ext cx="8823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544068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(1/N)Σ|yᵢ−ŷᵢ|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mutlak hata. Yorumlanabilir, aykırılığa dayanıklı.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(1/N)Σ(yᵢ−ŷᵢ)²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kare hata. Büyük hataları daha çok cezalandırır.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√MSE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MSE'nin karekökü. Orijinal birimde yorumlanabilir.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Skoru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SS_res/SS_tot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Açıklanan varyans oranı. 1.0 = mükemmel, 0 = saçma model.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(1/N)Σ|yᵢ−ŷᵢ|/|yᵢ|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Yüzde hata. İş dünyasında anlaşılması kolay.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R² negatif olabilir! Model sabit ortalama tahmininden kötü çalışıyorsa bu durum oluşur. R² &lt; 0 → ciddi sorun.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Algoritmaları — Hiyerarşi &amp; Karşılaştırma Tablosu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749808"/>
            <a:ext cx="256032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749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REGRESYON ALGORİTMALARI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133856"/>
            <a:ext cx="0" cy="18288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16736"/>
            <a:ext cx="78638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517904"/>
            <a:ext cx="2029968" cy="38404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A7"/>
                </a:solidFill>
              </a:rPr>
              <a:t>Lineer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9A7"/>
                </a:solidFill>
              </a:rPr>
              <a:t>Yöntemler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70432" y="1901952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048256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2048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Lineer Regresyon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70432" y="2432304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578608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2578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Ridge (L2)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70432" y="2962656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3108960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Lasso (L1)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70432" y="3493008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639312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" y="36393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ElasticNet (L1+L2)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9152" y="1517904"/>
            <a:ext cx="2029968" cy="38404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Polinom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Kernel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64992" y="1901952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9152" y="2048256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2048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Polinom Regresyon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4992" y="2432304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9152" y="2578608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14016" y="2578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SVR (Kernel)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2962656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9152" y="3108960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Gaussian Process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5955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3712" y="1517904"/>
            <a:ext cx="2029968" cy="38404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F6B"/>
                </a:solidFill>
              </a:rPr>
              <a:t>Ağaç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F6B"/>
                </a:solidFill>
              </a:rPr>
              <a:t>Tabanlı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59552" y="1901952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3712" y="2048256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2048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Karar Ağacı Regresyon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59552" y="2432304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3712" y="2578608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08576" y="2578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Random Forest Reg.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59552" y="2962656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53712" y="3108960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Extra Trees Reg.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5411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48272" y="1517904"/>
            <a:ext cx="2029968" cy="38404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Gradient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Boosting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54112" y="1901952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48272" y="2048256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03136" y="2048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XGBoost Reg.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4112" y="2432304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48272" y="2578608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03136" y="2578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LightGBM Reg.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4112" y="2962656"/>
            <a:ext cx="0" cy="14630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48272" y="3108960"/>
            <a:ext cx="2029968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03136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CatBoost Reg.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133088"/>
          <a:ext cx="8823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1188720"/>
                <a:gridCol w="914400"/>
                <a:gridCol w="205740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 Kullan?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Düzenleme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Lineer Reg.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model, yorumlanabilirlik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Çok 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Lasso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Multicollinearity, özellik seçimi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/ L1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Polinom Reg.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Eğrisel ilişkiler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Reg.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amaçlı, güçlü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 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Reg.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yüksek performans, tablo verisi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L1+L2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 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Shape 5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Altın Kural: Önce basit Lineer Regresyon ile başla (baseline). Karmaşıklığı sadece gerektiğinde artır.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 Öğrenme: Kümeleme (Clustering)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Kümeleme: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Etiketsiz veriyi benzer özelliklere sahip gruplara (kümelere) ayıran denetimsiz öğrenme görevidir. Gruplar önceden bilinmez, algoritma kendi başına yapıyı keşfeder.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591056"/>
            <a:ext cx="212140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591056"/>
            <a:ext cx="212140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824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Bölümleme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947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Partitioning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14884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Veriyi K ayrık kümeye böler. K kullanıcı tarafından belirlenir.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1901952" cy="5029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5292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Örnek: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K-Means, K-Medoids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77440" y="1591056"/>
            <a:ext cx="212140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1591056"/>
            <a:ext cx="212140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16824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Hiyerarşik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87168" y="1947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Hierarchical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87168" y="214884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Ağaç yapısı (dendrogram) oluşturur. Aglomeratif (aşağıdan yukarı) veya bölücü.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852928"/>
            <a:ext cx="1901952" cy="502920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285292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F6B"/>
                </a:solidFill>
              </a:rPr>
              <a:t>Örnek: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F6B"/>
                </a:solidFill>
              </a:rPr>
              <a:t>Ward, Complete, Average Linkage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90288" y="1591056"/>
            <a:ext cx="212140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1591056"/>
            <a:ext cx="21214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6824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Yoğunluk Tabanlı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1947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Density-Based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00016" y="214884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Yoğun bölgeleri küme sayar. Rastgele şekilleri ve gürültüyü (outlier) tanır.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2852928"/>
            <a:ext cx="1901952" cy="50292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285292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Örnek: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DBSCAN, HDBSCAN, OPTICS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03136" y="1591056"/>
            <a:ext cx="212140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03136" y="1591056"/>
            <a:ext cx="21214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16824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Model Tabanlı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12864" y="1947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Model-Based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12864" y="214884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Her kümenin istatistiksel bir dağılımdan geldiğini varsayar. Yumuşak atama.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12864" y="2852928"/>
            <a:ext cx="1901952" cy="502920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285292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Örnek: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Gaussian Mixture Model (GMM)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" y="3447288"/>
            <a:ext cx="882396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4592" y="344728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538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Kümeleme Değerlendirme Metrikleri  (Etiket yokken nasıl değerlendiriliriz?)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822192"/>
          <a:ext cx="8823960" cy="100584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58064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Skoru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ile +1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küme içi uyum vs farklı kümeler arası ayrışma. +1 ideal.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= iyi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içi mesafe / kümeler arası mesafe. Düşük = kompakt &amp; ayrık kümeler.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= iyi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Between-cluster / within-cluster dispersiyon oranı. Yüksek = iyi.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 (WCSS)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= iyi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K-Means'e özgü. Nokta → küme merkezi kare mesafe toplamı. Elbow yöntemi.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 Index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etiket varsa kullanılır. Çift bazında doğruluk ölçümü.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 Kümelemede 'doğru cevap' yoktur. Birden fazla metrikle değerlendir + alan uzmanlığıyla yorumla.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Algoritmaları — Hiyerarşi &amp; Karşılaştırma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749808"/>
            <a:ext cx="237744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749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KÜMELEME ALGORİTMALARI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133856"/>
            <a:ext cx="0" cy="18288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16736"/>
            <a:ext cx="80467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517904"/>
            <a:ext cx="2029968" cy="38404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Bölümleme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70432" y="1901952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029968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2029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K-Means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70432" y="2395728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523744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25237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K-Medoids (PAM)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70432" y="2889504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3017520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" y="3017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Mini-Batch K-Means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9152" y="1517904"/>
            <a:ext cx="2029968" cy="38404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Hiyerarşik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1901952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9152" y="2029968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14016" y="2029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Aglomeratif (Ward)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2395728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9152" y="2523744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25237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BIRCH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4992" y="2889504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9152" y="3017520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14016" y="3017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Bölücü (Diana)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5955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3712" y="1517904"/>
            <a:ext cx="2029968" cy="38404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Yoğunluk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Tabanlı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59552" y="1901952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3712" y="2029968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2029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DBSCAN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59552" y="2395728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3712" y="2523744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25237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HDBSCAN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59552" y="2889504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3712" y="3017520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08576" y="3017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OPTICS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59552" y="3383280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53712" y="3511296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35112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Mean Shift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54112" y="1316736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48272" y="1517904"/>
            <a:ext cx="2029968" cy="38404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15179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Model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Diğer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54112" y="1901952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48272" y="2029968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03136" y="2029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GMM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4112" y="2395728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48272" y="2523744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03136" y="25237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Spectral Clustering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4112" y="2889504"/>
            <a:ext cx="0" cy="128016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48272" y="3017520"/>
            <a:ext cx="202996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03136" y="3017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Fuzzy C-Means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133088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005840"/>
                <a:gridCol w="1188720"/>
                <a:gridCol w="1280160"/>
                <a:gridCol w="32461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Gerekli?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Şekli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Gürültü/Aykırı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Ölçeklenebilirlik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Olduğu 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Küresel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Duyarlı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Yüksek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veri, küresel kümeler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şekil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Duyarlı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Düşük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Dendrogram görsel, küçük veri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Dayanıklı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Coğrafi veri, düzensiz kümeler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Eliptik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Yumuşak atama, istatistiksel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Shape 5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K-Means hızlıdır ama küresel kümeler varsayar. Karmaşık/düzensiz yapılar için DBSCAN veya Hiyerarşik Kümeleme tercih et.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(Ensemble) Yöntemleri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</a:rPr>
              <a:t>Birden fazla zayıf modeli birleştirerek güçlü bir model oluşturma stratejisi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60704"/>
            <a:ext cx="8686800" cy="68580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3385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 Temel Fikir:  'Bilge Kalabalık (Wisdom of Crowds)' — Çok sayıda bağımsız tahmincinin hatası birbirini dengeler.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1828800"/>
            <a:ext cx="2852928" cy="315468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9019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BAGGING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Bootstrap Aggregating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85292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Farklı örneklem (bootstrap) alt setlerinde aynı algoritmayı bağımsız olarak çalıştır, sonuçları ortala/oy ver.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785616"/>
            <a:ext cx="2633472" cy="201168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7856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Variance: ↓ Variance azalır   Bias: → Bias değişmez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400507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9A7"/>
                </a:solidFill>
              </a:rPr>
              <a:t>Random Forest, Extra Trees, Bagging Classifier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828800"/>
            <a:ext cx="2852928" cy="315468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9019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64408" y="22860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BOOSTING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4408" y="2606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Artımlı (Sequential) Öğrenme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285292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Modeller sırayla eğitilir. Her model, öncekinin hata yaptığı örneklere daha fazla odaklanır.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64408" y="3785616"/>
            <a:ext cx="2633472" cy="201168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37856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Variance: → Variance değişmez   Bias: ↓ Bias azalır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64408" y="400507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9A7"/>
                </a:solidFill>
              </a:rPr>
              <a:t>AdaBoost, Gradient Boosting, XGBoost, LightGBM, CatBoost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44768" y="1828800"/>
            <a:ext cx="2852928" cy="315468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90195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54496" y="22860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STACKING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54496" y="2606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Meta-öğrenme (Blending)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285292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Farklı algoritmalar (Level-0) tahmin üretir. Bir meta-model (Level-1) bu tahminleri girdi olarak alarak nihai tahmini üretir.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54496" y="3785616"/>
            <a:ext cx="2633472" cy="201168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7856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Variance: ↓↓ Her ikisi   Bias: ↓↓ Her ikisi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54496" y="400507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9A7"/>
                </a:solidFill>
              </a:rPr>
              <a:t>StackingClassifier/Regressor (sklearn)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Bootstrap Aggregating &amp; Random Forest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Bagging Mekanizması: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Eğitim setinden yerine koyarak (bootstrap) B adet alt örneklem çeker. Her alt örneklemde bağımsız bir model eğitir. Tahminleri oy (sınıflandırma) veya ortalama (regresyon) ile birleştirir.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554480"/>
            <a:ext cx="4160520" cy="3337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554480"/>
            <a:ext cx="4160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Bootstrap Sampling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" y="1975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Orijinal Veri: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" y="21762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 örnek, d özellik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Bootstrap Alt Setleri: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" y="29260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B adet, N boyutlu, yerine koyarak örnekle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" y="3474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Bağımsız Modeller: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36758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Her alt sette ayrı model eğit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224528"/>
            <a:ext cx="329184" cy="329184"/>
          </a:xfrm>
          <a:prstGeom prst="ellipse">
            <a:avLst/>
          </a:prstGeom>
          <a:solidFill>
            <a:srgbClr val="009E82"/>
          </a:solidFill>
          <a:ln w="12700">
            <a:solidFill>
              <a:srgbClr val="009E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Tahmin Birleştirme: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" y="44256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Sınıflama: çoğunluk oyu | Reg: ortalama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590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Formül: ŷ = mode{h₁(x), h₂(x), ..., hB(x)}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1554480"/>
            <a:ext cx="4572000" cy="3337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1554480"/>
            <a:ext cx="4572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16459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🌲  Random Forest — Bagging + Özellik Randomness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90288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Temel Model: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19933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Karar ağacı (CART)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90288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Bootstrap: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317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Her ağaç farklı alt örneklemde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90288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Özellik Seçimi: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267004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Her bölümde √d rastgele özellik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90288" y="3008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Ağaç Sayısı: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008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n_estimators (varsayılan: 100)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90288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Derinlik: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334670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max_depth (None = tam büyüme)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90288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Özellik Önemi: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68503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feature_importances_ ile çıkarılır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90288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OOB Skoru: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80760" y="40233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Out-of-Bag: ücretsiz validation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90288" y="4361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Güçlü Yönü: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4361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Overfit riski düşük, robust, hızlı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OOB (Out-of-Bag) skoru: Her ağaç bootstrap örneklemine girmeyen ~37% veriyle validation yapar. Ücretsiz cross-validation!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— AdaBoost, Gradient Boosting, XGBoost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Boosting Mekanizması: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Modeller sıralı olarak eklenir. Her yeni model, önceki modellerin hata yaptığı örneklere daha fazla odaklanır. Bias'ı azaltır. Güçlü tahmin kapasitesi sunar ama dikkatli ayarlanmazsa overfit eder.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499616"/>
            <a:ext cx="28529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499616"/>
            <a:ext cx="285292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AdaBoost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975104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Yanlış sınıflanan örneklerin ağırlığını artır. Basit 'zayıf öğreniciler' (genellikle tek dallar) kullanır.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63347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346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Σ αt · ht(x)  (αt: model ağırlığı)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32004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✅ Basit, yorumlanabilir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340156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⚠️ Gürültüye duyarlı, yavaş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1499616"/>
            <a:ext cx="28529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499616"/>
            <a:ext cx="28529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Gradient Boosting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(sklearn)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4408" y="1975104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Her adımda kayıp fonksiyonunun gradyanına uymaya çalışan yeni bir ağaç ekler. Genel çerçeve.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3347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8346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F_m(x) = F_{m-1}(x) + η · h_m(x)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64408" y="32004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✅ Esnek kayıp fonksiyonu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64408" y="340156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⚠️ Yavaş, hiperparametre hassas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1499616"/>
            <a:ext cx="28529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1499616"/>
            <a:ext cx="285292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15910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XGBoost 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LightGBM / CatBoost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1975104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Gradient Boosting'in optimize edilmiş versiyonları. 2. dereceden Taylor açılımı, düzenleme, paralel işlem.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54496" y="2834640"/>
            <a:ext cx="2633472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8346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 = L(θ) + Ω(f)  (L: kayıp, Ω: düzenleme)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54496" y="32004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✅ Hızlı, regularization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54496" y="340156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⚠️ Çok hiperparametre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050792"/>
          <a:ext cx="8823960" cy="8686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  <a:gridCol w="18745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En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Zor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Mükemmel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L1+L2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L1+L2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 Değişken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Dahili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Pratik Öneri: Tablo verisi + performans kritikse → XGBoost veya LightGBM. Her ikisi de Kaggle yarışmalarında dominant.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&amp; Topluluk Yöntemleri Karşılaştırma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1605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🏗️  Stacking (Meta-Öğrenme)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3931920" cy="25603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Level 0 (Base Models)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868680" cy="530352"/>
          </a:xfrm>
          <a:prstGeom prst="rect">
            <a:avLst/>
          </a:prstGeom>
          <a:solidFill>
            <a:srgbClr val="00C9A7">
              <a:alpha val="35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KNN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07592" y="1481328"/>
            <a:ext cx="868680" cy="530352"/>
          </a:xfrm>
          <a:prstGeom prst="rect">
            <a:avLst/>
          </a:prstGeom>
          <a:solidFill>
            <a:srgbClr val="00C9A7">
              <a:alpha val="35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14813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Lojistik Regresyon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67712" y="1481328"/>
            <a:ext cx="868680" cy="530352"/>
          </a:xfrm>
          <a:prstGeom prst="rect">
            <a:avLst/>
          </a:prstGeom>
          <a:solidFill>
            <a:srgbClr val="00C9A7">
              <a:alpha val="35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14813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Random Forest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27832" y="1481328"/>
            <a:ext cx="868680" cy="530352"/>
          </a:xfrm>
          <a:prstGeom prst="rect">
            <a:avLst/>
          </a:prstGeom>
          <a:solidFill>
            <a:srgbClr val="00C9A7">
              <a:alpha val="35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4813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SVM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21992" y="2011680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74320" y="2084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K-katlı CV ile out-of-fold tahminler → meta model için girdi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3931920" cy="256032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Level 1 (Meta Model)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511296"/>
            <a:ext cx="868680" cy="530352"/>
          </a:xfrm>
          <a:prstGeom prst="rect">
            <a:avLst/>
          </a:prstGeom>
          <a:solidFill>
            <a:srgbClr val="A78BFA">
              <a:alpha val="35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51129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Lineer Regresyon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307592" y="3511296"/>
            <a:ext cx="868680" cy="530352"/>
          </a:xfrm>
          <a:prstGeom prst="rect">
            <a:avLst/>
          </a:prstGeom>
          <a:solidFill>
            <a:srgbClr val="A78BFA">
              <a:alpha val="35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351129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veya Lojistik Reg.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Avantaj: Farklı algoritmaların güçlü yönleri birleştirilir.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Dezavantaj: Karmaşık, hesaplama maliyeti yüksek.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749808"/>
            <a:ext cx="4572000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749808"/>
            <a:ext cx="45720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8412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Topluluk Yöntemleri — Genel Karşılaştırma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33856"/>
          <a:ext cx="4572000" cy="3694176"/>
        </p:xfrm>
        <a:graphic>
          <a:graphicData uri="http://schemas.openxmlformats.org/drawingml/2006/table">
            <a:tbl>
              <a:tblPr/>
              <a:tblGrid>
                <a:gridCol w="1737360"/>
                <a:gridCol w="932688"/>
                <a:gridCol w="932688"/>
                <a:gridCol w="188366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sırası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 + meta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Değişmez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Azalır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↓↓ Çok azalır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Azalır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Değişmez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Azalır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Orta-Yüksek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Yorumlanabilirlik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Gürültüye dayanıklılık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Yüksek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Düşük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 noktası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İleri düzey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BaggingClassifier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StackingClassifier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Hiyerarşi: Tek Model → Bagging → Boosting → Stacking  —  Karmaşıklık &amp; potansiyel performans sırasıyla artar.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· Underfitting · Bias-Variance Trade-off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ML'nin en kritik kavramsal üçlüsü — her modelin değerlendirilmesinde merkezde yer alır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2852928" cy="342900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789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Underfitting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8470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Hem eğitim hem test hatası yüksek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2494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Model çok basit / kapasitesi düşük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70662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651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Yüksek Bias, düşük Variance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2633472" cy="256032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🔧 Çözüm: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345643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Model karmaşıklığını artır, daha çok özellik ekle, daha uzun eğit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1005840"/>
            <a:ext cx="2852928" cy="342900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0789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64408" y="14630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İyi Fit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(Optimal)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64408" y="190195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18470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Eğitim ve test hatası yakın ve düşük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230428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22494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Bias ile Variance dengede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27066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651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Yeni veriye iyi genelleşir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64408" y="3182112"/>
            <a:ext cx="2633472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🔧 Çözüm: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4408" y="345643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Hedefiniz bu! GridSearchCV ve CV ile bu noktayı bul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44768" y="1005840"/>
            <a:ext cx="2852928" cy="3429000"/>
          </a:xfrm>
          <a:prstGeom prst="rect">
            <a:avLst/>
          </a:prstGeom>
          <a:solidFill>
            <a:srgbClr val="1A2F6B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10789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54496" y="14630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Overfitting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54496" y="190195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8470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Eğitim hatası çok düşük, test hatası yüksek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54496" y="230428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2494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Model çok karmaşık / aşırı kapasiteli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270662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651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Düşük Bias, yüksek Variance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54496" y="3182112"/>
            <a:ext cx="2633472" cy="256032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🔧 Çözüm: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54496" y="345643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Düzenleme (L1/L2), daha fazla veri, dropout, erken durdurma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4592" y="4498848"/>
            <a:ext cx="8823960" cy="530352"/>
          </a:xfrm>
          <a:prstGeom prst="rect">
            <a:avLst/>
          </a:prstGeom>
          <a:solidFill>
            <a:srgbClr val="1A2F6B">
              <a:alpha val="8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1713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📐  Hata Ayrışımı:  E[(y − ŷ)²] = Bias² + Variance + Irreducible Noise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47548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Bias: Ortalama tahmin ile gerçek değer arası fark  |  Variance: Farklı eğitim setlerinde tahmin değişkenliği  |  Noise: Giderilemez hata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Hiperparametre Optimizasyonu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1605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160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K-Katlı Cross-Validation (K-Fold CV)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Veriyi K eşit parçaya böl. Her seferinde 1 parçayı test, kalanını eğitim olarak kullan. K tur sonunda ortalama alınır.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Tüm veriyi değerlendirmede kullanır, varyans düşer.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713232" cy="201168"/>
          </a:xfrm>
          <a:prstGeom prst="rect">
            <a:avLst/>
          </a:prstGeom>
          <a:solidFill>
            <a:srgbClr val="EF4444">
              <a:alpha val="6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01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TEST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24128" y="1801368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801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773936" y="1801368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3936" y="1801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23744" y="1801368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801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73552" y="1801368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801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41648" y="18013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Fold 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039112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24128" y="2039112"/>
            <a:ext cx="713232" cy="201168"/>
          </a:xfrm>
          <a:prstGeom prst="rect">
            <a:avLst/>
          </a:prstGeom>
          <a:solidFill>
            <a:srgbClr val="EF4444">
              <a:alpha val="6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TEST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773936" y="2039112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3936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23744" y="2039112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73552" y="2039112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039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041648" y="203911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Fold 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276856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276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24128" y="2276856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2276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773936" y="2276856"/>
            <a:ext cx="713232" cy="201168"/>
          </a:xfrm>
          <a:prstGeom prst="rect">
            <a:avLst/>
          </a:prstGeom>
          <a:solidFill>
            <a:srgbClr val="EF4444">
              <a:alpha val="6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73936" y="2276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TEST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523744" y="2276856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23744" y="2276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73552" y="2276856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2768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041648" y="227685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Fold 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2514600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2514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24128" y="2514600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2514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773936" y="2514600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73936" y="2514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23744" y="2514600"/>
            <a:ext cx="713232" cy="201168"/>
          </a:xfrm>
          <a:prstGeom prst="rect">
            <a:avLst/>
          </a:prstGeom>
          <a:solidFill>
            <a:srgbClr val="EF4444">
              <a:alpha val="6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3744" y="2514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TEST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73552" y="2514600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25146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041648" y="25146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Fold 4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2752344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752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024128" y="2752344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4128" y="2752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773936" y="2752344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73936" y="2752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523744" y="2752344"/>
            <a:ext cx="713232" cy="201168"/>
          </a:xfrm>
          <a:prstGeom prst="rect">
            <a:avLst/>
          </a:prstGeom>
          <a:solidFill>
            <a:srgbClr val="00C9A7">
              <a:alpha val="25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23744" y="2752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Eğit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273552" y="2752344"/>
            <a:ext cx="713232" cy="201168"/>
          </a:xfrm>
          <a:prstGeom prst="rect">
            <a:avLst/>
          </a:prstGeom>
          <a:solidFill>
            <a:srgbClr val="EF4444">
              <a:alpha val="6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73552" y="27523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TEST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041648" y="275234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Fold 5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74320" y="3035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▸ K-Fold: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920240" y="3035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 yaygın. K=5 veya K=10 önerilir.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3273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▸ Stratified K-Fold: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92024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Sınıf oranını her katta korur. Dengesiz veri.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74320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▸ Leave-One-Out (LOO):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920240" y="3511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K=N. Küçük veri setleri için.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74320" y="3749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E82"/>
                </a:solidFill>
              </a:rPr>
              <a:t>▸ Time Series Split: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92024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Gelecek veriyi geçmişe sızdırma önlenir.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480560" y="749808"/>
            <a:ext cx="4572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480560" y="749808"/>
            <a:ext cx="45720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90288" y="8412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Hiperparametre Optimizasyonu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572000" y="1188720"/>
            <a:ext cx="64008" cy="8503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81728" y="11887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Grid Search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4681728" y="145389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Tüm kombinasyonları dene. Küçük arama uzayı için.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Scikit-learn: GridSearchCV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681728" y="18379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✅ Deterministik, eksiksiz   ⚠️ Kombinasyon patlaması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572000" y="2148840"/>
            <a:ext cx="64008" cy="8503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81728" y="21488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6B"/>
                </a:solidFill>
              </a:rPr>
              <a:t>Random Search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681728" y="241401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Rastgele kombinasyonlar dene. Genellikle Grid'den daha verimli.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Scikit-learn: RandomizedSearchCV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681728" y="279806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✅ Hızlı, sürekli değişkenler   ⚠️ Garanti yok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3108960"/>
            <a:ext cx="64008" cy="8503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81728" y="31089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Bayesian Opt.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681728" y="337413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Önceki sonuçlara göre akıllı arama yapar. Optuna, Hyperopt kütüphaneleri.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681728" y="375818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✅ En verimli   ⚠️ Karmaşık kurulum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64592" y="4160520"/>
            <a:ext cx="8823960" cy="70408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64592" y="4160520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4251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Cross-Validation Kurulumu: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74320" y="448056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StratifiedKFold(n_splits=5, shuffle=True, random_state=42)
</a:t>
            </a:r>
            <a:pPr indent="0" marL="0">
              <a:buNone/>
            </a:pPr>
            <a:r>
              <a:rPr lang="en-US" sz="90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GridSearchCV(model, param_grid, cv=cv, scoring='f1_macro', n_jobs=-1)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 Hiperparametreleri TEST seti üzerinde asla ayarlama — Bu data leakage'dır. CV ile ayarla, test ile son kez değerlendir.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Özellik Mühendisliği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Feature Engineering: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60704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Ham veriden model için anlamlı özellikler oluşturma ve seçme sürecidir. ML performansının %80'i iyi özellik mühendisliğinden gelir.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426464"/>
            <a:ext cx="425196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426464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17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Sayısal Dönüşümler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88366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28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Log dönüşümü: çarpık dağılımları düzeltir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Karekök: aşırı değerleri bastırır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408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Z-score / MinMax: ölçeklendirme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Polinom: x², x³ — doğrusal olmayan ilişki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529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Binning: sürekliyi kategoriye çevir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5152" y="1426464"/>
            <a:ext cx="425196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1426464"/>
            <a:ext cx="4251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517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Kategorik Kodlama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88366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828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One-Hot Encoding: ikili sütunlar (az sınıf)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13969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Label Encoding: sıralı kategoriler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39572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3408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Ordinal Encoding: doğal sıra varsa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65176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Target Encoding: hedefle istatistiksel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0779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8529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Frequency Encoding: sıklık tabanlı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310128"/>
            <a:ext cx="425196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64592" y="3310128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401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Özellik Seçimi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(Feature Selection)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6732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7124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Filter: korelasyon, chi², ANOVA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684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Wrapper: RFE, özyinelemeli eleme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27939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245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Embedded: Lasso (L1), RandomForest önemi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53542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4805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Permutation Importance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79145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7365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SHAP değerleri (açıklanabilir AI)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3310128"/>
            <a:ext cx="425196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45152" y="3310128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01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Boyut İndirgeme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(Dimensionality Reduction)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76732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7124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PCA: varyansı en fazla açıklayan bileşenler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402336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39684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t-SNE: görselleştirme (2D/3D)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427939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2245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UMAP: hızlı manifold öğrenmesi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53542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44805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LDA: sınıflar arası ayrımı maksimize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7914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47365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Autoencoder: derin boyut indirgeme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🏆  'Coming up with features is difficult, time-consuming, requires expert knowledge.' — Andrew Ng  |  AutoML bu süreci otomatize etmeye çalışır.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Seçim Rehberi — Karar Akışı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Veri tipine ve probleme göre hangi algoritmayı seçmeliyim?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005840"/>
            <a:ext cx="182880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005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Etiketli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 var mı?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481328"/>
            <a:ext cx="0" cy="23774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719072"/>
            <a:ext cx="658368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719072"/>
            <a:ext cx="4023360" cy="38404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✅ DENETİMLİ ÖĞRENME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76272" y="2103120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04288"/>
            <a:ext cx="292608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04288"/>
            <a:ext cx="1645920" cy="347472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304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E82"/>
                </a:solidFill>
              </a:rPr>
              <a:t>Çıktı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9E82"/>
                </a:solidFill>
              </a:rPr>
              <a:t>Kategorik?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4592" y="2743200"/>
            <a:ext cx="1645920" cy="212140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2743200"/>
            <a:ext cx="16459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E82"/>
                </a:solidFill>
              </a:rPr>
              <a:t>SINIFLANDIRMA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603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KNN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032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Lojistik Reg.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6032" y="3675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Karar Ağacı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3968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SVM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" y="42611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Random Forest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XGBoost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93392" y="2304288"/>
            <a:ext cx="1645920" cy="34747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2304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Çıktı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Sürekli?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93392" y="2743200"/>
            <a:ext cx="1645920" cy="212140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993392" y="2743200"/>
            <a:ext cx="164592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REGRESYON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8483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Lineer Reg.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84832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Ridge/Lasso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084832" y="3675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Polinom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084832" y="3968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Random Forest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84832" y="42611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XGBoost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84832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KNN Reg.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56048" y="1719072"/>
            <a:ext cx="4023360" cy="384048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❌ DENETİMSİZ ÖĞRENME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67728" y="2103120"/>
            <a:ext cx="0" cy="20116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2304288"/>
            <a:ext cx="34747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56048" y="2304288"/>
            <a:ext cx="169164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56048" y="2304288"/>
            <a:ext cx="1691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23957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KÜMELEME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47488" y="2651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K-Means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47488" y="2944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DBSCAN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47488" y="3236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Hiyerarşik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47488" y="35295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GMM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47488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HDBSCAN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84848" y="2304288"/>
            <a:ext cx="21945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84848" y="2304288"/>
            <a:ext cx="21945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2395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BOYUT İNDİRGEME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76288" y="2651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PCA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76288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t-SNE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76288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UMAP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76288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Autoencoder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76288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▸ LDA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4592" y="4873752"/>
            <a:ext cx="8823960" cy="22860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⭐  Performansı artırmak için:  Bagging (Random Forest)  ·  Boosting (XGBoost/LightGBM)  ·  Stacking  — her iki kategoride de uygulanabilir.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Resim — ML Algoritmaları Tam Hiyerarşisi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0" y="749808"/>
            <a:ext cx="2286000" cy="365760"/>
          </a:xfrm>
          <a:prstGeom prst="rect">
            <a:avLst/>
          </a:prstGeom>
          <a:solidFill>
            <a:srgbClr val="00C9A7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749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MAKİNE ÖĞRENMESİ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115568"/>
            <a:ext cx="0" cy="18288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298448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481328"/>
            <a:ext cx="2798064" cy="329184"/>
          </a:xfrm>
          <a:prstGeom prst="rect">
            <a:avLst/>
          </a:prstGeom>
          <a:solidFill>
            <a:srgbClr val="00C9A7">
              <a:alpha val="7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48132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Denetimli Öğrenme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1810512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1993392"/>
            <a:ext cx="1737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933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139696"/>
            <a:ext cx="1243584" cy="274320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</a:rPr>
              <a:t>Sınıflandırma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6384" y="2414016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52374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5237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KNN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86384" y="2706624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81635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81635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Lojistik Reg.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86384" y="2999232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10896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1089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Naive Bayes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86384" y="3291840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3401568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34015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SVM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86384" y="3584448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3694176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69417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Karar Ağacı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86384" y="3877056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98678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9867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RF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6384" y="4169664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4592" y="427939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427939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XGBoost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86384" y="4462272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4592" y="457200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45720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LightGBM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86384" y="4754880"/>
            <a:ext cx="0" cy="109728"/>
          </a:xfrm>
          <a:prstGeom prst="line">
            <a:avLst/>
          </a:prstGeom>
          <a:noFill/>
          <a:ln w="635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4864608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486460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YSA/CNN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12848" y="19933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91056" y="2139696"/>
            <a:ext cx="1243584" cy="274320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91056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F6B"/>
                </a:solidFill>
              </a:rPr>
              <a:t>Regresyon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12848" y="2414016"/>
            <a:ext cx="0" cy="109728"/>
          </a:xfrm>
          <a:prstGeom prst="line">
            <a:avLst/>
          </a:prstGeom>
          <a:noFill/>
          <a:ln w="6350">
            <a:solidFill>
              <a:srgbClr val="FFD1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91056" y="252374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91056" y="25237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Lineer Reg.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212848" y="2706624"/>
            <a:ext cx="0" cy="109728"/>
          </a:xfrm>
          <a:prstGeom prst="line">
            <a:avLst/>
          </a:prstGeom>
          <a:noFill/>
          <a:ln w="6350">
            <a:solidFill>
              <a:srgbClr val="FFD1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91056" y="281635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81635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Ridge/Lasso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12848" y="2999232"/>
            <a:ext cx="0" cy="109728"/>
          </a:xfrm>
          <a:prstGeom prst="line">
            <a:avLst/>
          </a:prstGeom>
          <a:noFill/>
          <a:ln w="6350">
            <a:solidFill>
              <a:srgbClr val="FFD1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91056" y="310896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91056" y="31089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Polinom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12848" y="3291840"/>
            <a:ext cx="0" cy="109728"/>
          </a:xfrm>
          <a:prstGeom prst="line">
            <a:avLst/>
          </a:prstGeom>
          <a:noFill/>
          <a:ln w="6350">
            <a:solidFill>
              <a:srgbClr val="FFD1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91056" y="3401568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91056" y="34015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SVR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212848" y="3584448"/>
            <a:ext cx="0" cy="109728"/>
          </a:xfrm>
          <a:prstGeom prst="line">
            <a:avLst/>
          </a:prstGeom>
          <a:noFill/>
          <a:ln w="6350">
            <a:solidFill>
              <a:srgbClr val="FFD1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91056" y="3694176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91056" y="369417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RF Reg.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212848" y="3877056"/>
            <a:ext cx="0" cy="109728"/>
          </a:xfrm>
          <a:prstGeom prst="line">
            <a:avLst/>
          </a:prstGeom>
          <a:noFill/>
          <a:ln w="6350">
            <a:solidFill>
              <a:srgbClr val="FFD16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91056" y="398678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91056" y="39867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XGBoost Reg.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36008" y="1298448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46120" y="1481328"/>
            <a:ext cx="2798064" cy="329184"/>
          </a:xfrm>
          <a:prstGeom prst="rect">
            <a:avLst/>
          </a:prstGeom>
          <a:solidFill>
            <a:srgbClr val="F97316">
              <a:alpha val="7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46120" y="148132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Denetimsiz Öğrenme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36008" y="1810512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0" y="1993392"/>
            <a:ext cx="1737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67912" y="19933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46120" y="2139696"/>
            <a:ext cx="1243584" cy="27432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46120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Kümeleme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867912" y="2414016"/>
            <a:ext cx="0" cy="109728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46120" y="252374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46120" y="25237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K-Means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867912" y="2706624"/>
            <a:ext cx="0" cy="109728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46120" y="281635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46120" y="281635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DBSCAN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867912" y="2999232"/>
            <a:ext cx="0" cy="109728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46120" y="310896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46120" y="31089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Hiyerarşik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867912" y="3291840"/>
            <a:ext cx="0" cy="109728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46120" y="3401568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46120" y="34015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GMM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867912" y="3584448"/>
            <a:ext cx="0" cy="109728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46120" y="3694176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46120" y="369417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HDBSCAN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294376" y="19933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72584" y="2139696"/>
            <a:ext cx="1243584" cy="27432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72584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Boyut İndirgeme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294376" y="2414016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72584" y="252374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72584" y="25237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PCA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294376" y="2706624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672584" y="281635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72584" y="281635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t-SNE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294376" y="2999232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72584" y="310896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72584" y="31089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UMAP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94376" y="3291840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72584" y="3401568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72584" y="34015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LDA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294376" y="3584448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672584" y="3694176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72584" y="369417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AE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7717536" y="1298448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27648" y="1481328"/>
            <a:ext cx="2798064" cy="329184"/>
          </a:xfrm>
          <a:prstGeom prst="rect">
            <a:avLst/>
          </a:prstGeom>
          <a:solidFill>
            <a:srgbClr val="A78BFA">
              <a:alpha val="7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27648" y="148132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Pekiştirmeli Öğrenme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7717536" y="1810512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30568" y="1993392"/>
            <a:ext cx="1737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9440" y="19933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327648" y="2139696"/>
            <a:ext cx="1243584" cy="27432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27648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Model-free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949440" y="2414016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327648" y="252374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27648" y="25237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Q-Learning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949440" y="2706624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327648" y="281635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27648" y="281635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DQN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949440" y="2999232"/>
            <a:ext cx="0" cy="1097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327648" y="310896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27648" y="31089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SARSA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8375904" y="1993392"/>
            <a:ext cx="0" cy="14630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2139696"/>
            <a:ext cx="1243584" cy="274320"/>
          </a:xfrm>
          <a:prstGeom prst="rect">
            <a:avLst/>
          </a:prstGeom>
          <a:solidFill>
            <a:srgbClr val="FB7185">
              <a:alpha val="6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754112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7185"/>
                </a:solidFill>
              </a:rPr>
              <a:t>Policy-based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8375904" y="2414016"/>
            <a:ext cx="0" cy="109728"/>
          </a:xfrm>
          <a:prstGeom prst="line">
            <a:avLst/>
          </a:prstGeom>
          <a:noFill/>
          <a:ln w="6350">
            <a:solidFill>
              <a:srgbClr val="FB718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54112" y="2523744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754112" y="252374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PPO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8375904" y="2706624"/>
            <a:ext cx="0" cy="109728"/>
          </a:xfrm>
          <a:prstGeom prst="line">
            <a:avLst/>
          </a:prstGeom>
          <a:noFill/>
          <a:ln w="6350">
            <a:solidFill>
              <a:srgbClr val="FB718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54112" y="2816352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754112" y="281635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A3C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8375904" y="2999232"/>
            <a:ext cx="0" cy="109728"/>
          </a:xfrm>
          <a:prstGeom prst="line">
            <a:avLst/>
          </a:prstGeom>
          <a:noFill/>
          <a:ln w="6350">
            <a:solidFill>
              <a:srgbClr val="FB718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754112" y="3108960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754112" y="310896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TRPO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8375904" y="3291840"/>
            <a:ext cx="0" cy="109728"/>
          </a:xfrm>
          <a:prstGeom prst="line">
            <a:avLst/>
          </a:prstGeom>
          <a:noFill/>
          <a:ln w="6350">
            <a:solidFill>
              <a:srgbClr val="FB718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754112" y="3401568"/>
            <a:ext cx="1243584" cy="237744"/>
          </a:xfrm>
          <a:prstGeom prst="rect">
            <a:avLst/>
          </a:prstGeom>
          <a:solidFill>
            <a:srgbClr val="1A2F6B">
              <a:alpha val="50000"/>
            </a:srgbClr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754112" y="340156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F"/>
                </a:solidFill>
              </a:rPr>
              <a:t>SAC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164592" y="4663440"/>
            <a:ext cx="8823960" cy="384048"/>
          </a:xfrm>
          <a:prstGeom prst="rect">
            <a:avLst/>
          </a:prstGeom>
          <a:solidFill>
            <a:srgbClr val="A78BFA">
              <a:alpha val="4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56032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🏆  TOPLULUK (ENSEMBLE):  Bagging → Random Forest · Extra Trees   |   Boosting → AdaBoost · GradBoost · XGBoost · LightGBM · CatBoost   |   Stacking → Meta-Learner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Ekosistemi — Araçlar &amp; Kütüphaneler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Hangi kütüphane ne için kullanılır?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28529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78992"/>
            <a:ext cx="285292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Veri İşleme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17904"/>
            <a:ext cx="640080" cy="274320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NumPy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9264" y="1517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Matris ve sayısal işlemler — her şeyin temeli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929384"/>
            <a:ext cx="640080" cy="274320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2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Pandas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9264" y="19293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Tablo verisi (DataFrame) — okuma, temizleme, dönüştürme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640080" cy="274320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Polars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9264" y="234086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Pandas'ın hızlı alternatifi — büyük veri için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54680" y="1078992"/>
            <a:ext cx="28529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078992"/>
            <a:ext cx="28529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170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Görselleştirme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1517904"/>
            <a:ext cx="640080" cy="274320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Matplotlib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59352" y="1517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Temel grafik kütüphanesi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64408" y="1929384"/>
            <a:ext cx="640080" cy="274320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192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Seaborn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59352" y="19293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İstatistiksel görselleştirme, Matplotlib üstüne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64408" y="2340864"/>
            <a:ext cx="640080" cy="274320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Plotly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59352" y="234086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İnteraktif, web tabanlı grafikler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64408" y="2752344"/>
            <a:ext cx="640080" cy="274320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752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Altair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59352" y="27523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Deklaratif, veri odaklı görselleştirme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44768" y="1078992"/>
            <a:ext cx="28529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078992"/>
            <a:ext cx="285292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170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Klasik 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54496" y="1517904"/>
            <a:ext cx="640080" cy="27432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Scikit-learn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9440" y="15179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Sınıflandırma, regresyon, kümeleme, pipeline, CV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54496" y="1929384"/>
            <a:ext cx="640080" cy="27432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1929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XGBoost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49440" y="19293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Gradient boosting — yarışma standardı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54496" y="2340864"/>
            <a:ext cx="640080" cy="27432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LightGBM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49440" y="234086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Hızlı gradient boosting — büyük veri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54496" y="2752344"/>
            <a:ext cx="640080" cy="27432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2752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CatBoost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49440" y="27523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Kategorik değişken dostu boosting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4592" y="3072384"/>
            <a:ext cx="28529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64592" y="3072384"/>
            <a:ext cx="285292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1638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Derin Öğrenme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511296"/>
            <a:ext cx="640080" cy="27432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TensorFlow/Keras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69264" y="35112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Google — üretim odaklı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3922776"/>
            <a:ext cx="640080" cy="27432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922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PyTorch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69264" y="39227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Meta/Facebook — araştırma standardı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334256"/>
            <a:ext cx="640080" cy="27432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334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Hugging Face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69264" y="43342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NLP modelleri, Transformer ekosistemi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54680" y="3072384"/>
            <a:ext cx="28529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154680" y="3072384"/>
            <a:ext cx="2852928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64408" y="31638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AutoML &amp; MLOps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64408" y="3511296"/>
            <a:ext cx="640080" cy="274320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64408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Optuna / Hyperopt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959352" y="35112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Bayesian hiperparametre optimizasyonu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64408" y="3922776"/>
            <a:ext cx="640080" cy="274320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64408" y="3922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MLflow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959352" y="39227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Deney takibi, model versiyonlama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64408" y="4334256"/>
            <a:ext cx="640080" cy="274320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64408" y="4334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scikit-optimize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959352" y="43342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Sequential model-based optimization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44768" y="3072384"/>
            <a:ext cx="28529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144768" y="3072384"/>
            <a:ext cx="2852928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54496" y="31638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Özel Alanlar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254496" y="3511296"/>
            <a:ext cx="640080" cy="274320"/>
          </a:xfrm>
          <a:prstGeom prst="rect">
            <a:avLst/>
          </a:prstGeom>
          <a:solidFill>
            <a:srgbClr val="FB7185">
              <a:alpha val="6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54496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NLTK / spaCy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949440" y="35112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Doğal dil işleme (NLP)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254496" y="3922776"/>
            <a:ext cx="640080" cy="274320"/>
          </a:xfrm>
          <a:prstGeom prst="rect">
            <a:avLst/>
          </a:prstGeom>
          <a:solidFill>
            <a:srgbClr val="FB7185">
              <a:alpha val="6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54496" y="3922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OpenCV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949440" y="39227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Görüntü işleme ve bilgisayarlı görü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254496" y="4334256"/>
            <a:ext cx="640080" cy="274320"/>
          </a:xfrm>
          <a:prstGeom prst="rect">
            <a:avLst/>
          </a:prstGeom>
          <a:solidFill>
            <a:srgbClr val="FB7185">
              <a:alpha val="6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54496" y="4334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statsmodels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949440" y="43342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İstatistiksel modeller, hipotez testleri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Başlangıç sırası: NumPy → Pandas → Matplotlib/Seaborn → Scikit-learn → XGBoost → (ihtiyaca göre) TensorFlow veya PyTorch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Uygulama Alanları — ML Nerede Kullanılır?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50976"/>
            <a:ext cx="28529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950976"/>
            <a:ext cx="285292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424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🏥 Sağlık &amp; Tıp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53896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990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Kanser tespiti (CNN, SVM)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7282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İlaç keşfi (GNN)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12264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057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Hasta risk skoru (XGBoost)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41448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865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Görüntü analizi (radyoloji)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950976"/>
            <a:ext cx="28529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950976"/>
            <a:ext cx="28529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0424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💰 Finans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1453896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13990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Dolandırıcılık tespiti (RF, XGBoost)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1783080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7282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Kredi skorlama (Lojistik Reg.)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2112264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057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Algoritmik ticaret (RL)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64408" y="2441448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3865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Risk modellemesi (Regresyon)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4768" y="950976"/>
            <a:ext cx="28529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950976"/>
            <a:ext cx="285292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10424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💬 Doğal Dil İşleme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54496" y="1453896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39903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Metin sınıflandırma (Naive Bayes, Transformer)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54496" y="1783080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7282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Duygu analizi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4496" y="2112264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057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Makine çevirisi (seq2seq)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2441448"/>
            <a:ext cx="100584" cy="100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3865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ChatGPT, GPT-4 (LLM)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" y="2962656"/>
            <a:ext cx="28529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4592" y="2962656"/>
            <a:ext cx="285292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0540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🖼️ Görüntü &amp; Ses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46557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34107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Yüz tanıma (CNN)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79476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7398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Nesne tespiti (YOLO)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123944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40690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Konuşma tanıma (RNN/LSTM)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453128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43982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Stil transferi (GAN)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54680" y="2962656"/>
            <a:ext cx="28529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54680" y="2962656"/>
            <a:ext cx="285292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64408" y="30540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🛒 E-Ticaret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Öneri Sistemleri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64408" y="3465576"/>
            <a:ext cx="100584" cy="1005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0712" y="34107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Ürün önerisi (Collaborative Filtering)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64408" y="3794760"/>
            <a:ext cx="100584" cy="1005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0712" y="37398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Fiyat optimizasyonu (Regresyon)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64408" y="4123944"/>
            <a:ext cx="100584" cy="1005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0712" y="40690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Müşteri segmentasyonu (K-Means)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64408" y="4453128"/>
            <a:ext cx="100584" cy="1005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0712" y="43982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Talep tahmini (LSTM)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44768" y="2962656"/>
            <a:ext cx="28529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44768" y="2962656"/>
            <a:ext cx="2852928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54496" y="30540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🤖 Otonom Sistemler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54496" y="3465576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4107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Özerk araçlar (CNN + RL)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54496" y="3794760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37398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Robotik (RL, PPO)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54496" y="4123944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0" y="40690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Drone navigasyon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54496" y="445312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0" y="43982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Oyun yapay zekası (DQN, AlphaGo)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ML artık tek bir sektörle sınırlı değil. Neredeyse her endüstride veriye dayalı kararlar ML ile alınmaktadır.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Boyunca Kullanılacak Veri Setleri &amp; Kaynaklar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77240"/>
          <a:ext cx="8823960" cy="4224528"/>
        </p:xfrm>
        <a:graphic>
          <a:graphicData uri="http://schemas.openxmlformats.org/drawingml/2006/table">
            <a:tbl>
              <a:tblPr/>
              <a:tblGrid>
                <a:gridCol w="1097280"/>
                <a:gridCol w="960120"/>
                <a:gridCol w="1554480"/>
                <a:gridCol w="868680"/>
                <a:gridCol w="178308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Seti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Erişim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/ sklearn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Çiçek sınıflandırma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×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KNN, Karar Ağacı, SVM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sklearn.datasets.load_iris()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 Quality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/ sklearn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Şarap kalitesi sınıflandırma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 × 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 önemi, RF, XGBoost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sklearn.datasets.load_wine()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Cancer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/ sklearn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Kanser teşhisi (ikili)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 × 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Lojistik Reg., değerlendirme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sklearn.datasets.load_breast_cancer()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Boston Housing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(California)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fiyatı tahmini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 × 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 algoritmaları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sklearn.datasets.fetch_california_housing()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Hayatta kalma tahmini (ikili)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891 ×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engineering, EDA, topluluk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kaggle.com/c/titanic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OpenML / Keras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yazısı rakam tanıma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70K × 784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sınıflı, YSA, CNN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keras.datasets.mnist.load_data()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Moons/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(sentetik)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olmayan sınır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Ayarlanabilir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 görselleştirme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sklearn.datasets.make_moons()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kümeleme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DBSCAN, Hiyerarşik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A2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kaggle.com/datasets/vjchoudhary7/...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Başlangıç için: Iris (sınıflandırma) + California Housing (regresyon) + Make Moons (görselleştirme) üçlüsü idealdir.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Özet — ML Kategorileri Hızlı Referans Tablosu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77240"/>
          <a:ext cx="8823960" cy="4224528"/>
        </p:xfrm>
        <a:graphic>
          <a:graphicData uri="http://schemas.openxmlformats.org/drawingml/2006/table">
            <a:tbl>
              <a:tblPr/>
              <a:tblGrid>
                <a:gridCol w="960120"/>
                <a:gridCol w="1188720"/>
                <a:gridCol w="640080"/>
                <a:gridCol w="1005840"/>
                <a:gridCol w="2148840"/>
                <a:gridCol w="13258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Tür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Başlıca Algoritmalar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Dünya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Gerekli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 etiket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· LR · SVM · DT · RF · XGBoost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· F1 · AUC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· Hastalık · Görüntü tanıma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Gerekli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sayı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Lineer · Ridge · Lasso · RF Reg. · XGBoost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· MAE · R²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 · Talep · Hava durumu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Kümeleme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etiketi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· DBSCAN · Hiyerarşik · GMM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· DB · WCSS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seg. · Anomali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 İndirgeme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Düşük-dim. temsil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· t-SNE · UMAP · LDA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Açıklanan varyans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Görselleştirme · Hızlandırma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Topluluk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Gerekli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veya sayı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· Extra Trees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amaçlı, güçlü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Topluluk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Gerekli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veya sayı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· LightGBM · AdaBoost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Tablo verisi yarışmaları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Topluluk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Gerekli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veya sayı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StackingClassifier/Regressor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İleri düzey, karmaşık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Pekiştirmeli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Model-free RL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Ödül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Eylem/politika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 · DQN · PPO · A3C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Kümülatif ödül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Oyun · Robotik · Otonom araç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🗺️  Bu tablo dersin tamamı boyunca başvuru kaynağı olarak kullanılabilir. Her satır ayrı bir konu bloğuna karşılık gelir.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Sonraki Adımlar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44752" y="8869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Aurélien Géron — Hands-On ML (3rd ed.), Bölüm 1-4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271016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2893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12893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Ian Goodfellow et al. — Deep Learning (free: deeplearningbook.org)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673352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4752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Kevin Murphy — Probabilistic Machine Learning (MIT Press)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75688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0939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🎓 Kurs: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209397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Andrew Ng — Machine Learning Specialization (Coursera)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478024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496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🎓 Kurs: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44752" y="24963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fast.ai — Practical Deep Learning for Coders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Döküman: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44752" y="28986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 User Guide: scikit-learn.org/stable/user_guide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282696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3009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Döküman: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44752" y="33009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Kaggle Learn: kaggle.com/learn — ücretsiz mini kurslar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85032"/>
            <a:ext cx="54864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44752" y="37033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Scikit-learn: Machine Learning in Python (JMLR, 2011)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📅 Ders Takvimi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67728" y="1207008"/>
            <a:ext cx="502920" cy="256032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1207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516368" y="1207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KNN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67728" y="1517904"/>
            <a:ext cx="502920" cy="256032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1517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516368" y="15179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Lojistik Reg.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67728" y="1828800"/>
            <a:ext cx="502920" cy="256032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516368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Karar Ağacı + NB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67728" y="2139696"/>
            <a:ext cx="502920" cy="256032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21396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4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516368" y="2139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SVM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67728" y="2450592"/>
            <a:ext cx="502920" cy="25603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7728" y="2450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5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516368" y="2450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67728" y="2761488"/>
            <a:ext cx="502920" cy="25603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27614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6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516368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XGBoost / LightGBM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67728" y="3072384"/>
            <a:ext cx="502920" cy="25603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67728" y="3072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7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516368" y="30723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Model Değerlendirme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967728" y="3383280"/>
            <a:ext cx="502920" cy="256032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67728" y="3383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8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516368" y="3383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Regresyon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67728" y="3694176"/>
            <a:ext cx="502920" cy="256032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36941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11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51636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Kümeleme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67728" y="4005072"/>
            <a:ext cx="502920" cy="256032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67728" y="40050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Hafta 13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16368" y="4005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Boyut İndirgeme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681728"/>
            <a:ext cx="6309360" cy="38404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4700016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için: ders saatleri veya e-posta yoluyla iletişime geçebilirsiniz.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&amp; Makine Öğrenmesi Temelleri</dc:title>
  <dc:subject>PptxGenJS Presentation</dc:subject>
  <dc:creator>Uygulamalı Makine Öğrenmesi</dc:creator>
  <cp:lastModifiedBy>Uygulamalı Makine Öğrenmesi</cp:lastModifiedBy>
  <cp:revision>1</cp:revision>
  <dcterms:created xsi:type="dcterms:W3CDTF">2026-03-14T09:42:08Z</dcterms:created>
  <dcterms:modified xsi:type="dcterms:W3CDTF">2026-03-14T09:42:08Z</dcterms:modified>
</cp:coreProperties>
</file>