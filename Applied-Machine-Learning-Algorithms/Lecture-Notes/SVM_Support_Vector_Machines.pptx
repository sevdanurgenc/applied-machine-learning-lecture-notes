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253C8C">
              <a:alpha val="35000"/>
            </a:srgbClr>
          </a:solidFill>
          <a:ln w="12700">
            <a:solidFill>
              <a:srgbClr val="253C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2560320"/>
            <a:ext cx="3474720" cy="3474720"/>
          </a:xfrm>
          <a:prstGeom prst="ellipse">
            <a:avLst/>
          </a:prstGeom>
          <a:solidFill>
            <a:srgbClr val="00C9A7">
              <a:alpha val="15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411480"/>
            <a:ext cx="4114800" cy="347472"/>
          </a:xfrm>
          <a:prstGeom prst="rect">
            <a:avLst/>
          </a:prstGeom>
          <a:solidFill>
            <a:srgbClr val="00C9A7">
              <a:alpha val="8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4114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0D1B4B"/>
                </a:solidFill>
              </a:rPr>
              <a:t>UYGULAMALI MAKİNE ÖĞRENMESİ — HAFTA 4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28600" y="9144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Destek Vektör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228600" y="1627632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Makineleri (SVM)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228600" y="2359152"/>
            <a:ext cx="4572000" cy="36576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" y="2523744"/>
            <a:ext cx="109728" cy="10972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2336" y="24688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Maksimum Marjin &amp; Destek Vektörleri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8600" y="2871216"/>
            <a:ext cx="109728" cy="109728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2336" y="281635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Hard Margin vs Soft Margin — C Parametresi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28600" y="3218688"/>
            <a:ext cx="109728" cy="10972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2336" y="316382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Hinge Loss Fonksiyonu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8600" y="3566160"/>
            <a:ext cx="109728" cy="109728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2336" y="351129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Kernel Trick: Düşük → Yüksek Boyut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8600" y="3913632"/>
            <a:ext cx="109728" cy="10972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2336" y="385876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Linear · RBF · Polynomial Kernels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28600" y="4261104"/>
            <a:ext cx="109728" cy="109728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2336" y="42062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C × γ Optimizasyonu &amp; SVR (Regresyon)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309360" y="3730752"/>
            <a:ext cx="2606040" cy="1170432"/>
          </a:xfrm>
          <a:prstGeom prst="rect">
            <a:avLst/>
          </a:prstGeom>
          <a:solidFill>
            <a:srgbClr val="1A2F6B">
              <a:alpha val="7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46520" y="382219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📅 Hafta 4 — Sınıflandırma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446520" y="40690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🎓 Lisans 3-4 / YL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446520" y="431596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⏱️  ~3 Ders Saati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446520" y="4562856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🗃️  Breast Cancer · Iris · Sentetik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828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 Planı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4114800" cy="36576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932688"/>
            <a:ext cx="4206240" cy="694944"/>
          </a:xfrm>
          <a:prstGeom prst="rect">
            <a:avLst/>
          </a:prstGeom>
          <a:solidFill>
            <a:srgbClr val="253C8C">
              <a:alpha val="7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932688"/>
            <a:ext cx="438912" cy="69494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932688"/>
            <a:ext cx="4389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4B"/>
                </a:solidFill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40664" y="932688"/>
            <a:ext cx="3611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F"/>
                </a:solidFill>
              </a:rPr>
              <a:t>SVM Nedir? Temel Fikir &amp; Özellikler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" y="1737360"/>
            <a:ext cx="4206240" cy="694944"/>
          </a:xfrm>
          <a:prstGeom prst="rect">
            <a:avLst/>
          </a:prstGeom>
          <a:solidFill>
            <a:srgbClr val="253C8C">
              <a:alpha val="7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" y="1737360"/>
            <a:ext cx="438912" cy="69494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" y="1737360"/>
            <a:ext cx="4389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4B"/>
                </a:solidFill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40664" y="1737360"/>
            <a:ext cx="3611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F"/>
                </a:solidFill>
              </a:rPr>
              <a:t>Maksimum Marjin &amp; Primal Optimizasyon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" y="2542032"/>
            <a:ext cx="4206240" cy="694944"/>
          </a:xfrm>
          <a:prstGeom prst="rect">
            <a:avLst/>
          </a:prstGeom>
          <a:solidFill>
            <a:srgbClr val="253C8C">
              <a:alpha val="7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8600" y="2542032"/>
            <a:ext cx="438912" cy="69494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" y="2542032"/>
            <a:ext cx="4389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4B"/>
                </a:solidFill>
              </a:rPr>
              <a:t>03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40664" y="2542032"/>
            <a:ext cx="3611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F"/>
                </a:solidFill>
              </a:rPr>
              <a:t>Hard vs Soft Margin — C Parametresi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28600" y="3346704"/>
            <a:ext cx="4206240" cy="694944"/>
          </a:xfrm>
          <a:prstGeom prst="rect">
            <a:avLst/>
          </a:prstGeom>
          <a:solidFill>
            <a:srgbClr val="253C8C">
              <a:alpha val="7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" y="3346704"/>
            <a:ext cx="438912" cy="69494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" y="3346704"/>
            <a:ext cx="4389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4B"/>
                </a:solidFill>
              </a:rPr>
              <a:t>04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40664" y="3346704"/>
            <a:ext cx="3611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F"/>
                </a:solidFill>
              </a:rPr>
              <a:t>Hinge Loss — SVM'in Kayıp Fonksiyonu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" y="4151376"/>
            <a:ext cx="4206240" cy="694944"/>
          </a:xfrm>
          <a:prstGeom prst="rect">
            <a:avLst/>
          </a:prstGeom>
          <a:solidFill>
            <a:srgbClr val="253C8C">
              <a:alpha val="7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8600" y="4151376"/>
            <a:ext cx="438912" cy="69494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8600" y="4151376"/>
            <a:ext cx="4389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4B"/>
                </a:solidFill>
              </a:rPr>
              <a:t>05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40664" y="4151376"/>
            <a:ext cx="3611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F"/>
                </a:solidFill>
              </a:rPr>
              <a:t>Kernel Trick: Düşük → Yüksek Boyut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932688"/>
            <a:ext cx="4206240" cy="694944"/>
          </a:xfrm>
          <a:prstGeom prst="rect">
            <a:avLst/>
          </a:prstGeom>
          <a:solidFill>
            <a:srgbClr val="253C8C">
              <a:alpha val="7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63440" y="932688"/>
            <a:ext cx="438912" cy="69494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932688"/>
            <a:ext cx="4389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4B"/>
                </a:solidFill>
              </a:rPr>
              <a:t>06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175504" y="932688"/>
            <a:ext cx="3611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F"/>
                </a:solidFill>
              </a:rPr>
              <a:t>Kernel Türleri: Linear, RBF, Poly, Sigmoid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63440" y="1737360"/>
            <a:ext cx="4206240" cy="694944"/>
          </a:xfrm>
          <a:prstGeom prst="rect">
            <a:avLst/>
          </a:prstGeom>
          <a:solidFill>
            <a:srgbClr val="253C8C">
              <a:alpha val="7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63440" y="1737360"/>
            <a:ext cx="438912" cy="69494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3440" y="1737360"/>
            <a:ext cx="4389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4B"/>
                </a:solidFill>
              </a:rPr>
              <a:t>07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175504" y="1737360"/>
            <a:ext cx="3611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F"/>
                </a:solidFill>
              </a:rPr>
              <a:t>C × γ Hiperparametre Analizi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63440" y="2542032"/>
            <a:ext cx="4206240" cy="694944"/>
          </a:xfrm>
          <a:prstGeom prst="rect">
            <a:avLst/>
          </a:prstGeom>
          <a:solidFill>
            <a:srgbClr val="253C8C">
              <a:alpha val="7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63440" y="2542032"/>
            <a:ext cx="438912" cy="69494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63440" y="2542032"/>
            <a:ext cx="4389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4B"/>
                </a:solidFill>
              </a:rPr>
              <a:t>08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175504" y="2542032"/>
            <a:ext cx="3611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F"/>
                </a:solidFill>
              </a:rPr>
              <a:t>Karar Sınırları Görselleştirmesi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663440" y="3346704"/>
            <a:ext cx="4206240" cy="694944"/>
          </a:xfrm>
          <a:prstGeom prst="rect">
            <a:avLst/>
          </a:prstGeom>
          <a:solidFill>
            <a:srgbClr val="253C8C">
              <a:alpha val="7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63440" y="3346704"/>
            <a:ext cx="438912" cy="69494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63440" y="3346704"/>
            <a:ext cx="4389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4B"/>
                </a:solidFill>
              </a:rPr>
              <a:t>09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175504" y="3346704"/>
            <a:ext cx="3611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F"/>
                </a:solidFill>
              </a:rPr>
              <a:t>Model Değerlendirme &amp; ROC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663440" y="4151376"/>
            <a:ext cx="4206240" cy="694944"/>
          </a:xfrm>
          <a:prstGeom prst="rect">
            <a:avLst/>
          </a:prstGeom>
          <a:solidFill>
            <a:srgbClr val="253C8C">
              <a:alpha val="7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663440" y="4151376"/>
            <a:ext cx="438912" cy="69494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63440" y="4151376"/>
            <a:ext cx="4389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4B"/>
                </a:solidFill>
              </a:rPr>
              <a:t>10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175504" y="4151376"/>
            <a:ext cx="3611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F"/>
                </a:solidFill>
              </a:rPr>
              <a:t>SVR &amp; Tüm Modeller Karşılaştırması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28600" y="4956048"/>
            <a:ext cx="8686800" cy="128016"/>
          </a:xfrm>
          <a:prstGeom prst="rect">
            <a:avLst/>
          </a:prstGeom>
          <a:solidFill>
            <a:srgbClr val="00C9A7">
              <a:alpha val="3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28600" y="4956048"/>
            <a:ext cx="8686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+ Pegasos Algoritması (Sıfırdan SVM)  |  Breast Cancer · Iris · Circles · Moons verisi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7315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Nedir? — Maksimum Marjin Prensibi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53C8C"/>
          </a:solidFill>
          <a:ln w="12700">
            <a:solidFill>
              <a:srgbClr val="253C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749808"/>
            <a:ext cx="88239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64592" y="749808"/>
            <a:ext cx="882396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0467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E82"/>
                </a:solidFill>
              </a:rPr>
              <a:t>Temel Soru: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1042416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Birden fazla hiper düzlem iki sınıfı ayırabiliyorsa hangisi en iyidir? SVM'in cevabı: Her iki sınıfa da en uzak mesafede olan — Maksimum Marjin!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64592" y="1371600"/>
            <a:ext cx="2121408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64592" y="1371600"/>
            <a:ext cx="2121408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463040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C9A7"/>
                </a:solidFill>
              </a:rPr>
              <a:t>Hiper Düzlem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1755648"/>
            <a:ext cx="1901952" cy="365760"/>
          </a:xfrm>
          <a:prstGeom prst="rect">
            <a:avLst/>
          </a:prstGeom>
          <a:solidFill>
            <a:srgbClr val="EEF2FF"/>
          </a:solidFill>
          <a:ln w="10160">
            <a:solidFill>
              <a:srgbClr val="00C9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1755648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9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wᵀx + b = 0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74320" y="2157984"/>
            <a:ext cx="19019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Karar sınırı. 2D'de doğru, 3D'de düzlem, yüksek boyutlarda hiper düzlem.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377440" y="1371600"/>
            <a:ext cx="2121408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377440" y="1371600"/>
            <a:ext cx="2121408" cy="6400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87168" y="1463040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F6B"/>
                </a:solidFill>
              </a:rPr>
              <a:t>Marjin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487168" y="1755648"/>
            <a:ext cx="1901952" cy="365760"/>
          </a:xfrm>
          <a:prstGeom prst="rect">
            <a:avLst/>
          </a:prstGeom>
          <a:solidFill>
            <a:srgbClr val="EEF2FF"/>
          </a:solidFill>
          <a:ln w="10160">
            <a:solidFill>
              <a:srgbClr val="FFD1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87168" y="1755648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F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Genişlik = 2/‖w‖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487168" y="2157984"/>
            <a:ext cx="19019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Hiper düzlem ile her iki sınıfın en yakın noktaları arasındaki toplam mesafe.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90288" y="1371600"/>
            <a:ext cx="2121408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90288" y="1371600"/>
            <a:ext cx="2121408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0016" y="1463040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A78BFA"/>
                </a:solidFill>
              </a:rPr>
              <a:t>Destek Vektörleri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00016" y="1755648"/>
            <a:ext cx="1901952" cy="365760"/>
          </a:xfrm>
          <a:prstGeom prst="rect">
            <a:avLst/>
          </a:prstGeom>
          <a:solidFill>
            <a:srgbClr val="EEF2FF"/>
          </a:solidFill>
          <a:ln w="10160">
            <a:solidFill>
              <a:srgbClr val="A78BF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0016" y="1755648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yᵢ(wᵀxᵢ+b) = 1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00016" y="2157984"/>
            <a:ext cx="19019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Marjin sınırında bulunan kritik noktalar. Sadece bunlar modeli tanımlar!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803136" y="1371600"/>
            <a:ext cx="2121408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803136" y="1371600"/>
            <a:ext cx="2121408" cy="64008"/>
          </a:xfrm>
          <a:prstGeom prst="rect">
            <a:avLst/>
          </a:prstGeom>
          <a:solidFill>
            <a:srgbClr val="009E82"/>
          </a:solidFill>
          <a:ln w="12700">
            <a:solidFill>
              <a:srgbClr val="009E8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12864" y="1463040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9E82"/>
                </a:solidFill>
              </a:rPr>
              <a:t>Primal Problem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912864" y="1755648"/>
            <a:ext cx="1901952" cy="365760"/>
          </a:xfrm>
          <a:prstGeom prst="rect">
            <a:avLst/>
          </a:prstGeom>
          <a:solidFill>
            <a:srgbClr val="EEF2FF"/>
          </a:solidFill>
          <a:ln w="10160">
            <a:solidFill>
              <a:srgbClr val="009E8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12864" y="1755648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9E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 ½‖w‖²  s.t. yᵢ(wᵀxᵢ+b)≥1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912864" y="2157984"/>
            <a:ext cx="19019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Marjini maksimize etmek = ‖w‖ minimize etmek. Kısıtlı k凸 optimizasyon.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4592" y="3621024"/>
          <a:ext cx="8823960" cy="1225296"/>
        </p:xfrm>
        <a:graphic>
          <a:graphicData uri="http://schemas.openxmlformats.org/drawingml/2006/table">
            <a:tbl>
              <a:tblPr/>
              <a:tblGrid>
                <a:gridCol w="1554480"/>
                <a:gridCol w="1737360"/>
                <a:gridCol w="1737360"/>
                <a:gridCol w="1737360"/>
                <a:gridCol w="196596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Özellik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Lojistik Reg.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Karar Ağacı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Karar Sınırı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Maks. Marjin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Doğrusal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Dikdörtgen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Non-linear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Ölçeklendirme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Zorunlu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Gerekli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Gerekmez ✅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Zorunlu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Kernel Desteği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Var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Yok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Yok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Uzaklık met.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Bellek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 (SV'ler)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 (w,b)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Tüm veri ❌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5" name="Shape 32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53C8C"/>
          </a:solidFill>
          <a:ln w="12700">
            <a:solidFill>
              <a:srgbClr val="253C8C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164592" y="4887468"/>
            <a:ext cx="8823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💡  Sadece Destek Vektörleri modeli tanımlar — tüm diğer noktalar silinse bile model değişmez!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6459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Maksimum Marjin — Matematiksel Formülasyon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86384"/>
            <a:ext cx="8229600" cy="640080"/>
          </a:xfrm>
          <a:prstGeom prst="rect">
            <a:avLst/>
          </a:prstGeom>
          <a:solidFill>
            <a:srgbClr val="1A2F6B">
              <a:alpha val="70000"/>
            </a:srgbClr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86384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C9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  ½‖w‖²     koşul: yᵢ(wᵀxᵢ + b) ≥ 1  ∀i     Marjin = 2/‖w‖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28600" y="1554480"/>
            <a:ext cx="2852928" cy="1389888"/>
          </a:xfrm>
          <a:prstGeom prst="rect">
            <a:avLst/>
          </a:prstGeom>
          <a:solidFill>
            <a:srgbClr val="1A2F6B">
              <a:alpha val="75000"/>
            </a:srgbClr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645920"/>
            <a:ext cx="2633472" cy="347472"/>
          </a:xfrm>
          <a:prstGeom prst="rect">
            <a:avLst/>
          </a:prstGeom>
          <a:solidFill>
            <a:srgbClr val="000000">
              <a:alpha val="55000"/>
            </a:srgbClr>
          </a:solidFill>
          <a:ln w="10160">
            <a:solidFill>
              <a:srgbClr val="00C9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645920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9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‖w‖ küçüldükçe marjin büyür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7472" y="2029968"/>
            <a:ext cx="263347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F"/>
                </a:solidFill>
              </a:rPr>
              <a:t>Minimizasyon = Marjin Maksimizasyonu! İki hedef aynı problem.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18688" y="1554480"/>
            <a:ext cx="2852928" cy="1389888"/>
          </a:xfrm>
          <a:prstGeom prst="rect">
            <a:avLst/>
          </a:prstGeom>
          <a:solidFill>
            <a:srgbClr val="1A2F6B">
              <a:alpha val="75000"/>
            </a:srgbClr>
          </a:solidFill>
          <a:ln w="19050">
            <a:solidFill>
              <a:srgbClr val="FFD16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37560" y="1645920"/>
            <a:ext cx="2633472" cy="347472"/>
          </a:xfrm>
          <a:prstGeom prst="rect">
            <a:avLst/>
          </a:prstGeom>
          <a:solidFill>
            <a:srgbClr val="000000">
              <a:alpha val="55000"/>
            </a:srgbClr>
          </a:solidFill>
          <a:ln w="10160">
            <a:solidFill>
              <a:srgbClr val="FFD1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1645920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1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Kısıt: yᵢ(wᵀxᵢ+b) ≥ 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37560" y="2029968"/>
            <a:ext cx="263347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F"/>
                </a:solidFill>
              </a:rPr>
              <a:t>Tüm noktalar doğru tarafta ve marjin dışında olmalı. Eşitlik sadece Destek Vektörlerinde aktif.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208776" y="1554480"/>
            <a:ext cx="2852928" cy="1389888"/>
          </a:xfrm>
          <a:prstGeom prst="rect">
            <a:avLst/>
          </a:prstGeom>
          <a:solidFill>
            <a:srgbClr val="1A2F6B">
              <a:alpha val="75000"/>
            </a:srgbClr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27648" y="1645920"/>
            <a:ext cx="2633472" cy="347472"/>
          </a:xfrm>
          <a:prstGeom prst="rect">
            <a:avLst/>
          </a:prstGeom>
          <a:solidFill>
            <a:srgbClr val="000000">
              <a:alpha val="55000"/>
            </a:srgbClr>
          </a:solidFill>
          <a:ln w="10160">
            <a:solidFill>
              <a:srgbClr val="A78B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27648" y="1645920"/>
            <a:ext cx="2633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Destek Vektörü: yᵢ(wᵀxᵢ+b) = 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27648" y="2029968"/>
            <a:ext cx="263347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4FF"/>
                </a:solidFill>
              </a:rPr>
              <a:t>Kısıtı aktif tutan noktalar = Destek Vektörleri. Sadece bunlar w ve b'yi belirler.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28600" y="3054096"/>
            <a:ext cx="8686800" cy="1170432"/>
          </a:xfrm>
          <a:prstGeom prst="rect">
            <a:avLst/>
          </a:prstGeom>
          <a:solidFill>
            <a:srgbClr val="1A2F6B">
              <a:alpha val="75000"/>
            </a:srgbClr>
          </a:solidFill>
          <a:ln w="19050">
            <a:solidFill>
              <a:srgbClr val="FFD1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31272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</a:rPr>
              <a:t>Dual Form (Lagrange):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47472" y="3419856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1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  Σᵢ αᵢ − ½ ΣᵢΣⱼ αᵢαⱼyᵢyⱼK(xᵢ,xⱼ)     koşul: Σᵢ αᵢyᵢ = 0,  αᵢ ≥ 0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47472" y="39136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Dual form avantajı: xᵢᵀxⱼ → K(xᵢ,xⱼ) ile değiştirilebilir → Kernel Trick!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28600" y="4279392"/>
            <a:ext cx="8686800" cy="566928"/>
          </a:xfrm>
          <a:prstGeom prst="rect">
            <a:avLst/>
          </a:prstGeom>
          <a:solidFill>
            <a:srgbClr val="00C9A7">
              <a:alpha val="25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" y="4334256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Marjin Örnek: ‖w‖=1 → Marjin=2  |  ‖w‖=2 → Marjin=1  |  ‖w‖=0.5 → Marjin=4  →  Daha geniş marjin = daha küçük ‖w‖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7315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vs Soft Margin — C Parametresi &amp; Slack Variables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53C8C"/>
          </a:solidFill>
          <a:ln w="12700">
            <a:solidFill>
              <a:srgbClr val="253C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749808"/>
            <a:ext cx="88239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64592" y="749808"/>
            <a:ext cx="882396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0467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Problem: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1042416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Gerçek veride gürültü ve örtüşme nedeniyle Hard Margin çözüm bulamayabilir. Soft Margin aylak değişkenler (ξᵢ ≥ 0) ile hataya izin verir.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64592" y="1353312"/>
            <a:ext cx="8823960" cy="548640"/>
          </a:xfrm>
          <a:prstGeom prst="rect">
            <a:avLst/>
          </a:prstGeom>
          <a:solidFill>
            <a:srgbClr val="EEF2FF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353312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  ½‖w‖² + C Σᵢ ξᵢ     koşul:  yᵢ(wᵀxᵢ+b) ≥ 1−ξᵢ,  ξᵢ ≥ 0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64592" y="1993392"/>
            <a:ext cx="2852928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64592" y="1993392"/>
            <a:ext cx="2852928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084832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97316"/>
                </a:solidFill>
              </a:rPr>
              <a:t>C çok küçük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F97316"/>
                </a:solidFill>
              </a:rPr>
              <a:t>(C → 0)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74320" y="2487168"/>
            <a:ext cx="2633472" cy="237744"/>
          </a:xfrm>
          <a:prstGeom prst="rect">
            <a:avLst/>
          </a:prstGeom>
          <a:solidFill>
            <a:srgbClr val="F97316">
              <a:alpha val="8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487168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</a:rPr>
              <a:t>UNDERFİTTİNG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74320" y="2761488"/>
            <a:ext cx="2633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Çok fazla hata tolere edilir.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Geniş marjin ama yanlış sınıflandırmalar çoğalır.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Az destek vektörü.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3621024"/>
            <a:ext cx="1261872" cy="201168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3621024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Az SV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591056" y="3621024"/>
            <a:ext cx="1261872" cy="201168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591056" y="3621024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Geniş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74320" y="3858768"/>
            <a:ext cx="26334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→ C değerini artır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154680" y="1993392"/>
            <a:ext cx="2852928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154680" y="1993392"/>
            <a:ext cx="2852928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64408" y="2084832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9E82"/>
                </a:solidFill>
              </a:rPr>
              <a:t>C orta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009E82"/>
                </a:solidFill>
              </a:rPr>
              <a:t>(C = 1 default)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264408" y="2487168"/>
            <a:ext cx="2633472" cy="237744"/>
          </a:xfrm>
          <a:prstGeom prst="rect">
            <a:avLst/>
          </a:prstGeom>
          <a:solidFill>
            <a:srgbClr val="22C55E">
              <a:alpha val="7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64408" y="2487168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D1B4B"/>
                </a:solidFill>
              </a:rPr>
              <a:t>DENGE — İDEAL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264408" y="2761488"/>
            <a:ext cx="2633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Hata-marjin dengesi.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Çoğu problem için iyi başlangıç.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Dengeli SV sayısı.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64408" y="3621024"/>
            <a:ext cx="1261872" cy="201168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64408" y="3621024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Orta SV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81144" y="3621024"/>
            <a:ext cx="1261872" cy="201168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81144" y="3621024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Dengeli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264408" y="3858768"/>
            <a:ext cx="26334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GridSearchCV ile bul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144768" y="1993392"/>
            <a:ext cx="2852928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44768" y="1993392"/>
            <a:ext cx="2852928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54496" y="2084832"/>
            <a:ext cx="2633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F4444"/>
                </a:solidFill>
              </a:rPr>
              <a:t>C çok büyük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EF4444"/>
                </a:solidFill>
              </a:rPr>
              <a:t>(C → ∞)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254496" y="2487168"/>
            <a:ext cx="2633472" cy="237744"/>
          </a:xfrm>
          <a:prstGeom prst="rect">
            <a:avLst/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54496" y="2487168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</a:rPr>
              <a:t>OVERFİTTİNG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254496" y="2761488"/>
            <a:ext cx="2633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Her hatayı sıfırlamak ister.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Hard margin benzeri: dar marjin.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Çok fazla destek vektörü.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254496" y="3621024"/>
            <a:ext cx="1261872" cy="201168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54496" y="3621024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Çok SV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571232" y="3621024"/>
            <a:ext cx="1261872" cy="201168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571232" y="3621024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Dar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254496" y="3858768"/>
            <a:ext cx="26334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→ C değerini azalt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53C8C"/>
          </a:solidFill>
          <a:ln w="12700">
            <a:solidFill>
              <a:srgbClr val="253C8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64592" y="4887468"/>
            <a:ext cx="8823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💡  C = 1/λ — Lojistik Regresyon ile aynı anlam!  Küçük C → güçlü regularization → geniş marjin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7315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Hinge Loss — SVM'in Kayıp Fonksiyonu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53C8C"/>
          </a:solidFill>
          <a:ln w="12700">
            <a:solidFill>
              <a:srgbClr val="253C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749808"/>
            <a:ext cx="8823960" cy="548640"/>
          </a:xfrm>
          <a:prstGeom prst="rect">
            <a:avLst/>
          </a:prstGeom>
          <a:solidFill>
            <a:srgbClr val="EEF2FF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749808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L_hinge = max(0,  1 − y·ŷ)     Primal: min  λ/2‖w‖² + (1/N) Σ max(0, 1 − yᵢ(wᵀxᵢ+b))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64592" y="1408176"/>
            <a:ext cx="4251960" cy="3456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64592" y="1408176"/>
            <a:ext cx="425196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49961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4B"/>
                </a:solidFill>
              </a:rPr>
              <a:t>Hinge Loss — Üç Bölge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1901952"/>
            <a:ext cx="128016" cy="12801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86537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C55E"/>
                </a:solidFill>
              </a:rPr>
              <a:t>Bölge 1: z ≥ 1: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206654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Kayıp = 0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Doğru sınıfta, marjin dışında. Model tatmin — gradyan yok.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4320" y="2450592"/>
            <a:ext cx="128016" cy="128016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41401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97316"/>
                </a:solidFill>
              </a:rPr>
              <a:t>Bölge 2: 0 ≤ z &lt; 1: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7200" y="26151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Kayıp = 1 − z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Doğru sınıfta ama marjin içinde. Küçük ceza.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4320" y="2999232"/>
            <a:ext cx="128016" cy="128016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96265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F4444"/>
                </a:solidFill>
              </a:rPr>
              <a:t>Bölge 3: z &lt; 0: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316382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Kayıp = 1 − z &gt; 1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Yanlış sınıfta. Büyük ceza.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74320" y="3547872"/>
            <a:ext cx="128016" cy="128016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51129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C9A7"/>
                </a:solidFill>
              </a:rPr>
              <a:t>Seyreklik: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57200" y="371246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Yalnızca Bölge 2 ve 3'teki noktalar gradyana katkı sağlar → Destek Vektörleri!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74320" y="4096512"/>
            <a:ext cx="128016" cy="128016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05993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C55E"/>
                </a:solidFill>
              </a:rPr>
              <a:t>Konvekslik: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57200" y="426110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Tek global minimum. Gradyan iniş her zaman yakınsar.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572000" y="1408176"/>
            <a:ext cx="4416552" cy="3456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0" y="1408176"/>
            <a:ext cx="4416552" cy="64008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1728" y="1499616"/>
            <a:ext cx="4187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4B"/>
                </a:solidFill>
              </a:rPr>
              <a:t>Hinge vs Cross-Entropy vs MSE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1792224"/>
          <a:ext cx="4416552" cy="1920240"/>
        </p:xfrm>
        <a:graphic>
          <a:graphicData uri="http://schemas.openxmlformats.org/drawingml/2006/table">
            <a:tbl>
              <a:tblPr/>
              <a:tblGrid>
                <a:gridCol w="1188720"/>
                <a:gridCol w="1005840"/>
                <a:gridCol w="1280160"/>
                <a:gridCol w="941832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Hinge (SVM)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Cross-Entropy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Görev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Sınıflandırma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Sınıflandırma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Regresyon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z≥1 kayıp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✅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 zaman &gt; 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Seyrek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Evet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Hayır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Hayır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Olasılık verir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Hayır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Evet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Hayır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Konveks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Büyük hata ceza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Doğrusal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Logaritmik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Karesel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Shape 27"/>
          <p:cNvSpPr/>
          <p:nvPr/>
        </p:nvSpPr>
        <p:spPr>
          <a:xfrm>
            <a:off x="4572000" y="3730752"/>
            <a:ext cx="4416552" cy="1024128"/>
          </a:xfrm>
          <a:prstGeom prst="rect">
            <a:avLst/>
          </a:prstGeom>
          <a:solidFill>
            <a:srgbClr val="EEF2FF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681728" y="3803904"/>
            <a:ext cx="4187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4B"/>
                </a:solidFill>
              </a:rPr>
              <a:t>Pegasos Güncellemesi: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4681728" y="4041648"/>
            <a:ext cx="4187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Öğrenme hızı: ηₜ = 1/(λt)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Eğer yᵢ(wᵀxᵢ+b) &lt; 1 (hinge aktif):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 ← w − ηₜλw + ηₜyᵢxᵢ  |  b ← b + ηₜyᵢ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Aksi hâlde (marjin dışı):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 ← w − ηₜλw  (sadece regularization)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53C8C"/>
          </a:solidFill>
          <a:ln w="12700">
            <a:solidFill>
              <a:srgbClr val="253C8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64592" y="4887468"/>
            <a:ext cx="8823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⭐  Hinge Loss'un seyrekliği SVM'i verimli kılar: Sadece marjin içindeki / yanlış sınıftaki noktalar modeli şekillendirir.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6459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Trick — Düşük Boyuttan Yüksek Boyuta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86384"/>
            <a:ext cx="8229600" cy="603504"/>
          </a:xfrm>
          <a:prstGeom prst="rect">
            <a:avLst/>
          </a:prstGeom>
          <a:solidFill>
            <a:srgbClr val="1A2F6B">
              <a:alpha val="70000"/>
            </a:srgbClr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86384"/>
            <a:ext cx="8229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K(x, z) = φ(x)ᵀφ(z)     φ(·) hiç hesaplanmaz!  Sadece iç çarpım hesaplanır.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28600" y="1499616"/>
            <a:ext cx="4251960" cy="932688"/>
          </a:xfrm>
          <a:prstGeom prst="rect">
            <a:avLst/>
          </a:prstGeom>
          <a:solidFill>
            <a:srgbClr val="1A2F6B">
              <a:alpha val="75000"/>
            </a:srgbClr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572768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❌ Problem: Doğrusal Ayrılamayan Veri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47472" y="1847088"/>
            <a:ext cx="40050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2D'de iç içe daireler, ay şekli gibi yapılar doğrusal hiper düzlemle ayrılamaz.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63440" y="1499616"/>
            <a:ext cx="4251960" cy="932688"/>
          </a:xfrm>
          <a:prstGeom prst="rect">
            <a:avLst/>
          </a:prstGeom>
          <a:solidFill>
            <a:srgbClr val="1A2F6B">
              <a:alpha val="75000"/>
            </a:srgbClr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82312" y="1572768"/>
            <a:ext cx="4005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</a:rPr>
              <a:t>✅ Çözüm: Kernel Trick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82312" y="1847088"/>
            <a:ext cx="40050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φ(x) ile açıkça yüksek boyuta çıkmak pahalı. K(x,z) bu çarpımı dolaylı hesaplar. RBF ile sonsuz boyut bile mümkün!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28600" y="2542032"/>
            <a:ext cx="8686800" cy="1170432"/>
          </a:xfrm>
          <a:prstGeom prst="rect">
            <a:avLst/>
          </a:prstGeom>
          <a:solidFill>
            <a:srgbClr val="1A2F6B">
              <a:alpha val="75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261518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166"/>
                </a:solidFill>
              </a:rPr>
              <a:t>Somut Örnek — Polinom Kernel d=2: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7472" y="2907792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1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φ(x₁, x₂) = (x₁², √2 x₁x₂, x₂²)     K(x,z) = (xᵀz)²  =  φ(x)ᵀφ(z)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7472" y="334670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2D'den 3D'ye dönüşüm yapmak yerine sadece iç çarpımı kareye almak yeterli!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28600" y="3749040"/>
            <a:ext cx="8686800" cy="1097280"/>
          </a:xfrm>
          <a:prstGeom prst="rect">
            <a:avLst/>
          </a:prstGeom>
          <a:solidFill>
            <a:srgbClr val="00C9A7">
              <a:alpha val="25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382219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A7"/>
                </a:solidFill>
              </a:rPr>
              <a:t>Mercer Koşulu: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874520" y="3822192"/>
            <a:ext cx="6903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Bir fonksiyonun geçerli kernel sayılabilmesi için simetrik ve pozitif yarı-kesin olması gerekir. Bu koşul, fonksiyonun bir iç çarpıma karşılık geldiğini garantiler.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47472" y="4334256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166"/>
                </a:solidFill>
              </a:rPr>
              <a:t>Özetle: Dual problemdeki xᵢᵀxⱼ iç çarpımını K(xᵢ,xⱼ) ile değiştirmek yeterli!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7315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Türleri — Formüller, Parametreler &amp; Seçim Rehberi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53C8C"/>
          </a:solidFill>
          <a:ln w="12700">
            <a:solidFill>
              <a:srgbClr val="253C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749808"/>
            <a:ext cx="88239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64592" y="749808"/>
            <a:ext cx="8823960" cy="64008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22960"/>
            <a:ext cx="8503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Her kernel veriyi farklı bir yüksek boyutlu uzaya map'ler. Veri yapısına uygun kernel seçmek kritiktir.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64592" y="1316736"/>
            <a:ext cx="425196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64592" y="1316736"/>
            <a:ext cx="425196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40817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A7"/>
                </a:solidFill>
              </a:rPr>
              <a:t>Linear Kernel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1682496"/>
            <a:ext cx="4023360" cy="329184"/>
          </a:xfrm>
          <a:prstGeom prst="rect">
            <a:avLst/>
          </a:prstGeom>
          <a:solidFill>
            <a:srgbClr val="EEF2FF"/>
          </a:solidFill>
          <a:ln w="10160">
            <a:solidFill>
              <a:srgbClr val="00C9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168249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9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K(x,z) = xᵀz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4320" y="2029968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Parametre yok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74320" y="2231136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Metin sınıflandırma (TF-IDF)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yüksek boyut, büyük 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2907792"/>
            <a:ext cx="4023360" cy="128016"/>
          </a:xfrm>
          <a:prstGeom prst="rect">
            <a:avLst/>
          </a:prstGeom>
          <a:solidFill>
            <a:srgbClr val="00C9A7">
              <a:alpha val="3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907792"/>
            <a:ext cx="4023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SVC(kernel='linear', C=1.0)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4645152" y="1316736"/>
            <a:ext cx="425196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45152" y="1316736"/>
            <a:ext cx="4251960" cy="6400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140817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F6B"/>
                </a:solidFill>
              </a:rPr>
              <a:t>RBF (Gauss) Kernel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1682496"/>
            <a:ext cx="4023360" cy="329184"/>
          </a:xfrm>
          <a:prstGeom prst="rect">
            <a:avLst/>
          </a:prstGeom>
          <a:solidFill>
            <a:srgbClr val="EEF2FF"/>
          </a:solidFill>
          <a:ln w="10160">
            <a:solidFill>
              <a:srgbClr val="FFD16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168249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F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K(x,z) = exp(−γ‖x−z‖²)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54880" y="2029968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γ: Kernel genişliği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754880" y="2231136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Genel amaçlı default!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Orta boyut, N &lt; 100K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754880" y="2907792"/>
            <a:ext cx="4023360" cy="128016"/>
          </a:xfrm>
          <a:prstGeom prst="rect">
            <a:avLst/>
          </a:prstGeom>
          <a:solidFill>
            <a:srgbClr val="FFD166">
              <a:alpha val="3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2907792"/>
            <a:ext cx="4023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SVC(kernel='rbf', gamma='scale')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164592" y="3182112"/>
            <a:ext cx="425196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164592" y="3182112"/>
            <a:ext cx="4251960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327355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</a:rPr>
              <a:t>Polynomial Kernel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4320" y="3547872"/>
            <a:ext cx="4023360" cy="329184"/>
          </a:xfrm>
          <a:prstGeom prst="rect">
            <a:avLst/>
          </a:prstGeom>
          <a:solidFill>
            <a:srgbClr val="EEF2FF"/>
          </a:solidFill>
          <a:ln w="10160">
            <a:solidFill>
              <a:srgbClr val="A78BF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3547872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K(x,z) = (γxᵀz + r)ᵈ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74320" y="3895344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d: derece, r: sabit (coef0)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274320" y="4096512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Görüntü işleme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Polinom ilişki bilinen alan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74320" y="4773168"/>
            <a:ext cx="4023360" cy="128016"/>
          </a:xfrm>
          <a:prstGeom prst="rect">
            <a:avLst/>
          </a:prstGeom>
          <a:solidFill>
            <a:srgbClr val="A78BFA">
              <a:alpha val="3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4773168"/>
            <a:ext cx="4023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SVC(kernel='poly', degree=3)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4645152" y="3182112"/>
            <a:ext cx="425196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645152" y="3182112"/>
            <a:ext cx="4251960" cy="64008"/>
          </a:xfrm>
          <a:prstGeom prst="rect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0" y="327355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7185"/>
                </a:solidFill>
              </a:rPr>
              <a:t>Sigmoid Kernel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754880" y="3547872"/>
            <a:ext cx="4023360" cy="329184"/>
          </a:xfrm>
          <a:prstGeom prst="rect">
            <a:avLst/>
          </a:prstGeom>
          <a:solidFill>
            <a:srgbClr val="EEF2FF"/>
          </a:solidFill>
          <a:ln w="10160">
            <a:solidFill>
              <a:srgbClr val="FB718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54880" y="3547872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71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K(x,z) = tanh(γxᵀz + r)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754880" y="3895344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γ, r parametreleri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4754880" y="4096512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NLP (nadiren)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Sinir ağı karşılaştırması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754880" y="4773168"/>
            <a:ext cx="4023360" cy="128016"/>
          </a:xfrm>
          <a:prstGeom prst="rect">
            <a:avLst/>
          </a:prstGeom>
          <a:solidFill>
            <a:srgbClr val="FB7185">
              <a:alpha val="30000"/>
            </a:srgbClr>
          </a:solidFill>
          <a:ln w="12700">
            <a:solidFill>
              <a:srgbClr val="FB718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54880" y="4773168"/>
            <a:ext cx="4023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SVC(kernel='sigmoid')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53C8C"/>
          </a:solidFill>
          <a:ln w="12700">
            <a:solidFill>
              <a:srgbClr val="253C8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64592" y="4887468"/>
            <a:ext cx="8823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Seçim Kuralı: Büyük veri → Linear  |  Genel → RBF (default)  |  Polinom bilinen → Poly  |  Her zaman GridSearchCV ile doğrula!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7315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× γ Hiperparametre Analizi — RBF Kernel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53C8C"/>
          </a:solidFill>
          <a:ln w="12700">
            <a:solidFill>
              <a:srgbClr val="253C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749808"/>
            <a:ext cx="88239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64592" y="749808"/>
            <a:ext cx="8823960" cy="6400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2296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RBF Kernel için C ve γ birlikte optimize edilmeli — ikisi birbirini etkiler. GridSearchCV ile 2D arama gerekir.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4592" y="1353312"/>
          <a:ext cx="8823960" cy="932688"/>
        </p:xfrm>
        <a:graphic>
          <a:graphicData uri="http://schemas.openxmlformats.org/drawingml/2006/table">
            <a:tbl>
              <a:tblPr/>
              <a:tblGrid>
                <a:gridCol w="1005840"/>
                <a:gridCol w="2103120"/>
                <a:gridCol w="1737360"/>
                <a:gridCol w="1737360"/>
                <a:gridCol w="233172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 Kontrol Eder?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Küçük değer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Büyük değer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Marjin-hata dengesi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Geniş marjin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hata tolere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Dar marjin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 margin benzeri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Küçük → underfit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Büyük → overfit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γ (gamma)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Kernel genişliği (etki yarıçapı)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 etki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yumuşak sınır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Lokal etki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keskin sınır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Küçük → underfit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Büyük → overfit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164592" y="2377440"/>
            <a:ext cx="42519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164592" y="2377440"/>
            <a:ext cx="425196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74320" y="246888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C büyük  +  γ büyük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072384" y="2450592"/>
            <a:ext cx="1234440" cy="292608"/>
          </a:xfrm>
          <a:prstGeom prst="rect">
            <a:avLst/>
          </a:prstGeom>
          <a:solidFill>
            <a:srgbClr val="EF4444">
              <a:alpha val="7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072384" y="245059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4B"/>
                </a:solidFill>
              </a:rPr>
              <a:t>OVERFIT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274320" y="2761488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Dar marjin + Keskin kernel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Veri noktalarına yapışır.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Train=%100, Test düşük.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645152" y="2377440"/>
            <a:ext cx="42519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645152" y="2377440"/>
            <a:ext cx="425196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754880" y="246888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A7"/>
                </a:solidFill>
              </a:rPr>
              <a:t>C büyük  +  γ küçük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7552944" y="2450592"/>
            <a:ext cx="1234440" cy="292608"/>
          </a:xfrm>
          <a:prstGeom prst="rect">
            <a:avLst/>
          </a:prstGeom>
          <a:solidFill>
            <a:srgbClr val="00C9A7">
              <a:alpha val="7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552944" y="245059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4B"/>
                </a:solidFill>
              </a:rPr>
              <a:t>İYİ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754880" y="2761488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Dar marjin + Global kernel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Nisbeten dengeli.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Yüksek N için işe yarar.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164592" y="3657600"/>
            <a:ext cx="42519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164592" y="3657600"/>
            <a:ext cx="425196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74320" y="374904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</a:rPr>
              <a:t>C küçük  +  γ büyük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3072384" y="3730752"/>
            <a:ext cx="1234440" cy="292608"/>
          </a:xfrm>
          <a:prstGeom prst="rect">
            <a:avLst/>
          </a:prstGeom>
          <a:solidFill>
            <a:srgbClr val="F97316">
              <a:alpha val="7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072384" y="373075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4B"/>
                </a:solidFill>
              </a:rPr>
              <a:t>KARIŞIK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274320" y="4041648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Geniş marjin ama keskin kernel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Denge kurmak zor.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Nadir optimal.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4645152" y="3657600"/>
            <a:ext cx="42519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4645152" y="3657600"/>
            <a:ext cx="4251960" cy="6400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754880" y="374904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C küçük  +  γ küçük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7552944" y="3730752"/>
            <a:ext cx="1234440" cy="292608"/>
          </a:xfrm>
          <a:prstGeom prst="rect">
            <a:avLst/>
          </a:prstGeom>
          <a:solidFill>
            <a:srgbClr val="64748B">
              <a:alpha val="70000"/>
            </a:srgbClr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552944" y="373075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UNDERFIT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4754880" y="4041648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Geniş marjin + Global kernel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Model çok basit.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Train ve Test düşük.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164592" y="4974336"/>
            <a:ext cx="8823960" cy="128016"/>
          </a:xfrm>
          <a:prstGeom prst="rect">
            <a:avLst/>
          </a:prstGeom>
          <a:solidFill>
            <a:srgbClr val="253C8C">
              <a:alpha val="8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256032" y="4974336"/>
            <a:ext cx="8595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GridSearchCV: param_grid={'C':[0.1,1,10,100], 'gamma':['scale','auto',0.01,0.1], 'kernel':['rbf','linear']}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7315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Karar Sınırları — Kernel Etkisinin Görsel Karşılaştırması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53C8C"/>
          </a:solidFill>
          <a:ln w="12700">
            <a:solidFill>
              <a:srgbClr val="253C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" y="749808"/>
            <a:ext cx="8823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</a:rPr>
              <a:t>Doğrusal olmayan veriler için kernel seçimi karar sınırının şeklini tamamen değiştirir.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64592" y="1042416"/>
            <a:ext cx="4251960" cy="384048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64592" y="1042416"/>
            <a:ext cx="425196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13385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4B"/>
                </a:solidFill>
              </a:rPr>
              <a:t>Circles &amp; Moons — Kernel Zorunluluğu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4592" y="1426464"/>
          <a:ext cx="4251960" cy="1188720"/>
        </p:xfrm>
        <a:graphic>
          <a:graphicData uri="http://schemas.openxmlformats.org/drawingml/2006/table">
            <a:tbl>
              <a:tblPr/>
              <a:tblGrid>
                <a:gridCol w="896112"/>
                <a:gridCol w="1005840"/>
                <a:gridCol w="914400"/>
                <a:gridCol w="1435608"/>
              </a:tblGrid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Kernel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Circles Acc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Moons Acc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Yorum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~50% ❌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~88% ⚠️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Circles'ı hiç ayıramaz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RBF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~97% ✅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~98% ✅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 ikisinde mükemmel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A78B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Poly d=3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~93% ✅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~96% ✅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İyi ama RBF kadar değil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B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Sigmoid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~70% ⚠️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~88% ⚠️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Güvenilmez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274320" y="267004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4B"/>
                </a:solidFill>
              </a:rPr>
              <a:t>Neden Linear Circles'da Başarısız?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274320" y="2962656"/>
            <a:ext cx="40233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İç içe daire yapısı → Doğrusal sınır iki sınıfı ayıramaz. RBF kernel her noktanın çevresinde küresel bir etki alanı oluşturur — daire yapılarını ayırt edebilir.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74320" y="3621024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4B"/>
                </a:solidFill>
              </a:rPr>
              <a:t>γ Etkisi — Iris Verisi:</a:t>
            </a:r>
            <a:endParaRPr lang="en-US" sz="10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4592" y="3895344"/>
          <a:ext cx="4251960" cy="932688"/>
        </p:xfrm>
        <a:graphic>
          <a:graphicData uri="http://schemas.openxmlformats.org/drawingml/2006/table">
            <a:tbl>
              <a:tblPr/>
              <a:tblGrid>
                <a:gridCol w="1188720"/>
                <a:gridCol w="640080"/>
                <a:gridCol w="914400"/>
                <a:gridCol w="1508760"/>
              </a:tblGrid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Kernel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 Sayısı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Sonuç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Düz sınır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RBF γ=scale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Dengeli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RBF γ=10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Overfit ⚠️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Poly d=3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İyi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Shape 11"/>
          <p:cNvSpPr/>
          <p:nvPr/>
        </p:nvSpPr>
        <p:spPr>
          <a:xfrm>
            <a:off x="4572000" y="1042416"/>
            <a:ext cx="4416552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572000" y="1042416"/>
            <a:ext cx="4416552" cy="6400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681728" y="1133856"/>
            <a:ext cx="4187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4B"/>
                </a:solidFill>
              </a:rPr>
              <a:t>Karar Sınırı Özellikleri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4572000" y="1444752"/>
            <a:ext cx="64008" cy="73152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663440" y="1444752"/>
            <a:ext cx="4315968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4773168" y="149961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A7"/>
                </a:solidFill>
              </a:rPr>
              <a:t>Linear Kernel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4773168" y="1737360"/>
            <a:ext cx="4096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Düz hiper düzlem. Tek bir doğru/düzlem. Yüksek boyutta güçlüdür.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4572000" y="2267712"/>
            <a:ext cx="64008" cy="73152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663440" y="2267712"/>
            <a:ext cx="4315968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>
            <a:off x="4773168" y="232257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F6B"/>
                </a:solidFill>
              </a:rPr>
              <a:t>RBF Kernel (γ küçük)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4773168" y="2560320"/>
            <a:ext cx="4096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Yumuşak, organik eğriler. Global etki — her nokta uzaktaki noktaları etkiler.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4572000" y="3090672"/>
            <a:ext cx="64008" cy="7315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4663440" y="3090672"/>
            <a:ext cx="4315968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4"/>
          <p:cNvSpPr/>
          <p:nvPr/>
        </p:nvSpPr>
        <p:spPr>
          <a:xfrm>
            <a:off x="4773168" y="314553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RBF Kernel (γ büyük)</a:t>
            </a:r>
            <a:endParaRPr lang="en-US" sz="1000" dirty="0"/>
          </a:p>
        </p:txBody>
      </p:sp>
      <p:sp>
        <p:nvSpPr>
          <p:cNvPr id="29" name="Text 25"/>
          <p:cNvSpPr/>
          <p:nvPr/>
        </p:nvSpPr>
        <p:spPr>
          <a:xfrm>
            <a:off x="4773168" y="3383280"/>
            <a:ext cx="4096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Çok keskin, düzensiz sınır. Her nokta sadece yakın komşuları etkiler → ezber.</a:t>
            </a:r>
            <a:endParaRPr lang="en-US" sz="900" dirty="0"/>
          </a:p>
        </p:txBody>
      </p:sp>
      <p:sp>
        <p:nvSpPr>
          <p:cNvPr id="30" name="Shape 26"/>
          <p:cNvSpPr/>
          <p:nvPr/>
        </p:nvSpPr>
        <p:spPr>
          <a:xfrm>
            <a:off x="4572000" y="3913632"/>
            <a:ext cx="64008" cy="7315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4663440" y="3913632"/>
            <a:ext cx="4315968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28"/>
          <p:cNvSpPr/>
          <p:nvPr/>
        </p:nvSpPr>
        <p:spPr>
          <a:xfrm>
            <a:off x="4773168" y="3968496"/>
            <a:ext cx="4096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</a:rPr>
              <a:t>Poly Kernel d=3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4773168" y="4206240"/>
            <a:ext cx="4096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Polinom eğriler. Düzgün ve yorumlanabilir sınır. d artınca karmaşıklaşır.</a:t>
            </a:r>
            <a:endParaRPr lang="en-US" sz="900" dirty="0"/>
          </a:p>
        </p:txBody>
      </p:sp>
      <p:sp>
        <p:nvSpPr>
          <p:cNvPr id="34" name="Shape 30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53C8C"/>
          </a:solidFill>
          <a:ln w="12700">
            <a:solidFill>
              <a:srgbClr val="253C8C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164592" y="4887468"/>
            <a:ext cx="8823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💡  Kural: Önce RBF kernel + C=1 + gamma='scale' ile başla. Sonra GridSearchCV ile optimize et.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7315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Değerlendirme — Confusion Matrix &amp; ROC Eğrisi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53C8C"/>
          </a:solidFill>
          <a:ln w="12700">
            <a:solidFill>
              <a:srgbClr val="253C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749808"/>
            <a:ext cx="42519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64592" y="749808"/>
            <a:ext cx="4251960" cy="64008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4124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4B"/>
                </a:solidFill>
              </a:rPr>
              <a:t>Confusion Matrix — Breast Cancer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170432"/>
            <a:ext cx="1901952" cy="877824"/>
          </a:xfrm>
          <a:prstGeom prst="rect">
            <a:avLst/>
          </a:prstGeom>
          <a:solidFill>
            <a:srgbClr val="22C55E">
              <a:alpha val="35000"/>
            </a:srgbClr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170432"/>
            <a:ext cx="190195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1B4B"/>
                </a:solidFill>
              </a:rPr>
              <a:t>TP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D1B4B"/>
                </a:solidFill>
              </a:rPr>
              <a:t>Gerçek +, Tahmin +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D1B4B"/>
                </a:solidFill>
              </a:rPr>
              <a:t>Doğru Pozitif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212848" y="1170432"/>
            <a:ext cx="1901952" cy="877824"/>
          </a:xfrm>
          <a:prstGeom prst="rect">
            <a:avLst/>
          </a:prstGeom>
          <a:solidFill>
            <a:srgbClr val="EF4444">
              <a:alpha val="35000"/>
            </a:srgbClr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12848" y="1170432"/>
            <a:ext cx="190195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1B4B"/>
                </a:solidFill>
              </a:rPr>
              <a:t>FN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D1B4B"/>
                </a:solidFill>
              </a:rPr>
              <a:t>Gerçek +, Tahmin −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D1B4B"/>
                </a:solidFill>
              </a:rPr>
              <a:t>Yanlış Negatif (Tip II)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74320" y="2103120"/>
            <a:ext cx="1901952" cy="877824"/>
          </a:xfrm>
          <a:prstGeom prst="rect">
            <a:avLst/>
          </a:prstGeom>
          <a:solidFill>
            <a:srgbClr val="F97316">
              <a:alpha val="35000"/>
            </a:srgbClr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103120"/>
            <a:ext cx="190195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1B4B"/>
                </a:solidFill>
              </a:rPr>
              <a:t>FP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D1B4B"/>
                </a:solidFill>
              </a:rPr>
              <a:t>Gerçek −, Tahmin +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D1B4B"/>
                </a:solidFill>
              </a:rPr>
              <a:t>Yanlış Pozitif (Tip I)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212848" y="2103120"/>
            <a:ext cx="1901952" cy="877824"/>
          </a:xfrm>
          <a:prstGeom prst="rect">
            <a:avLst/>
          </a:prstGeom>
          <a:solidFill>
            <a:srgbClr val="00C9A7">
              <a:alpha val="35000"/>
            </a:srgbClr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12848" y="2103120"/>
            <a:ext cx="190195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1B4B"/>
                </a:solidFill>
              </a:rPr>
              <a:t>TN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D1B4B"/>
                </a:solidFill>
              </a:rPr>
              <a:t>Gerçek −, Tahmin −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D1B4B"/>
                </a:solidFill>
              </a:rPr>
              <a:t>Doğru Negatif</a:t>
            </a:r>
            <a:endParaRPr lang="en-US" sz="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4592" y="3108960"/>
          <a:ext cx="4251960" cy="1572768"/>
        </p:xfrm>
        <a:graphic>
          <a:graphicData uri="http://schemas.openxmlformats.org/drawingml/2006/table">
            <a:tbl>
              <a:tblPr/>
              <a:tblGrid>
                <a:gridCol w="1234440"/>
                <a:gridCol w="1463040"/>
                <a:gridCol w="155448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Formül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 Ölçer?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(TP+TN)/N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Genel doğruluk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C9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TP/(TP+FP)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 maliyetliyse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TP/(TP+FN)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FN maliyetliyse ⚕️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D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Score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2·P·R/(P+R)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Genel denge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A78B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AUC-ROC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∫TPR d(FPR)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Eşik bağımsız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Shape 15"/>
          <p:cNvSpPr/>
          <p:nvPr/>
        </p:nvSpPr>
        <p:spPr>
          <a:xfrm>
            <a:off x="4572000" y="749808"/>
            <a:ext cx="4416552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572000" y="749808"/>
            <a:ext cx="4416552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681728" y="841248"/>
            <a:ext cx="4187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4B"/>
                </a:solidFill>
              </a:rPr>
              <a:t>ROC Eğrisi &amp; AUC — Breast Cancer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681728" y="1170432"/>
            <a:ext cx="2560320" cy="128016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681728" y="1170432"/>
            <a:ext cx="2555199" cy="128016"/>
          </a:xfrm>
          <a:prstGeom prst="rect">
            <a:avLst/>
          </a:prstGeom>
          <a:solidFill>
            <a:srgbClr val="EF4444">
              <a:alpha val="5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681728" y="131673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SVM RBF (GridSearch Best)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7909560" y="1316736"/>
            <a:ext cx="98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F4444"/>
                </a:solidFill>
              </a:rPr>
              <a:t>AUC=~0.998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681728" y="1645920"/>
            <a:ext cx="2560320" cy="128016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681728" y="1645920"/>
            <a:ext cx="2547518" cy="128016"/>
          </a:xfrm>
          <a:prstGeom prst="rect">
            <a:avLst/>
          </a:prstGeom>
          <a:solidFill>
            <a:srgbClr val="00C9A7">
              <a:alpha val="5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681728" y="179222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SVM Linear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7909560" y="1792224"/>
            <a:ext cx="98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C9A7"/>
                </a:solidFill>
              </a:rPr>
              <a:t>AUC=~0.995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4681728" y="2121408"/>
            <a:ext cx="2560320" cy="128016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681728" y="2121408"/>
            <a:ext cx="2547518" cy="128016"/>
          </a:xfrm>
          <a:prstGeom prst="rect">
            <a:avLst/>
          </a:prstGeom>
          <a:solidFill>
            <a:srgbClr val="60A5FA">
              <a:alpha val="50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681728" y="2267712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Lojistik Reg. (L2)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7909560" y="2267712"/>
            <a:ext cx="98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0A5FA"/>
                </a:solidFill>
              </a:rPr>
              <a:t>AUC=~0.995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4681728" y="2596896"/>
            <a:ext cx="2560320" cy="128016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681728" y="2596896"/>
            <a:ext cx="2529596" cy="128016"/>
          </a:xfrm>
          <a:prstGeom prst="rect">
            <a:avLst/>
          </a:prstGeom>
          <a:solidFill>
            <a:srgbClr val="FFD166">
              <a:alpha val="5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681728" y="274320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KNN (K=7)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7909560" y="2743200"/>
            <a:ext cx="98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D166"/>
                </a:solidFill>
              </a:rPr>
              <a:t>AUC=~0.988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4681728" y="3072384"/>
            <a:ext cx="2560320" cy="128016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681728" y="3072384"/>
            <a:ext cx="2447666" cy="128016"/>
          </a:xfrm>
          <a:prstGeom prst="rect">
            <a:avLst/>
          </a:prstGeom>
          <a:solidFill>
            <a:srgbClr val="F97316">
              <a:alpha val="50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681728" y="321868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Karar Ağacı (d=5)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7909560" y="3218688"/>
            <a:ext cx="98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97316"/>
                </a:solidFill>
              </a:rPr>
              <a:t>AUC=~0.956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4681728" y="3547872"/>
            <a:ext cx="2560320" cy="128016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4681728" y="3547872"/>
            <a:ext cx="2539837" cy="128016"/>
          </a:xfrm>
          <a:prstGeom prst="rect">
            <a:avLst/>
          </a:prstGeom>
          <a:solidFill>
            <a:srgbClr val="A78BFA">
              <a:alpha val="50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681728" y="369417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Gaussian NB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7909560" y="3694176"/>
            <a:ext cx="987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78BFA"/>
                </a:solidFill>
              </a:rPr>
              <a:t>AUC=~0.992</a:t>
            </a: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4572000" y="4133088"/>
            <a:ext cx="4416552" cy="621792"/>
          </a:xfrm>
          <a:prstGeom prst="rect">
            <a:avLst/>
          </a:prstGeom>
          <a:solidFill>
            <a:srgbClr val="EEF2FF"/>
          </a:solidFill>
          <a:ln w="10160">
            <a:solidFill>
              <a:srgbClr val="00C9A7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4681728" y="4187952"/>
            <a:ext cx="4187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1B4B"/>
                </a:solidFill>
              </a:rPr>
              <a:t>SVM'de Olasılık Tahmini:</a:t>
            </a:r>
            <a:endParaRPr lang="en-US" sz="950" dirty="0"/>
          </a:p>
        </p:txBody>
      </p:sp>
      <p:sp>
        <p:nvSpPr>
          <p:cNvPr id="47" name="Text 44"/>
          <p:cNvSpPr/>
          <p:nvPr/>
        </p:nvSpPr>
        <p:spPr>
          <a:xfrm>
            <a:off x="4681728" y="4407408"/>
            <a:ext cx="4187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probability=True ayarı Platt scaling kullanır → Yavaşlatır!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ROC için gerekli değilse probability=False kullan.</a:t>
            </a:r>
            <a:endParaRPr lang="en-US" sz="900" dirty="0"/>
          </a:p>
        </p:txBody>
      </p:sp>
      <p:sp>
        <p:nvSpPr>
          <p:cNvPr id="48" name="Shape 45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53C8C"/>
          </a:solidFill>
          <a:ln w="12700">
            <a:solidFill>
              <a:srgbClr val="253C8C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164592" y="4887468"/>
            <a:ext cx="8823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⚕️  Kanser tespitinde Recall (Sensitivity) öncelikli — yanlış negatif (FN) kabul edilemez hata!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7315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SVR (Regresyon) &amp; Tüm Modeller Karşılaştırması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53C8C"/>
          </a:solidFill>
          <a:ln w="12700">
            <a:solidFill>
              <a:srgbClr val="253C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749808"/>
            <a:ext cx="425196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64592" y="749808"/>
            <a:ext cx="4251960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4124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4B"/>
                </a:solidFill>
              </a:rPr>
              <a:t>SVR — ε-insensitive Kayıp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133856"/>
            <a:ext cx="4023360" cy="475488"/>
          </a:xfrm>
          <a:prstGeom prst="rect">
            <a:avLst/>
          </a:prstGeom>
          <a:solidFill>
            <a:srgbClr val="EEF2FF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133856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L_ε(y, ŷ) = max(0,  |y − ŷ| − ε)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4320" y="1719072"/>
            <a:ext cx="118872" cy="11887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68249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78BFA"/>
                </a:solidFill>
              </a:rPr>
              <a:t>|y−ŷ| ≤ ε  →  Kayıp = 0: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188366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ε-tüpü içindeki tahminler sıfır kayıplı. Bu bölgedeki noktalar SV olmaz.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4320" y="2212848"/>
            <a:ext cx="118872" cy="11887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17627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78BFA"/>
                </a:solidFill>
              </a:rPr>
              <a:t>|y−ŷ| &gt; ε  →  Kayıp = |hata|−ε: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7200" y="23774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Tüp dışındaki noktalar destek vektörü olur. Kayıp doğrusal büyür.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4320" y="2706624"/>
            <a:ext cx="118872" cy="11887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67004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78BFA"/>
                </a:solidFill>
              </a:rPr>
              <a:t>C: Ceza katsayısı: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287121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Büyük C → tüp dışı noktaları daha çok cezalandır → ε küçülür.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74320" y="3200400"/>
            <a:ext cx="118872" cy="11887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16382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78BFA"/>
                </a:solidFill>
              </a:rPr>
              <a:t>ε: Tüp yarıçapı: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57200" y="33649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Büyük ε → daha toleranslı, az SV. Küçük ε → hassas, çok SV.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74320" y="3694176"/>
            <a:ext cx="118872" cy="11887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65760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A78BFA"/>
                </a:solidFill>
              </a:rPr>
              <a:t>kernel: rbf / linear / poly: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57200" y="38587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Doğrusal olmayan regresyon için rbf önerilir.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164592" y="4334256"/>
            <a:ext cx="4251960" cy="475488"/>
          </a:xfrm>
          <a:prstGeom prst="rect">
            <a:avLst/>
          </a:prstGeom>
          <a:solidFill>
            <a:srgbClr val="EEF2FF"/>
          </a:solidFill>
          <a:ln w="10160">
            <a:solidFill>
              <a:srgbClr val="A78BF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3891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4B"/>
                </a:solidFill>
              </a:rPr>
              <a:t>SVR sklearn: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417320" y="4389120"/>
            <a:ext cx="2880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SVR(kernel='rbf', C=1.0, epsilon=0.1)  |  ε küçültmek = daha hassas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572000" y="749808"/>
            <a:ext cx="4416552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0" y="749808"/>
            <a:ext cx="4416552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81728" y="841248"/>
            <a:ext cx="4187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4B"/>
                </a:solidFill>
              </a:rPr>
              <a:t>Breast Cancer — 7 Model Karşılaştırması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1133856"/>
          <a:ext cx="4416552" cy="2231136"/>
        </p:xfrm>
        <a:graphic>
          <a:graphicData uri="http://schemas.openxmlformats.org/drawingml/2006/table">
            <a:tbl>
              <a:tblPr/>
              <a:tblGrid>
                <a:gridCol w="1645920"/>
                <a:gridCol w="1005840"/>
                <a:gridCol w="868680"/>
                <a:gridCol w="896112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 F1 Ort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Acc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Hız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 GS Best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~0.990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~0.991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Orta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C9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 RBF (C=1)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~0.985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~0.982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Orta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C9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 Linear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~0.982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~0.965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Hızlı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60A5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Lojistik Reg.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~0.985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~0.982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Hızlı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D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 (K=7)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~0.975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~0.956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Yavaş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Karar Ağacı d=5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~0.945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~0.921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Hızlı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A78B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Gaussian NB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~0.950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~0.939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Çok Hızlı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Text 30"/>
          <p:cNvSpPr/>
          <p:nvPr/>
        </p:nvSpPr>
        <p:spPr>
          <a:xfrm>
            <a:off x="4681728" y="343814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4B"/>
                </a:solidFill>
              </a:rPr>
              <a:t>📌 Sonuç: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4681728" y="3694176"/>
            <a:ext cx="41879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SVM RBF, GridSearch ile optimize edildiğinde en yüksek F1'e ulaşıyor. Ancak Lojistik Regresyon da çok yakın performans gösteriyor ve çok daha hızlı.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4681728" y="4297680"/>
            <a:ext cx="4187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Büyük Veri (N&gt;100K): LinearSVC veya SGDClassifier(loss='hinge') tercih et.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53C8C"/>
          </a:solidFill>
          <a:ln w="12700">
            <a:solidFill>
              <a:srgbClr val="253C8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164592" y="4887468"/>
            <a:ext cx="8823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⭐  Pratik: SVM iyi ölçeklenmeyen küçük-orta N için güçlü. Büyük N → LinearSVC veya Gradient Boosting daha verimli.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6459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Kod Özeti — SVM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64592" y="749808"/>
            <a:ext cx="8823960" cy="256032"/>
          </a:xfrm>
          <a:prstGeom prst="rect">
            <a:avLst/>
          </a:prstGeom>
          <a:solidFill>
            <a:srgbClr val="00C9A7">
              <a:alpha val="8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74980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4B"/>
                </a:solidFill>
              </a:rPr>
              <a:t>1. Temel Pipeline — Ölçeklendirme + SVC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64592" y="1005840"/>
            <a:ext cx="8823960" cy="1115568"/>
          </a:xfrm>
          <a:prstGeom prst="rect">
            <a:avLst/>
          </a:prstGeom>
          <a:solidFill>
            <a:srgbClr val="070E1E"/>
          </a:solidFill>
          <a:ln w="10160">
            <a:solidFill>
              <a:srgbClr val="00C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1042416"/>
            <a:ext cx="859536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sklearn.pipeline import Pipeline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sklearn.preprocessing import StandardScaler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sklearn.svm import SVC, LinearSVC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RBF Kernel (varsayılan — genel amaçlı)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 = Pipeline([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('scaler', StandardScaler()),   # ZORUNLU!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('svc',   SVC(kernel='rbf',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C=1.0,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gamma='scale',  # 1/(d*Var(X))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probability=False,  # ROC için True yap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random_state=42))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64592" y="2194560"/>
            <a:ext cx="8823960" cy="256032"/>
          </a:xfrm>
          <a:prstGeom prst="rect">
            <a:avLst/>
          </a:prstGeom>
          <a:solidFill>
            <a:srgbClr val="FFD166">
              <a:alpha val="8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219456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4B"/>
                </a:solidFill>
              </a:rPr>
              <a:t>2. GridSearchCV ile C × γ Optimizasyonu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64592" y="2450592"/>
            <a:ext cx="8823960" cy="1115568"/>
          </a:xfrm>
          <a:prstGeom prst="rect">
            <a:avLst/>
          </a:prstGeom>
          <a:solidFill>
            <a:srgbClr val="070E1E"/>
          </a:solidFill>
          <a:ln w="10160">
            <a:solidFill>
              <a:srgbClr val="FFD1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" y="2487168"/>
            <a:ext cx="859536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sklearn.model_selection import GridSearchCV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param_grid =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'svc__C'     : [0.01, 0.1, 1, 10, 100],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'svc__gamma' : ['scale', 0.001, 0.01, 0.1],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'svc__kernel': ['rbf', 'linear']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gs = GridSearchCV(pipeline, param_grid,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cv=5, scoring='f1', n_jobs=-1)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gs.fit(X_train, y_train)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print(gs.best_params_)         # En iyi kombinasyon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print(gs.best_estimator_.score(X_test, y_test))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64592" y="3639312"/>
            <a:ext cx="8823960" cy="256032"/>
          </a:xfrm>
          <a:prstGeom prst="rect">
            <a:avLst/>
          </a:prstGeom>
          <a:solidFill>
            <a:srgbClr val="00C9A7">
              <a:alpha val="8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363931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4B"/>
                </a:solidFill>
              </a:rPr>
              <a:t>3. SVR — Regresyon + Büyük Veri için LinearSVC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64592" y="3895344"/>
            <a:ext cx="8823960" cy="1115568"/>
          </a:xfrm>
          <a:prstGeom prst="rect">
            <a:avLst/>
          </a:prstGeom>
          <a:solidFill>
            <a:srgbClr val="070E1E"/>
          </a:solidFill>
          <a:ln w="10160">
            <a:solidFill>
              <a:srgbClr val="00C9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" y="3931920"/>
            <a:ext cx="859536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sklearn.svm import SVR, LinearSVC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Regresyon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svr = SVR(kernel='rbf', C=1.0, epsilon=0.1)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svr.fit(X_train_sc, y_train)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Büyük veri (N &gt; 100K) → LinearSVC çok daha hızlı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lsvc = LinearSVC(C=1.0, max_iter=5000,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random_state=42)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lsvc.fit(X_train_sc, y_train)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Not: LinearSVC predict_proba() desteklemez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64592" y="5065776"/>
            <a:ext cx="8823960" cy="182880"/>
          </a:xfrm>
          <a:prstGeom prst="rect">
            <a:avLst/>
          </a:prstGeom>
          <a:solidFill>
            <a:srgbClr val="FFD166">
              <a:alpha val="3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" y="5065776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⚠️  StandardScaler ZORUNLU  |  probability=True SVM'i yavaşlatır — yalnızca AUC için kullan  |  Büyük N → LinearSVC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7315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 Özeti — SVM Hızlı Referans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53C8C"/>
          </a:solidFill>
          <a:ln w="12700">
            <a:solidFill>
              <a:srgbClr val="253C8C"/>
            </a:solidFill>
            <a:prstDash val="solid"/>
          </a:ln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4592" y="749808"/>
          <a:ext cx="8823960" cy="4078224"/>
        </p:xfrm>
        <a:graphic>
          <a:graphicData uri="http://schemas.openxmlformats.org/drawingml/2006/table">
            <a:tbl>
              <a:tblPr/>
              <a:tblGrid>
                <a:gridCol w="1737360"/>
                <a:gridCol w="2880360"/>
                <a:gridCol w="420624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Özet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Anahtar Nokta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Temel Fikir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Marjini maksimize eden hiper düzlem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Sınıfı en uzak mesafede tutan sınır en güvenlidir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Destek Vektörleri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Yalnızca marjin sınırındaki noktalar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Geri kalan tüm noktalar silinse model değişmez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Primal Optimizasyon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 ½‖w‖²  s.t. yᵢ(wᵀxᵢ+b)≥1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Kısıtlı konveks → global minimum garantili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Parametresi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Marjin-hata dengesi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Küçük C → geniş marjin  |  Büyük C → overfit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Hinge Loss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max(0, 1−y·ŷ)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Marjin dışı noktalar sıfır kayıp — seyrek çözüm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Kernel Trick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K(x,z)=φ(x)ᵀφ(z) — φ hesaplanmaz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Dual formdaki iç çarpımı K ile değiştir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Kernel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= xᵀz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Büyük veri, yüksek boyut, metin verisi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RBF Kernel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= exp(−γ‖x−z‖²)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Genel amaçlı default — γ='scale' ile başla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γ Parametresi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Kernel genişliği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Büyük γ → keskin sınır → overfit riski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GridSearchCV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ve γ birlikte optimize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param_grid = {C:[...], gamma:[...], kernel:[...]}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ε-insensitive loss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ε-tüpü içinde sıfır kayıp — regresyon için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Ölçeklendirme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Zorunlu — StandardScaler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Önceden fit_transform(), test'e sadece transform()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164592" y="4873752"/>
            <a:ext cx="8823960" cy="228600"/>
          </a:xfrm>
          <a:prstGeom prst="rect">
            <a:avLst/>
          </a:prstGeom>
          <a:solidFill>
            <a:srgbClr val="253C8C">
              <a:alpha val="8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56032" y="4873752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D166"/>
                </a:solidFill>
              </a:rPr>
              <a:t>🚀  Sonraki Hafta: Random Forest &amp; XGBoost — Bagging, Boosting, Özellik Önemi, Ensemble yöntemleri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253C8C">
              <a:alpha val="30000"/>
            </a:srgbClr>
          </a:solidFill>
          <a:ln w="12700">
            <a:solidFill>
              <a:srgbClr val="253C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28600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Kaynaklar &amp; Ödev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713232"/>
            <a:ext cx="3657600" cy="36576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868680"/>
            <a:ext cx="54864" cy="34747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" y="88696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📘 Kitap: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481328" y="886968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F"/>
                </a:solidFill>
              </a:rPr>
              <a:t>Géron — Hands-On ML (3rd ed.), Bölüm 5: Support Vector Machines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289304"/>
            <a:ext cx="54864" cy="34747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2336" y="1307592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📄 Makale: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481328" y="1307592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F"/>
                </a:solidFill>
              </a:rPr>
              <a:t>Boser, Guyon, Vapnik (1992) — A Training Algorithm for Optimal Margin Classifiers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1709928"/>
            <a:ext cx="54864" cy="34747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2336" y="1728216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📄 Makale: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481328" y="1728216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F"/>
                </a:solidFill>
              </a:rPr>
              <a:t>Burges (1998) — A Tutorial on Support Vector Machines (MIT)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2130552"/>
            <a:ext cx="54864" cy="34747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2336" y="214884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📄 Makale: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481328" y="2148840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F"/>
                </a:solidFill>
              </a:rPr>
              <a:t>Cortes &amp; Vapnik (1995) — Support-Vector Networks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2551176"/>
            <a:ext cx="54864" cy="34747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2336" y="2569464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📄 Makale: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481328" y="2569464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F"/>
                </a:solidFill>
              </a:rPr>
              <a:t>Shalev-Shwartz et al. (2007) — Pegasos: Primal Estimated sub-GrAdient SOlver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2971800"/>
            <a:ext cx="54864" cy="34747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2336" y="299008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🌐 Sklearn: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481328" y="2990088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F"/>
                </a:solidFill>
              </a:rPr>
              <a:t>scikit-learn.org/stable/modules/svm.html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3392424"/>
            <a:ext cx="54864" cy="34747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2336" y="3410712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🎥 Video: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481328" y="3410712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F"/>
                </a:solidFill>
              </a:rPr>
              <a:t>StatQuest — Support Vector Machines (Josh Starmer, YouTube)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4320" y="3813048"/>
            <a:ext cx="54864" cy="34747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02336" y="3831336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🗃️ UCI: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481328" y="3831336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F"/>
                </a:solidFill>
              </a:rPr>
              <a:t>Breast Cancer: archive.ics.uci.edu/ml/datasets/Breast+Cancer+Wisconsin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858000" y="749808"/>
            <a:ext cx="2103120" cy="4206240"/>
          </a:xfrm>
          <a:prstGeom prst="rect">
            <a:avLst/>
          </a:prstGeom>
          <a:solidFill>
            <a:srgbClr val="1A2F6B">
              <a:alpha val="70000"/>
            </a:srgbClr>
          </a:solidFill>
          <a:ln w="19050">
            <a:solidFill>
              <a:srgbClr val="FFD16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67728" y="841248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166"/>
                </a:solidFill>
              </a:rPr>
              <a:t>📝 Ödev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967728" y="1261872"/>
            <a:ext cx="164592" cy="164592"/>
          </a:xfrm>
          <a:prstGeom prst="ellipse">
            <a:avLst/>
          </a:prstGeom>
          <a:solidFill>
            <a:srgbClr val="FFD166">
              <a:alpha val="70000"/>
            </a:srgbClr>
          </a:solidFill>
          <a:ln w="10160">
            <a:solidFill>
              <a:srgbClr val="FFD16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67728" y="126187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D166"/>
                </a:solidFill>
              </a:rPr>
              <a:t>1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178040" y="121615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Breast Cancer verisiyle C=[0.001,0.01,0.1,1,10,100] için SVC (RBF) eğit, CV Acc grafiğini çiz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967728" y="1828800"/>
            <a:ext cx="164592" cy="164592"/>
          </a:xfrm>
          <a:prstGeom prst="ellipse">
            <a:avLst/>
          </a:prstGeom>
          <a:solidFill>
            <a:srgbClr val="FFD166">
              <a:alpha val="70000"/>
            </a:srgbClr>
          </a:solidFill>
          <a:ln w="10160">
            <a:solidFill>
              <a:srgbClr val="FFD16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67728" y="182880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D166"/>
                </a:solidFill>
              </a:rPr>
              <a:t>2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178040" y="17830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γ=[0.001,0.01,0.1,1,10] için aynı deneyi tekrarla. C×γ ısı haritasını oluştur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967728" y="2395728"/>
            <a:ext cx="164592" cy="164592"/>
          </a:xfrm>
          <a:prstGeom prst="ellipse">
            <a:avLst/>
          </a:prstGeom>
          <a:solidFill>
            <a:srgbClr val="FFD166">
              <a:alpha val="70000"/>
            </a:srgbClr>
          </a:solidFill>
          <a:ln w="10160">
            <a:solidFill>
              <a:srgbClr val="FFD16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967728" y="239572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D166"/>
                </a:solidFill>
              </a:rPr>
              <a:t>3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178040" y="235000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Circles ve Moons veri setleri üzerinde 4 farklı kernel karar sınırlarını yan yana görselleştir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967728" y="2962656"/>
            <a:ext cx="164592" cy="164592"/>
          </a:xfrm>
          <a:prstGeom prst="ellipse">
            <a:avLst/>
          </a:prstGeom>
          <a:solidFill>
            <a:srgbClr val="FFD166">
              <a:alpha val="70000"/>
            </a:srgbClr>
          </a:solidFill>
          <a:ln w="10160">
            <a:solidFill>
              <a:srgbClr val="FFD16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967728" y="296265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D166"/>
                </a:solidFill>
              </a:rPr>
              <a:t>4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7178040" y="2916936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SVR ile Boston Housing verisi: ε=[0.01,0.1,0.5,1.0] için RMSE ve R² karşılaştır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967728" y="3529584"/>
            <a:ext cx="164592" cy="164592"/>
          </a:xfrm>
          <a:prstGeom prst="ellipse">
            <a:avLst/>
          </a:prstGeom>
          <a:solidFill>
            <a:srgbClr val="FFD166">
              <a:alpha val="70000"/>
            </a:srgbClr>
          </a:solidFill>
          <a:ln w="10160">
            <a:solidFill>
              <a:srgbClr val="FFD16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967728" y="352958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D166"/>
                </a:solidFill>
              </a:rPr>
              <a:t>5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7178040" y="3483864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Bonus: SVM, Random Forest ve XGBoost'u aynı veride GridSearch ile kıyasla (5-CV F1)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274320" y="4663440"/>
            <a:ext cx="6309360" cy="411480"/>
          </a:xfrm>
          <a:prstGeom prst="rect">
            <a:avLst/>
          </a:prstGeom>
          <a:solidFill>
            <a:srgbClr val="00C9A7">
              <a:alpha val="8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84048" y="4681728"/>
            <a:ext cx="6089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</a:rPr>
              <a:t>Sorularınız için ders saatleri veya e-posta yoluyla ulaşabilirsiniz.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Destek Vektör Makineleri (SVM)</dc:title>
  <dc:subject>PptxGenJS Presentation</dc:subject>
  <dc:creator>Uygulamalı Makine Öğrenmesi</dc:creator>
  <cp:lastModifiedBy>Uygulamalı Makine Öğrenmesi</cp:lastModifiedBy>
  <cp:revision>1</cp:revision>
  <dcterms:created xsi:type="dcterms:W3CDTF">2026-03-15T12:36:41Z</dcterms:created>
  <dcterms:modified xsi:type="dcterms:W3CDTF">2026-03-15T12:36:41Z</dcterms:modified>
</cp:coreProperties>
</file>