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18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Eğitim Doğruluğu (%)</c:v>
                </c:pt>
              </c:strCache>
            </c:strRef>
          </c:tx>
          <c:spPr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15</c:v>
                </c:pt>
                <c:pt idx="12">
                  <c:v>20</c:v>
                </c:pt>
                <c:pt idx="13">
                  <c:v>25</c:v>
                </c:pt>
                <c:pt idx="14">
                  <c:v>30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98</c:v>
                </c:pt>
                <c:pt idx="4">
                  <c:v>97</c:v>
                </c:pt>
                <c:pt idx="5">
                  <c:v>97</c:v>
                </c:pt>
                <c:pt idx="6">
                  <c:v>96</c:v>
                </c:pt>
                <c:pt idx="7">
                  <c:v>96</c:v>
                </c:pt>
                <c:pt idx="8">
                  <c:v>95</c:v>
                </c:pt>
                <c:pt idx="9">
                  <c:v>95</c:v>
                </c:pt>
                <c:pt idx="10">
                  <c:v>94</c:v>
                </c:pt>
                <c:pt idx="11">
                  <c:v>93</c:v>
                </c:pt>
                <c:pt idx="12">
                  <c:v>91</c:v>
                </c:pt>
                <c:pt idx="13">
                  <c:v>89</c:v>
                </c:pt>
                <c:pt idx="14">
                  <c:v>87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6BB-44AC-8BF2-60B6A9A4AB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Doğruluğu (%)</c:v>
                </c:pt>
              </c:strCache>
            </c:strRef>
          </c:tx>
          <c:spPr>
            <a:ln w="31750" cap="flat">
              <a:solidFill>
                <a:srgbClr val="00C9A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9A7"/>
              </a:solidFill>
              <a:ln w="9525" cap="flat">
                <a:solidFill>
                  <a:srgbClr val="00C9A7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15</c:v>
                </c:pt>
                <c:pt idx="12">
                  <c:v>20</c:v>
                </c:pt>
                <c:pt idx="13">
                  <c:v>25</c:v>
                </c:pt>
                <c:pt idx="14">
                  <c:v>30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87</c:v>
                </c:pt>
                <c:pt idx="1">
                  <c:v>90</c:v>
                </c:pt>
                <c:pt idx="2">
                  <c:v>93</c:v>
                </c:pt>
                <c:pt idx="3">
                  <c:v>93</c:v>
                </c:pt>
                <c:pt idx="4">
                  <c:v>96</c:v>
                </c:pt>
                <c:pt idx="5">
                  <c:v>95</c:v>
                </c:pt>
                <c:pt idx="6">
                  <c:v>95</c:v>
                </c:pt>
                <c:pt idx="7">
                  <c:v>96</c:v>
                </c:pt>
                <c:pt idx="8">
                  <c:v>95</c:v>
                </c:pt>
                <c:pt idx="9">
                  <c:v>94</c:v>
                </c:pt>
                <c:pt idx="10">
                  <c:v>93</c:v>
                </c:pt>
                <c:pt idx="11">
                  <c:v>92</c:v>
                </c:pt>
                <c:pt idx="12">
                  <c:v>91</c:v>
                </c:pt>
                <c:pt idx="13">
                  <c:v>89</c:v>
                </c:pt>
                <c:pt idx="14">
                  <c:v>87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6BB-44AC-8BF2-60B6A9A4ABC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CV-5 Doğruluğu (%)</c:v>
                </c:pt>
              </c:strCache>
            </c:strRef>
          </c:tx>
          <c:spPr>
            <a:ln w="31750" cap="flat">
              <a:solidFill>
                <a:srgbClr val="FFD16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D166"/>
              </a:solidFill>
              <a:ln w="9525" cap="flat">
                <a:solidFill>
                  <a:srgbClr val="FFD166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15</c:v>
                </c:pt>
                <c:pt idx="12">
                  <c:v>20</c:v>
                </c:pt>
                <c:pt idx="13">
                  <c:v>25</c:v>
                </c:pt>
                <c:pt idx="14">
                  <c:v>30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86</c:v>
                </c:pt>
                <c:pt idx="1">
                  <c:v>89</c:v>
                </c:pt>
                <c:pt idx="2">
                  <c:v>93</c:v>
                </c:pt>
                <c:pt idx="3">
                  <c:v>92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94</c:v>
                </c:pt>
                <c:pt idx="8">
                  <c:v>94</c:v>
                </c:pt>
                <c:pt idx="9">
                  <c:v>93</c:v>
                </c:pt>
                <c:pt idx="10">
                  <c:v>92</c:v>
                </c:pt>
                <c:pt idx="11">
                  <c:v>91</c:v>
                </c:pt>
                <c:pt idx="12">
                  <c:v>90</c:v>
                </c:pt>
                <c:pt idx="13">
                  <c:v>88</c:v>
                </c:pt>
                <c:pt idx="14">
                  <c:v>86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6BB-44AC-8BF2-60B6A9A4AB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1"/>
          <c:min val="8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Doğruluğu (%)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F2A-4BCB-9CB3-E5D7D1CCDBD0}"/>
              </c:ext>
            </c:extLst>
          </c:dPt>
          <c:dPt>
            <c:idx val="1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2A-4BCB-9CB3-E5D7D1CCDBD0}"/>
              </c:ext>
            </c:extLst>
          </c:dPt>
          <c:dPt>
            <c:idx val="2"/>
            <c:invertIfNegative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F2A-4BCB-9CB3-E5D7D1CCDBD0}"/>
              </c:ext>
            </c:extLst>
          </c:dPt>
          <c:dPt>
            <c:idx val="3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F2A-4BCB-9CB3-E5D7D1CCDBD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Ölçeklendirme
Yok</c:v>
                </c:pt>
                <c:pt idx="1">
                  <c:v>MinMaxScaler</c:v>
                </c:pt>
                <c:pt idx="2">
                  <c:v>StandardScaler</c:v>
                </c:pt>
                <c:pt idx="3">
                  <c:v>RobustScaler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65.3</c:v>
                </c:pt>
                <c:pt idx="1">
                  <c:v>94.4</c:v>
                </c:pt>
                <c:pt idx="2">
                  <c:v>97.2</c:v>
                </c:pt>
                <c:pt idx="3">
                  <c:v>96.1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F2A-4BCB-9CB3-E5D7D1CCDB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Gerçek: sin(x)</c:v>
                </c:pt>
              </c:strCache>
            </c:strRef>
          </c:tx>
          <c:spPr>
            <a:ln w="25400" cap="flat">
              <a:solidFill>
                <a:srgbClr val="00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-6.0</c:v>
                </c:pt>
                <c:pt idx="1">
                  <c:v>-5.5</c:v>
                </c:pt>
                <c:pt idx="2">
                  <c:v>-5.0</c:v>
                </c:pt>
                <c:pt idx="3">
                  <c:v>-4.4</c:v>
                </c:pt>
                <c:pt idx="4">
                  <c:v>-3.9</c:v>
                </c:pt>
                <c:pt idx="5">
                  <c:v>-3.4</c:v>
                </c:pt>
                <c:pt idx="6">
                  <c:v>-2.9</c:v>
                </c:pt>
                <c:pt idx="7">
                  <c:v>-2.4</c:v>
                </c:pt>
                <c:pt idx="8">
                  <c:v>-1.8</c:v>
                </c:pt>
                <c:pt idx="9">
                  <c:v>-1.3</c:v>
                </c:pt>
                <c:pt idx="10">
                  <c:v>-0.8</c:v>
                </c:pt>
                <c:pt idx="11">
                  <c:v>-0.3</c:v>
                </c:pt>
                <c:pt idx="12">
                  <c:v>0.2</c:v>
                </c:pt>
                <c:pt idx="13">
                  <c:v>0.8</c:v>
                </c:pt>
                <c:pt idx="14">
                  <c:v>1.3</c:v>
                </c:pt>
                <c:pt idx="15">
                  <c:v>1.8</c:v>
                </c:pt>
                <c:pt idx="16">
                  <c:v>2.3</c:v>
                </c:pt>
                <c:pt idx="17">
                  <c:v>2.8</c:v>
                </c:pt>
                <c:pt idx="18">
                  <c:v>3.4</c:v>
                </c:pt>
                <c:pt idx="19">
                  <c:v>3.9</c:v>
                </c:pt>
                <c:pt idx="20">
                  <c:v>4.4</c:v>
                </c:pt>
                <c:pt idx="21">
                  <c:v>4.9</c:v>
                </c:pt>
                <c:pt idx="22">
                  <c:v>5.4</c:v>
                </c:pt>
                <c:pt idx="23">
                  <c:v>6.0</c:v>
                </c:pt>
                <c:pt idx="24">
                  <c:v>6.5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0.27900000000000003</c:v>
                </c:pt>
                <c:pt idx="1">
                  <c:v>0.70599999999999996</c:v>
                </c:pt>
                <c:pt idx="2">
                  <c:v>0.95899999999999996</c:v>
                </c:pt>
                <c:pt idx="3">
                  <c:v>0.95199999999999996</c:v>
                </c:pt>
                <c:pt idx="4">
                  <c:v>0.68799999999999994</c:v>
                </c:pt>
                <c:pt idx="5">
                  <c:v>0.25600000000000001</c:v>
                </c:pt>
                <c:pt idx="6">
                  <c:v>-0.23899999999999999</c:v>
                </c:pt>
                <c:pt idx="7">
                  <c:v>-0.67500000000000004</c:v>
                </c:pt>
                <c:pt idx="8">
                  <c:v>-0.97399999999999998</c:v>
                </c:pt>
                <c:pt idx="9">
                  <c:v>-0.96399999999999997</c:v>
                </c:pt>
                <c:pt idx="10">
                  <c:v>-0.71699999999999997</c:v>
                </c:pt>
                <c:pt idx="11">
                  <c:v>-0.29599999999999999</c:v>
                </c:pt>
                <c:pt idx="12">
                  <c:v>0.19900000000000001</c:v>
                </c:pt>
                <c:pt idx="13">
                  <c:v>0.71699999999999997</c:v>
                </c:pt>
                <c:pt idx="14">
                  <c:v>0.96399999999999997</c:v>
                </c:pt>
                <c:pt idx="15">
                  <c:v>0.97399999999999998</c:v>
                </c:pt>
                <c:pt idx="16">
                  <c:v>0.746</c:v>
                </c:pt>
                <c:pt idx="17">
                  <c:v>0.33500000000000002</c:v>
                </c:pt>
                <c:pt idx="18">
                  <c:v>-0.25600000000000001</c:v>
                </c:pt>
                <c:pt idx="19">
                  <c:v>-0.68799999999999994</c:v>
                </c:pt>
                <c:pt idx="20">
                  <c:v>-0.95199999999999996</c:v>
                </c:pt>
                <c:pt idx="21">
                  <c:v>-0.98199999999999998</c:v>
                </c:pt>
                <c:pt idx="22">
                  <c:v>-0.77300000000000002</c:v>
                </c:pt>
                <c:pt idx="23">
                  <c:v>-0.27900000000000003</c:v>
                </c:pt>
                <c:pt idx="24">
                  <c:v>0.215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99A-41B8-B02C-CB2D1D0B92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K=1 (Overfitting)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-6.0</c:v>
                </c:pt>
                <c:pt idx="1">
                  <c:v>-5.5</c:v>
                </c:pt>
                <c:pt idx="2">
                  <c:v>-5.0</c:v>
                </c:pt>
                <c:pt idx="3">
                  <c:v>-4.4</c:v>
                </c:pt>
                <c:pt idx="4">
                  <c:v>-3.9</c:v>
                </c:pt>
                <c:pt idx="5">
                  <c:v>-3.4</c:v>
                </c:pt>
                <c:pt idx="6">
                  <c:v>-2.9</c:v>
                </c:pt>
                <c:pt idx="7">
                  <c:v>-2.4</c:v>
                </c:pt>
                <c:pt idx="8">
                  <c:v>-1.8</c:v>
                </c:pt>
                <c:pt idx="9">
                  <c:v>-1.3</c:v>
                </c:pt>
                <c:pt idx="10">
                  <c:v>-0.8</c:v>
                </c:pt>
                <c:pt idx="11">
                  <c:v>-0.3</c:v>
                </c:pt>
                <c:pt idx="12">
                  <c:v>0.2</c:v>
                </c:pt>
                <c:pt idx="13">
                  <c:v>0.8</c:v>
                </c:pt>
                <c:pt idx="14">
                  <c:v>1.3</c:v>
                </c:pt>
                <c:pt idx="15">
                  <c:v>1.8</c:v>
                </c:pt>
                <c:pt idx="16">
                  <c:v>2.3</c:v>
                </c:pt>
                <c:pt idx="17">
                  <c:v>2.8</c:v>
                </c:pt>
                <c:pt idx="18">
                  <c:v>3.4</c:v>
                </c:pt>
                <c:pt idx="19">
                  <c:v>3.9</c:v>
                </c:pt>
                <c:pt idx="20">
                  <c:v>4.4</c:v>
                </c:pt>
                <c:pt idx="21">
                  <c:v>4.9</c:v>
                </c:pt>
                <c:pt idx="22">
                  <c:v>5.4</c:v>
                </c:pt>
                <c:pt idx="23">
                  <c:v>6.0</c:v>
                </c:pt>
                <c:pt idx="24">
                  <c:v>6.5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6.4000000000000001E-2</c:v>
                </c:pt>
                <c:pt idx="1">
                  <c:v>0.95399999999999996</c:v>
                </c:pt>
                <c:pt idx="2">
                  <c:v>0.72299999999999998</c:v>
                </c:pt>
                <c:pt idx="3">
                  <c:v>0.873</c:v>
                </c:pt>
                <c:pt idx="4">
                  <c:v>0.92800000000000005</c:v>
                </c:pt>
                <c:pt idx="5">
                  <c:v>0.34799999999999998</c:v>
                </c:pt>
                <c:pt idx="6">
                  <c:v>-0.38200000000000001</c:v>
                </c:pt>
                <c:pt idx="7">
                  <c:v>-0.501</c:v>
                </c:pt>
                <c:pt idx="8">
                  <c:v>-0.84699999999999998</c:v>
                </c:pt>
                <c:pt idx="9">
                  <c:v>-0.76400000000000001</c:v>
                </c:pt>
                <c:pt idx="10">
                  <c:v>-0.57599999999999996</c:v>
                </c:pt>
                <c:pt idx="11">
                  <c:v>-5.8000000000000003E-2</c:v>
                </c:pt>
                <c:pt idx="12">
                  <c:v>0.14099999999999999</c:v>
                </c:pt>
                <c:pt idx="13">
                  <c:v>0.67100000000000004</c:v>
                </c:pt>
                <c:pt idx="14">
                  <c:v>0.99199999999999999</c:v>
                </c:pt>
                <c:pt idx="15">
                  <c:v>0.76800000000000002</c:v>
                </c:pt>
                <c:pt idx="16">
                  <c:v>0.92300000000000004</c:v>
                </c:pt>
                <c:pt idx="17">
                  <c:v>0.254</c:v>
                </c:pt>
                <c:pt idx="18">
                  <c:v>-0.46700000000000003</c:v>
                </c:pt>
                <c:pt idx="19">
                  <c:v>-0.64600000000000002</c:v>
                </c:pt>
                <c:pt idx="20">
                  <c:v>-1.109</c:v>
                </c:pt>
                <c:pt idx="21">
                  <c:v>-0.76800000000000002</c:v>
                </c:pt>
                <c:pt idx="22">
                  <c:v>-0.77200000000000002</c:v>
                </c:pt>
                <c:pt idx="23">
                  <c:v>-0.32500000000000001</c:v>
                </c:pt>
                <c:pt idx="24">
                  <c:v>2.1000000000000001E-2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99A-41B8-B02C-CB2D1D0B927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K=7 (Optimal)</c:v>
                </c:pt>
              </c:strCache>
            </c:strRef>
          </c:tx>
          <c:spPr>
            <a:ln w="25400" cap="flat">
              <a:solidFill>
                <a:srgbClr val="00C9A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9A7"/>
              </a:solidFill>
              <a:ln w="9525" cap="flat">
                <a:solidFill>
                  <a:srgbClr val="00C9A7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-6.0</c:v>
                </c:pt>
                <c:pt idx="1">
                  <c:v>-5.5</c:v>
                </c:pt>
                <c:pt idx="2">
                  <c:v>-5.0</c:v>
                </c:pt>
                <c:pt idx="3">
                  <c:v>-4.4</c:v>
                </c:pt>
                <c:pt idx="4">
                  <c:v>-3.9</c:v>
                </c:pt>
                <c:pt idx="5">
                  <c:v>-3.4</c:v>
                </c:pt>
                <c:pt idx="6">
                  <c:v>-2.9</c:v>
                </c:pt>
                <c:pt idx="7">
                  <c:v>-2.4</c:v>
                </c:pt>
                <c:pt idx="8">
                  <c:v>-1.8</c:v>
                </c:pt>
                <c:pt idx="9">
                  <c:v>-1.3</c:v>
                </c:pt>
                <c:pt idx="10">
                  <c:v>-0.8</c:v>
                </c:pt>
                <c:pt idx="11">
                  <c:v>-0.3</c:v>
                </c:pt>
                <c:pt idx="12">
                  <c:v>0.2</c:v>
                </c:pt>
                <c:pt idx="13">
                  <c:v>0.8</c:v>
                </c:pt>
                <c:pt idx="14">
                  <c:v>1.3</c:v>
                </c:pt>
                <c:pt idx="15">
                  <c:v>1.8</c:v>
                </c:pt>
                <c:pt idx="16">
                  <c:v>2.3</c:v>
                </c:pt>
                <c:pt idx="17">
                  <c:v>2.8</c:v>
                </c:pt>
                <c:pt idx="18">
                  <c:v>3.4</c:v>
                </c:pt>
                <c:pt idx="19">
                  <c:v>3.9</c:v>
                </c:pt>
                <c:pt idx="20">
                  <c:v>4.4</c:v>
                </c:pt>
                <c:pt idx="21">
                  <c:v>4.9</c:v>
                </c:pt>
                <c:pt idx="22">
                  <c:v>5.4</c:v>
                </c:pt>
                <c:pt idx="23">
                  <c:v>6.0</c:v>
                </c:pt>
                <c:pt idx="24">
                  <c:v>6.5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0.307</c:v>
                </c:pt>
                <c:pt idx="1">
                  <c:v>0.69899999999999995</c:v>
                </c:pt>
                <c:pt idx="2">
                  <c:v>0.93200000000000005</c:v>
                </c:pt>
                <c:pt idx="3">
                  <c:v>0.92500000000000004</c:v>
                </c:pt>
                <c:pt idx="4">
                  <c:v>0.68300000000000005</c:v>
                </c:pt>
                <c:pt idx="5">
                  <c:v>0.28499999999999998</c:v>
                </c:pt>
                <c:pt idx="6">
                  <c:v>-0.17</c:v>
                </c:pt>
                <c:pt idx="7">
                  <c:v>-0.57099999999999995</c:v>
                </c:pt>
                <c:pt idx="8">
                  <c:v>-0.84599999999999997</c:v>
                </c:pt>
                <c:pt idx="9">
                  <c:v>-0.83599999999999997</c:v>
                </c:pt>
                <c:pt idx="10">
                  <c:v>-0.61</c:v>
                </c:pt>
                <c:pt idx="11">
                  <c:v>-0.222</c:v>
                </c:pt>
                <c:pt idx="12">
                  <c:v>0.23300000000000001</c:v>
                </c:pt>
                <c:pt idx="13">
                  <c:v>0.71</c:v>
                </c:pt>
                <c:pt idx="14">
                  <c:v>0.93600000000000005</c:v>
                </c:pt>
                <c:pt idx="15">
                  <c:v>0.94599999999999995</c:v>
                </c:pt>
                <c:pt idx="16">
                  <c:v>0.73599999999999999</c:v>
                </c:pt>
                <c:pt idx="17">
                  <c:v>0.35799999999999998</c:v>
                </c:pt>
                <c:pt idx="18">
                  <c:v>-0.185</c:v>
                </c:pt>
                <c:pt idx="19">
                  <c:v>-0.58299999999999996</c:v>
                </c:pt>
                <c:pt idx="20">
                  <c:v>-0.82499999999999996</c:v>
                </c:pt>
                <c:pt idx="21">
                  <c:v>-0.85399999999999998</c:v>
                </c:pt>
                <c:pt idx="22">
                  <c:v>-0.66100000000000003</c:v>
                </c:pt>
                <c:pt idx="23">
                  <c:v>-0.20699999999999999</c:v>
                </c:pt>
                <c:pt idx="24">
                  <c:v>0.248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699A-41B8-B02C-CB2D1D0B927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K=25 (Underfitting)</c:v>
                </c:pt>
              </c:strCache>
            </c:strRef>
          </c:tx>
          <c:spPr>
            <a:ln w="2540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-6.0</c:v>
                </c:pt>
                <c:pt idx="1">
                  <c:v>-5.5</c:v>
                </c:pt>
                <c:pt idx="2">
                  <c:v>-5.0</c:v>
                </c:pt>
                <c:pt idx="3">
                  <c:v>-4.4</c:v>
                </c:pt>
                <c:pt idx="4">
                  <c:v>-3.9</c:v>
                </c:pt>
                <c:pt idx="5">
                  <c:v>-3.4</c:v>
                </c:pt>
                <c:pt idx="6">
                  <c:v>-2.9</c:v>
                </c:pt>
                <c:pt idx="7">
                  <c:v>-2.4</c:v>
                </c:pt>
                <c:pt idx="8">
                  <c:v>-1.8</c:v>
                </c:pt>
                <c:pt idx="9">
                  <c:v>-1.3</c:v>
                </c:pt>
                <c:pt idx="10">
                  <c:v>-0.8</c:v>
                </c:pt>
                <c:pt idx="11">
                  <c:v>-0.3</c:v>
                </c:pt>
                <c:pt idx="12">
                  <c:v>0.2</c:v>
                </c:pt>
                <c:pt idx="13">
                  <c:v>0.8</c:v>
                </c:pt>
                <c:pt idx="14">
                  <c:v>1.3</c:v>
                </c:pt>
                <c:pt idx="15">
                  <c:v>1.8</c:v>
                </c:pt>
                <c:pt idx="16">
                  <c:v>2.3</c:v>
                </c:pt>
                <c:pt idx="17">
                  <c:v>2.8</c:v>
                </c:pt>
                <c:pt idx="18">
                  <c:v>3.4</c:v>
                </c:pt>
                <c:pt idx="19">
                  <c:v>3.9</c:v>
                </c:pt>
                <c:pt idx="20">
                  <c:v>4.4</c:v>
                </c:pt>
                <c:pt idx="21">
                  <c:v>4.9</c:v>
                </c:pt>
                <c:pt idx="22">
                  <c:v>5.4</c:v>
                </c:pt>
                <c:pt idx="23">
                  <c:v>6.0</c:v>
                </c:pt>
                <c:pt idx="24">
                  <c:v>6.5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0.26800000000000002</c:v>
                </c:pt>
                <c:pt idx="1">
                  <c:v>0.52300000000000002</c:v>
                </c:pt>
                <c:pt idx="2">
                  <c:v>0.67500000000000004</c:v>
                </c:pt>
                <c:pt idx="3">
                  <c:v>0.67100000000000004</c:v>
                </c:pt>
                <c:pt idx="4">
                  <c:v>0.51300000000000001</c:v>
                </c:pt>
                <c:pt idx="5">
                  <c:v>0.253</c:v>
                </c:pt>
                <c:pt idx="6">
                  <c:v>-4.3999999999999997E-2</c:v>
                </c:pt>
                <c:pt idx="7">
                  <c:v>-0.30499999999999999</c:v>
                </c:pt>
                <c:pt idx="8">
                  <c:v>-0.48399999999999999</c:v>
                </c:pt>
                <c:pt idx="9">
                  <c:v>-0.47799999999999998</c:v>
                </c:pt>
                <c:pt idx="10">
                  <c:v>-0.33</c:v>
                </c:pt>
                <c:pt idx="11">
                  <c:v>-7.6999999999999999E-2</c:v>
                </c:pt>
                <c:pt idx="12">
                  <c:v>0.219</c:v>
                </c:pt>
                <c:pt idx="13">
                  <c:v>0.53</c:v>
                </c:pt>
                <c:pt idx="14">
                  <c:v>0.67800000000000005</c:v>
                </c:pt>
                <c:pt idx="15">
                  <c:v>0.68400000000000005</c:v>
                </c:pt>
                <c:pt idx="16">
                  <c:v>0.54700000000000004</c:v>
                </c:pt>
                <c:pt idx="17">
                  <c:v>0.30099999999999999</c:v>
                </c:pt>
                <c:pt idx="18">
                  <c:v>-5.2999999999999999E-2</c:v>
                </c:pt>
                <c:pt idx="19">
                  <c:v>-0.313</c:v>
                </c:pt>
                <c:pt idx="20">
                  <c:v>-0.47099999999999997</c:v>
                </c:pt>
                <c:pt idx="21">
                  <c:v>-0.48899999999999999</c:v>
                </c:pt>
                <c:pt idx="22">
                  <c:v>-0.36399999999999999</c:v>
                </c:pt>
                <c:pt idx="23">
                  <c:v>-6.8000000000000005E-2</c:v>
                </c:pt>
                <c:pt idx="24">
                  <c:v>0.22900000000000001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699A-41B8-B02C-CB2D1D0B92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(d_max − d_min) / d_min</c:v>
                </c:pt>
              </c:strCache>
            </c:strRef>
          </c:tx>
          <c:spPr>
            <a:ln w="31750" cap="flat">
              <a:solidFill>
                <a:srgbClr val="FFD16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D166"/>
              </a:solidFill>
              <a:ln w="9525" cap="flat">
                <a:solidFill>
                  <a:srgbClr val="FFD166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50</c:v>
                </c:pt>
                <c:pt idx="6">
                  <c:v>100</c:v>
                </c:pt>
                <c:pt idx="7">
                  <c:v>200</c:v>
                </c:pt>
                <c:pt idx="8">
                  <c:v>500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3.8</c:v>
                </c:pt>
                <c:pt idx="1">
                  <c:v>2.6</c:v>
                </c:pt>
                <c:pt idx="2">
                  <c:v>1.85</c:v>
                </c:pt>
                <c:pt idx="3">
                  <c:v>1.2</c:v>
                </c:pt>
                <c:pt idx="4">
                  <c:v>0.75</c:v>
                </c:pt>
                <c:pt idx="5">
                  <c:v>0.38</c:v>
                </c:pt>
                <c:pt idx="6">
                  <c:v>0.2</c:v>
                </c:pt>
                <c:pt idx="7">
                  <c:v>0.11</c:v>
                </c:pt>
                <c:pt idx="8">
                  <c:v>0.04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031-40A5-8BD8-7E58C9EBA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F6B">
        <a:alpha val="5000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53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253C8C">
              <a:alpha val="40000"/>
            </a:srgbClr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3200400" cy="320040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57200"/>
            <a:ext cx="347472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57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1B4B"/>
                </a:solidFill>
              </a:rPr>
              <a:t>UYGULAMALI MAKİNE ÖĞRENMESİ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0058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K-En Yakın Komşu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28600" y="1920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" y="2514600"/>
            <a:ext cx="41148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697480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Denetimli Öğrenme (Supervised Learning)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3108960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0449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Tembel Öğrenme (Lazy Learning)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" y="3520440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4564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Sınıflandırma + Regresyon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566160"/>
            <a:ext cx="2606040" cy="1325880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4652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📅 Bölüm 1 — Sınıflandırma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4005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🎓 Lisans 3-4 / Yüksek Lisans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43525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⏱️  ~3 Ders Saati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Planı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438912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0664" y="100584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KNN Nedir? Sezgisel Giriş &amp; Temel Kavramlar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773936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773936"/>
            <a:ext cx="438912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77393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" y="177393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Uzaklık Metrikleri: Öklid, Manhattan, Chebyshev, Minkowski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542032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542032"/>
            <a:ext cx="438912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54203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0664" y="254203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Algoritma Adımları (Sıfırdan Anlatım)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310128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310128"/>
            <a:ext cx="438912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31012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664" y="331012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K Değeri &amp; Bias-Variance Trade-off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4078224"/>
            <a:ext cx="4206240" cy="539496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4078224"/>
            <a:ext cx="438912" cy="5394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078224"/>
            <a:ext cx="438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" y="407822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Karar Sınırları &amp; Doğrusal Olmayan Problemler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005840"/>
            <a:ext cx="438912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00584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75504" y="100584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Özellik Ölçeklendirmenin Kritik Önemi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773936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773936"/>
            <a:ext cx="438912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77393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75504" y="177393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Model Değerlendirme: Confusion Matrix, F1, AUC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542032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542032"/>
            <a:ext cx="438912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54203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75504" y="254203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Boyut Laneti (Curse of Dimensionality)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310128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310128"/>
            <a:ext cx="438912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31012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75504" y="331012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Avantajlar, Dezavantajlar &amp; Ne Zaman Kullanılır?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4617720"/>
            <a:ext cx="8686800" cy="365760"/>
          </a:xfrm>
          <a:prstGeom prst="rect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" y="46177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10  KNN ile Regresyon &amp; Gerçek Dünya Uygulaması (Wine Veri Seti)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Nedir? — Sezgisel Giriş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04672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804672"/>
            <a:ext cx="42062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869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Temel Fikir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2344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Yeni bir örneği sınıflandırmak için eğitim setindeki en yakın K komşuya bakılır ve çoğunluk oyu ile sınıf belirlenir.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64592" y="2340864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2340864"/>
            <a:ext cx="420624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23160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F6B"/>
                </a:solidFill>
              </a:rPr>
              <a:t>💬  "Bana arkadaşlarını söyle, sana kim olduğunu söyleyeyim."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" y="3319272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4592" y="3319272"/>
            <a:ext cx="42062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4015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Temel Özellikler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721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E82"/>
                </a:solidFill>
              </a:rPr>
              <a:t>Tür: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325880" y="3721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Denetimli Öğrenme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3941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E82"/>
                </a:solidFill>
              </a:rPr>
              <a:t>Görev: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25880" y="39410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Sınıflandırma + Regresyon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4160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E82"/>
                </a:solidFill>
              </a:rPr>
              <a:t>Öğrenme: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325880" y="4160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Tembel (Lazy) — Eğitimde hiçbir şey öğrenmez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43799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E82"/>
                </a:solidFill>
              </a:rPr>
              <a:t>Yapı: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325880" y="43799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Parametrik olmayan (Non-parametric)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45994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E82"/>
                </a:solidFill>
              </a:rPr>
              <a:t>Bellek: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325880" y="45994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Tüm eğitim verisini saklar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26280" y="804672"/>
            <a:ext cx="4453128" cy="4087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804672"/>
            <a:ext cx="4453128" cy="64008"/>
          </a:xfrm>
          <a:prstGeom prst="rect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8869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Sınıflandırma Senaryosu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11887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Yeni bir hasta: Kanser mi, değil mi?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1527048"/>
            <a:ext cx="384048" cy="384048"/>
          </a:xfrm>
          <a:prstGeom prst="ellipse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20640" y="150876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Hastanın özelliklerini belirle (yaş, tümör boyutu...)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2130552"/>
            <a:ext cx="384048" cy="384048"/>
          </a:xfrm>
          <a:prstGeom prst="ellipse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20640" y="211226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eğitim örneklerine uzaklığı hesapla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663440" y="2734056"/>
            <a:ext cx="384048" cy="384048"/>
          </a:xfrm>
          <a:prstGeom prst="ellipse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20640" y="271576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küçük K uzaklığa sahip komşuları seç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663440" y="3337560"/>
            <a:ext cx="384048" cy="384048"/>
          </a:xfrm>
          <a:prstGeom prst="ellipse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20640" y="331927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 komşunun çoğunluk sınıfını tahmin et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663440" y="3941064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120640" y="392277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Tahmin: Kanserli mi, Sağlıklı mı?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663440" y="4544568"/>
            <a:ext cx="4206240" cy="274320"/>
          </a:xfrm>
          <a:prstGeom prst="rect">
            <a:avLst/>
          </a:prstGeom>
          <a:solidFill>
            <a:srgbClr val="253C8C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4544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</a:rPr>
              <a:t>Örnek: K=3 → 2 Kanserli + 1 Sağlıklı → Tahmin: KANSERLİ ✓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Uzaklık Metrikleri — KNN'in Kalbi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7772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KNN tamamen "uzaklık" kavramına dayanır. Farklı uzaklık metrikleri farklı geometrik şekillere karşılık gelir: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114300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143000"/>
            <a:ext cx="4251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Öklid Uzaklığı (L2 Norm)  —  En yaygın kullanılan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5361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√ Σ (xᵢ − yᵢ)²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1956816"/>
            <a:ext cx="3474720" cy="36576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2082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İki nokta arasındaki düz çizgi mesafesidir. 2D'de Pisagor teoreminin genelleştirilmiş halidir. Sürekli ve homojen ölçeklerdeki veriler için idealdir.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43000"/>
            <a:ext cx="42519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Manhattan Uzaklığı (L1 Norm)  —  Şehir blokları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27448" y="15361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Σ |xᵢ − yᵢ|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983480" y="1956816"/>
            <a:ext cx="3474720" cy="36576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202082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Yalnızca yatay ve dikey hareketlerin toplamıdır. Bir şehirde iki yer arasındaki blok sayısı gibi düşünün. Aykırı değerlere Öklid'den daha dayanıklıdır.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4592" y="301752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4592" y="3017520"/>
            <a:ext cx="4251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08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Minkowski Uzaklığı  —  Genel Form (p parametresi)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34107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( Σ |xᵢ − yᵢ|ᵖ )^(1/p)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3831336"/>
            <a:ext cx="3474720" cy="36576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89534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</a:rPr>
              <a:t>p=1</a:t>
            </a:r>
            <a:r>
              <a:rPr lang="en-US" sz="950" dirty="0">
                <a:solidFill>
                  <a:srgbClr val="1E293B"/>
                </a:solidFill>
              </a:rPr>
              <a:t> → Manhattan   </a:t>
            </a:r>
            <a:r>
              <a:rPr lang="en-US" sz="950" b="1" dirty="0">
                <a:solidFill>
                  <a:srgbClr val="009E82"/>
                </a:solidFill>
              </a:rPr>
              <a:t>p=2</a:t>
            </a:r>
            <a:r>
              <a:rPr lang="en-US" sz="950" dirty="0">
                <a:solidFill>
                  <a:srgbClr val="1E293B"/>
                </a:solidFill>
              </a:rPr>
              <a:t> → Öklid   </a:t>
            </a:r>
            <a:r>
              <a:rPr lang="en-US" sz="950" b="1" dirty="0">
                <a:solidFill>
                  <a:srgbClr val="A78BFA"/>
                </a:solidFill>
              </a:rPr>
              <a:t>p=∞</a:t>
            </a:r>
            <a:r>
              <a:rPr lang="en-US" sz="950" dirty="0">
                <a:solidFill>
                  <a:srgbClr val="1E293B"/>
                </a:solidFill>
              </a:rPr>
              <a:t> → Chebyshev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 değeri arttıkça farklı 'küre' şekilleri oluşur ve uzaklık tanımı değişir.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301752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017520"/>
            <a:ext cx="4251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3108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Chebyshev Uzaklığı (L∞ Norm)  —  Satranç taşı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27448" y="34107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max |xᵢ − yᵢ|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983480" y="3831336"/>
            <a:ext cx="3474720" cy="36576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389534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Tüm boyutlar arasındaki maksimum farkı alır. Satranç oyununda bir kral en fazla 1 hamlede gidebileceği mesafe bu metrikle hesaplanır.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64592" y="4864608"/>
            <a:ext cx="8823960" cy="2011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86460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💡  Birim Küre Şekilleri:  Öklid → Daire  |  Manhattan → Elmas  |  Chebyshev → Kare  |  Hepsi p=2, 1, ∞ için Minkowski'nin özel halidir.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Uzaklık Metrikleri — Karşılaştırma &amp; Seçim Rehberi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77240"/>
          <a:ext cx="8823960" cy="318211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Değeri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Birim Küresi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İyi Kullanım Alanı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Aykırı Değerlere Duyarlılık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Öklid (L2)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√Σ(xᵢ−yᵢ)²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Sürekli, homojen ölçekler; genel amaçlı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 (L1)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Σ|xᵢ−yᵢ|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Elmas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 boyutlu; aykırı değer içeren veriler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Chebyshev (L∞)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max|xᵢ−yᵢ|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→ 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Oyun yapay zekası; raf yönetimi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Minkowski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(Σ|xᵢ−yᵢ|ᵖ)^(1/p)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≥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 değişir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form; p hiperparametre olarak ayarlanır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Kosinüs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(x·y)/(‖x‖‖y‖)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Metin madenciliği; yön odaklı karşılaştırma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64592" y="4370832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Metrik Seçim Kuralları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64592" y="4690872"/>
            <a:ext cx="164592" cy="164592"/>
          </a:xfrm>
          <a:prstGeom prst="ellipse">
            <a:avLst/>
          </a:prstGeom>
          <a:solidFill>
            <a:srgbClr val="009E82"/>
          </a:solidFill>
          <a:ln w="12700">
            <a:solidFill>
              <a:srgbClr val="009E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4663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Varsayılan olarak Öklid kullan — çoğu durumda iyi çalışır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377440" y="4690872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96896" y="4663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Gürültülü/aykırı veri varsa Manhattan tercih et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90288" y="4690872"/>
            <a:ext cx="164592" cy="164592"/>
          </a:xfrm>
          <a:prstGeom prst="ellipse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9744" y="4663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Metin, belge ya da vektör benzerliğinde Kosinüs kullan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03136" y="4690872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22592" y="4663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Scikit-learn'de GridSearchCV ile en iyi metriği otomatik bul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Adımları — Sıfırdan Anlayalım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73352" cy="4023360"/>
          </a:xfrm>
          <a:prstGeom prst="rect">
            <a:avLst/>
          </a:prstGeom>
          <a:solidFill>
            <a:srgbClr val="1A2F6B">
              <a:alpha val="8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932688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32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4B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" y="1581912"/>
            <a:ext cx="1527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Uzaklık Hesapla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" y="2057400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Yeni (test) örneği ile eğitim setindeki her nokta arasındaki uzaklığı seçilen metrikle hesapla.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511296"/>
            <a:ext cx="1581912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3529584"/>
            <a:ext cx="1527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dᵢ = dist(x_query, x_train_i)   ∀i ∈ {1,...,N}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901952" y="1938528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ot"/>
          </a:ln>
        </p:spPr>
      </p:sp>
      <p:sp>
        <p:nvSpPr>
          <p:cNvPr id="12" name="Shape 10"/>
          <p:cNvSpPr/>
          <p:nvPr/>
        </p:nvSpPr>
        <p:spPr>
          <a:xfrm>
            <a:off x="1993392" y="841248"/>
            <a:ext cx="1673352" cy="4023360"/>
          </a:xfrm>
          <a:prstGeom prst="rect">
            <a:avLst/>
          </a:prstGeom>
          <a:solidFill>
            <a:srgbClr val="1A2F6B">
              <a:alpha val="8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2032" y="932688"/>
            <a:ext cx="566928" cy="5669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932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4B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66544" y="1581912"/>
            <a:ext cx="1527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Sırala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66544" y="2057400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Hesaplanan N uzaklığı küçükten büyüğe sırala. Bu adım O(N log N) zaman alır.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39112" y="3511296"/>
            <a:ext cx="1581912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6544" y="3529584"/>
            <a:ext cx="1527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sorted_idx = argsort(distances)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66744" y="1938528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ot"/>
          </a:ln>
        </p:spPr>
      </p:sp>
      <p:sp>
        <p:nvSpPr>
          <p:cNvPr id="20" name="Shape 18"/>
          <p:cNvSpPr/>
          <p:nvPr/>
        </p:nvSpPr>
        <p:spPr>
          <a:xfrm>
            <a:off x="3758184" y="841248"/>
            <a:ext cx="1673352" cy="4023360"/>
          </a:xfrm>
          <a:prstGeom prst="rect">
            <a:avLst/>
          </a:prstGeom>
          <a:solidFill>
            <a:srgbClr val="1A2F6B">
              <a:alpha val="8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06824" y="932688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06824" y="932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4B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31336" y="1581912"/>
            <a:ext cx="1527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 Komşuyu Seç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31336" y="2057400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Sıralanmış listeden ilk K elemanı al. Bunlar sorgu noktasına en yakın K eğitim örneğidir.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03904" y="3511296"/>
            <a:ext cx="1581912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31336" y="3529584"/>
            <a:ext cx="1527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k_nearest = sorted_idx[:K]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31536" y="1938528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ot"/>
          </a:ln>
        </p:spPr>
      </p:sp>
      <p:sp>
        <p:nvSpPr>
          <p:cNvPr id="28" name="Shape 26"/>
          <p:cNvSpPr/>
          <p:nvPr/>
        </p:nvSpPr>
        <p:spPr>
          <a:xfrm>
            <a:off x="5522976" y="841248"/>
            <a:ext cx="1673352" cy="4023360"/>
          </a:xfrm>
          <a:prstGeom prst="rect">
            <a:avLst/>
          </a:prstGeom>
          <a:solidFill>
            <a:srgbClr val="1A2F6B">
              <a:alpha val="8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71616" y="932688"/>
            <a:ext cx="566928" cy="5669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932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4B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96128" y="1581912"/>
            <a:ext cx="1527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Etiketleri 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96128" y="2057400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Bu K komşunun eğitim setindeki gerçek sınıf etiketlerini al.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68696" y="3511296"/>
            <a:ext cx="1581912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3529584"/>
            <a:ext cx="1527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k_labels = y_train[k_nearest]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196328" y="1938528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ot"/>
          </a:ln>
        </p:spPr>
      </p:sp>
      <p:sp>
        <p:nvSpPr>
          <p:cNvPr id="36" name="Shape 34"/>
          <p:cNvSpPr/>
          <p:nvPr/>
        </p:nvSpPr>
        <p:spPr>
          <a:xfrm>
            <a:off x="7287768" y="841248"/>
            <a:ext cx="1673352" cy="4023360"/>
          </a:xfrm>
          <a:prstGeom prst="rect">
            <a:avLst/>
          </a:prstGeom>
          <a:solidFill>
            <a:srgbClr val="1A2F6B">
              <a:alpha val="8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36408" y="932688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36408" y="932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4B"/>
                </a:solidFill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360920" y="1581912"/>
            <a:ext cx="1527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Tahmin Et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60920" y="2057400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Sınıflandırma: Çoğunluk oyu (mode). Regresyon: Ortalama (mean) ya da ağırlıklı ortalama.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33488" y="3511296"/>
            <a:ext cx="1581912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60920" y="3529584"/>
            <a:ext cx="1527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mode(k_labels)  [veya mean()]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28600" y="4892040"/>
            <a:ext cx="8686800" cy="228600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⏱  Eğitim karmaşıklığı: O(1)  —  Tahmin karmaşıklığı: O(N × d)   →  N: örnek sayısı, d: özellik sayısı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Değeri &amp; Bias-Variance Trade-off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777240"/>
            <a:ext cx="8823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K değeri KNN'in en kritik hiperparametresidir. Çok küçük ya da çok büyük K, farklı öğrenme hatalarına yol açar: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4592" y="1115568"/>
            <a:ext cx="28346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115568"/>
            <a:ext cx="28346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34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K = 1  (Çok Küçük)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2377440" cy="25603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OVERFİTTİNG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8653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Eğitim seti ezber edilir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194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Sınır aşırı karmaşık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5237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Gürültüye aşırı duyarlı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8529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Eğitim hatası = 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31821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Test hatası yüksek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913632"/>
            <a:ext cx="1143000" cy="219456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1363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4B"/>
                </a:solidFill>
              </a:rPr>
              <a:t>Bias: Düşük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508760" y="3913632"/>
            <a:ext cx="1371600" cy="219456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39136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4B"/>
                </a:solidFill>
              </a:rPr>
              <a:t>Variance: Çok Yüksek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36392" y="1115568"/>
            <a:ext cx="28346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36392" y="1115568"/>
            <a:ext cx="28346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234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K = Optimal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1536192"/>
            <a:ext cx="2377440" cy="256032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D1B4B"/>
                </a:solidFill>
              </a:rPr>
              <a:t>DENGE NOKTASI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46120" y="18653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Bias ile Variance dengede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46120" y="2194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Karar sınırı düzgün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46120" y="25237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Yeni veriye iyi genelleşir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46120" y="28529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CV ile seçilmeli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46120" y="31821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Genellikle tek sayı önerilir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46120" y="3913632"/>
            <a:ext cx="1143000" cy="219456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391363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4B"/>
                </a:solidFill>
              </a:rPr>
              <a:t>Bias: Orta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80560" y="3913632"/>
            <a:ext cx="1371600" cy="219456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39136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4B"/>
                </a:solidFill>
              </a:rPr>
              <a:t>Variance: Orta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08192" y="1115568"/>
            <a:ext cx="28346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08192" y="1115568"/>
            <a:ext cx="28346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1234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K = N  (Çok Büyük)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1536192"/>
            <a:ext cx="2377440" cy="256032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UNDERFİTTİNG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18653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Model çok basite indirgenir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17920" y="2194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Her şeyi çoğunluk sınıfı tahmin eder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17920" y="25237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Sınır yatay/düz kalır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17920" y="28529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Eğitim ve test hatası yüksek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17920" y="31821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Veriyi görmezden gelir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3913632"/>
            <a:ext cx="1143000" cy="219456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91363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4B"/>
                </a:solidFill>
              </a:rPr>
              <a:t>Bias: Çok Yüksek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52360" y="3913632"/>
            <a:ext cx="1371600" cy="219456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39136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4B"/>
                </a:solidFill>
              </a:rPr>
              <a:t>Variance: Düşük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64592" y="4224528"/>
            <a:ext cx="8823960" cy="676656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4320" y="42702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K Seçim Özeti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4498848"/>
          <a:ext cx="8823960" cy="11049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Değeri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 Tipi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Öneri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 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 ↑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Kaçın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√N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Başlangıç noktası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 ↑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 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Underfitting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Kaçın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CV Optimal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İdeal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Kullan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Değeri Seçimi — Cross-Validation ile Optimum Bulma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164592" y="749808"/>
          <a:ext cx="57607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80760" y="749808"/>
            <a:ext cx="29077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80760" y="749808"/>
            <a:ext cx="2907792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90488" y="84124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K = 1  →  Overfitting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90488" y="1115568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Eğitim doğruluğu = %100 ama test düşük. Model eğitim verisini ezberliyor, genelleştiremez.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80760" y="2249424"/>
            <a:ext cx="29077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80760" y="2249424"/>
            <a:ext cx="2907792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90488" y="234086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E82"/>
                </a:solidFill>
              </a:rPr>
              <a:t>K ≈ 5-8  →  Optimal Bölge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90488" y="2615184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Eğitim ve test eğrileri yakın seyrediyor. CV skoru zirve yapıyor. Bu bölge ideal K aralığıdır.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0760" y="3749040"/>
            <a:ext cx="29077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3749040"/>
            <a:ext cx="2907792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90488" y="384048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K = 30  →  Underfitting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90488" y="4114800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Hem eğitim hem test doğruluğu düşüyor. Model artık veriyi yeterince öğrenemiyor.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64592" y="4681728"/>
            <a:ext cx="8823960" cy="320040"/>
          </a:xfrm>
          <a:prstGeom prst="rect">
            <a:avLst/>
          </a:prstGeom>
          <a:solidFill>
            <a:srgbClr val="253C8C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6032" y="4681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💡  CV Stratejisi: K = √N başlangıç noktası olarak kullan  →  GridSearchCV ile K, metrik ve ağırlık birlikte optimize et  →  K'yı TEK sayı yap (beraberliği önler)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Sınırları — K Değerinin Görsel Etkisi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749808"/>
            <a:ext cx="8823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Karar sınırı, farklı sınıflara ait tahmin bölgelerini ayıran geometrik şekildir. K küçüldükçe sınır karmaşıklaşır: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4592" y="1078992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078992"/>
            <a:ext cx="28346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704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</a:rPr>
              <a:t>K = 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7512" y="1517904"/>
            <a:ext cx="1828800" cy="228600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5179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OVERFİTTİNG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801368"/>
            <a:ext cx="2606040" cy="155448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288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4444"/>
                </a:solidFill>
              </a:rPr>
              <a:t>〰〰〰〰〰〰〰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F4444"/>
                </a:solidFill>
              </a:rPr>
              <a:t> Karmaşık sınır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3832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Her eğitim noktası kendi "bölgesini" oluşturur. Sınır çok parçalı ve gürültülü. Voronoi diagram'a benzer.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36392" y="1078992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36392" y="1078992"/>
            <a:ext cx="28346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1704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</a:rPr>
              <a:t>K = 7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39312" y="1517904"/>
            <a:ext cx="1828800" cy="228600"/>
          </a:xfrm>
          <a:prstGeom prst="rect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9312" y="15179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0D1B4B"/>
                </a:solidFill>
              </a:rPr>
              <a:t>OPTIMAL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46120" y="1801368"/>
            <a:ext cx="2606040" cy="155448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8288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</a:rPr>
              <a:t>⌇⌇ Düzgün sınır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46120" y="33832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Sınır daha düzgün. Küçük gürültü noktaları baskılanmış. Yeni veriler için daha iyi genelleşme.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08192" y="1078992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08192" y="1078992"/>
            <a:ext cx="28346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1704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</a:rPr>
              <a:t>K = 25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11112" y="1517904"/>
            <a:ext cx="1828800" cy="228600"/>
          </a:xfrm>
          <a:prstGeom prst="rect">
            <a:avLst/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11112" y="15179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UNDERFİTTİNG BAŞLANGICI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17920" y="1801368"/>
            <a:ext cx="2606040" cy="155448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8288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7316"/>
                </a:solidFill>
              </a:rPr>
              <a:t>— Kaba sınır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7920" y="33832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Sınır çok kaba. Küçük gruplar yok sayılıyor. Verinin yapısı kaybolmaya başlıyor.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64592" y="4535424"/>
            <a:ext cx="8823960" cy="4114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" y="456285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🔑  Anahtar Mesaj: </a:t>
            </a:r>
            <a:r>
              <a:rPr lang="en-US" sz="1000" dirty="0">
                <a:solidFill>
                  <a:srgbClr val="1E293B"/>
                </a:solidFill>
              </a:rPr>
              <a:t>KNN doğrusal olmayan (non-linear) karar sınırları öğrenebilir — bu büyük bir avantajdır! Lojistik Regresyon gibi lineer modellerin başarısız olduğu 'moons' ve 'circles' gibi veri setlerinde KNN başarılı olur.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Ölçeklendirme — KNN için Zorunlu Adım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⚠️  Problem: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12471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KNN uzaklık hesaplar. Eğer bir özellik [0,1] aralığında, diğeri [0,10000] aralığındaysa — büyük ölçekli özellik uzaklığı TEK BAŞINA belirler. Küçük ölçekli özellik hiçbir şey katkı sağlamaz.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1664208"/>
            <a:ext cx="5120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664208"/>
            <a:ext cx="51206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5564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Wine Veri Seti — Ölçek Farklılıkları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2066544"/>
          <a:ext cx="5120640" cy="23042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Malic Acid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Phenols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Proline (mg/L)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Yüksek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 Intensity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Yüksek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40680" y="1664208"/>
            <a:ext cx="3657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40680" y="1664208"/>
            <a:ext cx="36576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50408" y="175564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Ölçeklendirme Yöntemleri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40680" y="2103120"/>
            <a:ext cx="64008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210312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StandardScaler (Z-score)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577840" y="2340864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x' = (x − μ) / σ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577840" y="252374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Ortalama=0, Std=1. En yaygın tercih.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40680" y="2852928"/>
            <a:ext cx="64008" cy="6400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77840" y="285292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6B"/>
                </a:solidFill>
              </a:rPr>
              <a:t>MinMaxScaler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77840" y="3090672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x' = (x − xₘᵢₙ) / (xₘₐₓ − xₘᵢₙ)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577840" y="327355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Tüm değerleri [0,1] aralığına sıkıştırır.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40680" y="3602736"/>
            <a:ext cx="64008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0" y="360273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</a:rPr>
              <a:t>RobustScaler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577840" y="3840480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x' = (x − median) / IQR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577840" y="402336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Aykırı değerlere dayanıklı. Q1-Q3 arası.</a:t>
            </a:r>
            <a:endParaRPr lang="en-US" sz="8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164592" y="4709160"/>
          <a:ext cx="8823960" cy="347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Değerlendirme — Confusion Matrix &amp; Metrikler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4206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420624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Confusion Matrix (Karmaşıklık Matrisi)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1874520" cy="713232"/>
          </a:xfrm>
          <a:prstGeom prst="rect">
            <a:avLst/>
          </a:prstGeom>
          <a:solidFill>
            <a:srgbClr val="22C55E">
              <a:alpha val="4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043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TP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Doğru Pozitif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Gerçek +, Tahmin +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94560" y="1170432"/>
            <a:ext cx="1874520" cy="713232"/>
          </a:xfrm>
          <a:prstGeom prst="rect">
            <a:avLst/>
          </a:prstGeom>
          <a:solidFill>
            <a:srgbClr val="EF4444">
              <a:alpha val="4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17043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FN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Yanlış Negatif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Gerçek +, Tahmin −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1874520" cy="713232"/>
          </a:xfrm>
          <a:prstGeom prst="rect">
            <a:avLst/>
          </a:prstGeom>
          <a:solidFill>
            <a:srgbClr val="F97316">
              <a:alpha val="40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2024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FP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Yanlış Pozitif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Gerçek −, Tahmin +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94560" y="1920240"/>
            <a:ext cx="1874520" cy="713232"/>
          </a:xfrm>
          <a:prstGeom prst="rect">
            <a:avLst/>
          </a:prstGeom>
          <a:solidFill>
            <a:srgbClr val="00C9A7">
              <a:alpha val="4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192024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TN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Doğru Negatif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Gerçek −, Tahmin −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11430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Tahmin →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" y="11430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Pozitif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94560" y="11430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Negatif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670048"/>
            <a:ext cx="3977640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6700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Tip I Hata: FP (false alarm)   |   Tip II Hata: FN (kaçırma)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26280" y="749808"/>
            <a:ext cx="64008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749808"/>
            <a:ext cx="436168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36592" y="768096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Accuracy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6592" y="996696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(TP + TN) / (TP + TN + FP + FN)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36592" y="1188720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Genel doğruluk. Dengesiz veri setlerinde yanıltıcı olabilir!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26280" y="1609344"/>
            <a:ext cx="64008" cy="7498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1609344"/>
            <a:ext cx="436168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36592" y="1627632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Precision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36592" y="1856232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FP)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36592" y="2048256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Pozitif tahminlerin ne kadarı gerçekten pozitif? Spam filtresinde önemli.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26280" y="2468880"/>
            <a:ext cx="64008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2468880"/>
            <a:ext cx="436168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36592" y="2487168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Recall (Sensitivity)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36592" y="2715768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FN)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36592" y="2907792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Gerçek pozitiflerin ne kadarını yakaladık? Hastalık tespitinde kritik!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26280" y="3328416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3328416"/>
            <a:ext cx="436168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36592" y="3346704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6B"/>
                </a:solidFill>
              </a:rPr>
              <a:t>F1 Score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36592" y="3575304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(P × R) / (P + R)  [Harmonik Ortalama]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36592" y="3767328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Precision ve Recall'un dengeli birleşimi. Genel amaçlı en iyi tek metrik.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26280" y="4187952"/>
            <a:ext cx="64008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4187952"/>
            <a:ext cx="436168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36592" y="4206240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AUC-ROC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36592" y="4434840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Alan (FPR ← 0, TPR ↑ 1)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36592" y="4626864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Eşik bağımsız performans. 0.5 = rasgele, 1.0 = mükemmel.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64592" y="4910328"/>
            <a:ext cx="8823960" cy="201168"/>
          </a:xfrm>
          <a:prstGeom prst="rect">
            <a:avLst/>
          </a:prstGeom>
          <a:solidFill>
            <a:srgbClr val="253C8C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" y="49103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💡  Dengesiz veri setlerinde (imbalanced): Accuracy kullanma!  →  F1 Score veya AUC-ROC tercih et.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ile Regresyon — Sayısal Tahmin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40690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406908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KNN Regresyon Nasıl Çalışır?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1612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Sınıflandırmadan tek fark: 5. adımda çoğunluk oyu yerine K komşunun hedef değerlerinin ortalaması alınır.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709928"/>
            <a:ext cx="384048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099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Uniform: ŷ = (1/K) Σ yᵢ   (i ∈ N_K)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384048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Ağırlıklı: ŷ = Σ(wᵢ·yᵢ) / Σwᵢ  wᵢ = 1/dᵢ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276148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Açıklama: </a:t>
            </a:r>
            <a:r>
              <a:rPr lang="en-US" sz="1000" dirty="0">
                <a:solidFill>
                  <a:srgbClr val="1E293B"/>
                </a:solidFill>
              </a:rPr>
              <a:t>Uniform formülde her K komşuya eşit ağırlık verilir. Ağırlıklı formülde ise yakın komşular (küçük dᵢ) daha büyük katkı sağlar. Özellikle sorgu noktasına çok yakın eğitim örneği varsa ağırlıklı yöntem belirgin avantaj sağlar.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794760"/>
          <a:ext cx="4069080" cy="11049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Özellik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Sınıflandırma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Regresyon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Adım 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mode(k_labels)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mean(k_targets)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Çıktı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Sınıf etiketi (0,1,2...)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Sürekli değer (float)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Metrik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Accuracy, F1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RMSE, MAE, R²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Sklearn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KNeighborsClassifier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KNeighborsRegressor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389120" y="749808"/>
            <a:ext cx="459028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89120" y="749808"/>
            <a:ext cx="4590288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98848" y="84124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sin(x) + Gürültü üzerinde Farklı K Değerleri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389120" y="1161288"/>
          <a:ext cx="4590288" cy="2852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6"/>
          <p:cNvSpPr/>
          <p:nvPr/>
        </p:nvSpPr>
        <p:spPr>
          <a:xfrm>
            <a:off x="4498848" y="4041648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💡  Siyah (gerçek fonksiyon) ile mavi (K=7) yakınlığı modelin başarısını gösterir.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164592" y="4873752"/>
            <a:ext cx="8823960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56032" y="488289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</a:rPr>
              <a:t>Regresyon Metrikleri:  </a:t>
            </a:r>
            <a:r>
              <a:rPr lang="en-US" sz="900" dirty="0">
                <a:solidFill>
                  <a:srgbClr val="1E293B"/>
                </a:solidFill>
              </a:rPr>
              <a:t>RMSE = √(Σ(yᵢ−ŷᵢ)²/N)    |  MAE = Σ|yᵢ−ŷᵢ|/N    |  R² = 1 − (SS_res / SS_tot)   →   R²=1.0 mükemmel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 Laneti — Curse of Dimensionality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D166"/>
                </a:solidFill>
              </a:rPr>
              <a:t>Özellik sayısı arttıkça KNN neden bozulur?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5303520" cy="1325880"/>
          </a:xfrm>
          <a:prstGeom prst="rect">
            <a:avLst/>
          </a:prstGeom>
          <a:solidFill>
            <a:srgbClr val="1A2F6B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78992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Matematiksel Temel: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344168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Yüksek boyutlarda maksimum ve minimum uzaklıklar birbirine yaklaşır: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581912"/>
            <a:ext cx="5065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 (d→∞)  [(d_max − d_min) / d_min]  →  0</a:t>
            </a:r>
            <a:endParaRPr lang="en-US" sz="16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28600" y="2395728"/>
          <a:ext cx="53035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742432" y="1005840"/>
            <a:ext cx="3108960" cy="868680"/>
          </a:xfrm>
          <a:prstGeom prst="rect">
            <a:avLst/>
          </a:prstGeom>
          <a:solidFill>
            <a:srgbClr val="1A2F6B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106984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📉  Uzaklıklar Anlamsızlaşır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52160" y="1316736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Boyut artınca en yakın ve en uzak komşu neredeyse aynı mesafede olur. 'En yakın komşu' kavramı bozulur.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42432" y="1965960"/>
            <a:ext cx="3108960" cy="868680"/>
          </a:xfrm>
          <a:prstGeom prst="rect">
            <a:avLst/>
          </a:prstGeom>
          <a:solidFill>
            <a:srgbClr val="1A2F6B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0" y="202996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 Veri İhtiyacı Patlar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52160" y="2276856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d boyutlu uzayı kapsamak için gereken örnek sayısı üstel artar: N ∝ 10^d formülüyle.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42432" y="2926080"/>
            <a:ext cx="3108960" cy="868680"/>
          </a:xfrm>
          <a:prstGeom prst="rect">
            <a:avLst/>
          </a:prstGeom>
          <a:solidFill>
            <a:srgbClr val="1A2F6B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0" y="299008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🐌  Hesaplama Yavaşlar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52160" y="3236976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Tahmin karmaşıklığı O(N×d) — hem N hem d artınca çarpımı ciddi yavaşlar.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42432" y="3895344"/>
            <a:ext cx="3108960" cy="1115568"/>
          </a:xfrm>
          <a:prstGeom prst="rect">
            <a:avLst/>
          </a:prstGeom>
          <a:solidFill>
            <a:srgbClr val="00C9A7">
              <a:alpha val="2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0" y="395020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🛠  Çözümler: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52160" y="419709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▸  PCA ile boyut indirgeme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852160" y="4398264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▸  Özellik seçimi (Feature Selection)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852160" y="4599432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▸  t-SNE ile görselleştirme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852160" y="480060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▸  Kernel metrikler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Avantajlar &amp; Dezavantajlar — KNN'in Sınırları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42519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✅  Avantajlar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1887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Basit &amp; Anlaşılır: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38988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Matematiksel varsayım yok. Çalışma prensibi herkes tarafından anlaşılabilir.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719072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673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Parametrik Değil: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1874520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Verinin dağılımı hakkında hiçbir varsayım yapmaz. Her veri tipinde çalışır.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203704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1579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Doğrusal Olmayan Sınırlar: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2359152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Karmaşık karar sınırlarını doğal olarak öğrenir. Lojistik Regresyon gibi sınırlama yok.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688336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6426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Sıfır Eğitim Süresi: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2843784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Eğitim = veriyi sakla. Anında model kurulabilir, yeni veriler eklenebilir.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1729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1272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Çok Sınıflı Destek: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" y="3328416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2'den fazla sınıfı ekstra düzenleme gerektirmeden destekler.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6118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Olasılıksal Çıktı: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381304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predict_proba() ile sınıf olasılıkları elde edilebilir.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17720" y="749808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749808"/>
            <a:ext cx="4251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8412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 Dezavantajlar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27448" y="123444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1188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Yüksek Tahmin Maliyeti: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19472" y="13898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Her tahmin tüm eğitim setini tarar: O(N×d). Büyük veri setlerinde yavaş.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27448" y="1719072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1673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Yüksek Bellek Kullanımı: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19472" y="1874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Tüm eğitim verisi RAM'de tutulmalı. Model 'küçük' değil.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27448" y="2203704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21579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Boyut Laneti: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19472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Yüksek boyutlarda uzaklıklar anlamsızlaşır. Önce PCA şart.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27448" y="2688336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26426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Ölçeklendirme Zorunlu: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19472" y="28437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Özellik ölçekleri eşitlenmezse büyük ölçekli özellik baskın gelir.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27448" y="3172968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31272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Dengesiz Sınıfa Duyarlı: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19472" y="33284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Büyük sınıf komşuları domine eder. Oversampling gerekebilir.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27448" y="365760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3611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Yorumlanamaz: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919472" y="3813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Neden bu sınıfı tahmin ettim? Açıklama yapılamaz. Katsayı yok.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64592" y="4727448"/>
            <a:ext cx="8823960" cy="384048"/>
          </a:xfrm>
          <a:prstGeom prst="rect">
            <a:avLst/>
          </a:prstGeom>
          <a:solidFill>
            <a:srgbClr val="253C8C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" y="47274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</a:rPr>
              <a:t>⚡  Hız Çözümü: </a:t>
            </a:r>
            <a:r>
              <a:rPr lang="en-US" sz="950" dirty="0">
                <a:solidFill>
                  <a:srgbClr val="FFFFFF"/>
                </a:solidFill>
              </a:rPr>
              <a:t>Scikit-learn'de algorithm='kd_tree' veya 'ball_tree' kullanımı büyük veri setlerinde brute-force'a göre O(N log N) hıza çıkarır. </a:t>
            </a:r>
            <a:r>
              <a:rPr lang="en-US" sz="950" i="1" dirty="0">
                <a:solidFill>
                  <a:srgbClr val="FFFFFF"/>
                </a:solidFill>
              </a:rPr>
              <a:t>Düşük boyutlarda (d &lt; 20) KD-Tree; yüksek boyutlarda Ball-Tree tercih edilir.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KNN Kullanılır? — Pratik Rehber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425196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42519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503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✅ KNN Kullan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5272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18872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Küçük-orta veri seti (&lt; 100K örnek)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7335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60934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Hızlı prototipleme / baseline model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09397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02996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Öneri sistemleri (collaborative filtering)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45059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Anomali / outlier tespiti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7121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Doğrusal olmayan sınırlar mevcutsa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5584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29184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Kategorik özellik yoksa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7647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71246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Sayısal, sürekli değişkenler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45152" y="749808"/>
            <a:ext cx="425196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45152" y="749808"/>
            <a:ext cx="4251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8503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KNN Kullanma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25272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18872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Büyük veri seti (&gt; 1M örnek)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67335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60934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Gerçek zamanlı / düşük gecikmeli tahmin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0939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202996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Yüksek boyutlu ham veri (görüntü, metin)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51460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245059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Yorumlanabilirlik kritikse (finans, sağlık)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3522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287121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Bellek kısıtlıysa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35584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29184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Dengesiz sınıf oranı çok büyükse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77647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371246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Online öğrenme gerekiyorsa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64592" y="4453128"/>
            <a:ext cx="8823960" cy="6400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64592" y="4453128"/>
            <a:ext cx="8823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544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</a:rPr>
              <a:t>Algoritma Seçim Rehberi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974034"/>
              </p:ext>
            </p:extLst>
          </p:nvPr>
        </p:nvGraphicFramePr>
        <p:xfrm>
          <a:off x="164592" y="4718304"/>
          <a:ext cx="8823960" cy="12801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Algoritma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Doğrusal?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Hız (Tahmin)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Yorumlanabilir?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Ne Zaman Kullan?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KNN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Hayır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Yavaş O(Nd)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Düşük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Küçük veri, prototype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Lojistik Reg.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Evet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Hızlı O(d)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Yüksek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Doğrusal sınır, açıklanabilir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Karar Ağacı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Hayır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Orta O(log 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Çok Yüksek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Kural tabanlı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SVM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Hayır*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Orta O(N²)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Orta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Küçük-orta, yüksek boyut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Random Forest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Hayır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Hızlı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Orta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Genel amaçlı, güçlü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ile KNN — Kod Özeti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64592" y="731520"/>
            <a:ext cx="4251960" cy="25603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315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1. Veri Hazırlık &amp; Train-Test Split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987552"/>
            <a:ext cx="4251960" cy="1956816"/>
          </a:xfrm>
          <a:prstGeom prst="rect">
            <a:avLst/>
          </a:prstGeom>
          <a:solidFill>
            <a:srgbClr val="0A0E1A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33272"/>
            <a:ext cx="406908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random_state=42, stratify=y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scaler.fit_transform(X_train)  # fit + transform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  = scaler.transform(X_test)       # sadece transform!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45152" y="731520"/>
            <a:ext cx="4251960" cy="256032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7315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2. GridSearchCV ile Optimum 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987552"/>
            <a:ext cx="4251960" cy="1956816"/>
          </a:xfrm>
          <a:prstGeom prst="rect">
            <a:avLst/>
          </a:prstGeom>
          <a:solidFill>
            <a:srgbClr val="0A0E1A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033272"/>
            <a:ext cx="406908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GridSearchCV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 =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'n_neighbors': range(1, 21),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'weights': ['uniform', 'distance'],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'metric': ['euclidean', 'manhattan']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 = GridSearchCV(KNeighborsClassifier(), param_grid, cv=5)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gs.fit(X_train, y_train)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print(gs.best_params_)  # {'metric': 'euclidean', 'n_neighbors': 7, ...}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4592" y="3035808"/>
            <a:ext cx="8823960" cy="25603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303580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3. Pipeline ile Eksiksiz Uygulama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" y="3291840"/>
            <a:ext cx="8823960" cy="1600200"/>
          </a:xfrm>
          <a:prstGeom prst="rect">
            <a:avLst/>
          </a:prstGeom>
          <a:solidFill>
            <a:srgbClr val="0A0E1A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337560"/>
            <a:ext cx="8641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Pipeline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= Pipeline([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('scaler', StandardScaler()),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('knn', KNeighborsClassifier(n_neighbors=7,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weights='distance'))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pipeline.fit(X_train_raw, y_train)  # Veri sızıntısı yok!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pipeline.predict(X_test_raw)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4873752"/>
            <a:ext cx="8823960" cy="246888"/>
          </a:xfrm>
          <a:prstGeom prst="rect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⚠️  Kritik: scaler.fit_transform() sadece eğitim setinde!  scaler.transform() test setinde!  →  Data Leakage önlenir.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Özeti — KNN Algoritması Hızlı Referans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49808"/>
          <a:ext cx="8823960" cy="416966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Anahtar Nokta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Algoritma Tipi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Tembel Öğrenme (Lazy Learning)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= veri saklama, tahmin = uzaklık hesabı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Uzaklık Metrikleri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Öklid (default), Manhattan, Chebyshev, Minkowski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tipine göre seç; Öklid en yaygın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Değeri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Kritik hiperparametre — CV ile seçilmeli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K → overfit, büyük K → underfit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Ölçeklendirme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 veya MinMaxScaler — ZORUNLU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Ölçeklendirmesiz KNN ciddi hata yapar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 Sınırı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 — karmaşık şekillere uyum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küçüldükçe sınır karmaşıklaşır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Sınıflandırma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Çoğunluk oyu (mode)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K=5, weights='distance' başlangıç noktası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Regresyon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komşunun ortalaması/ağırlıklı ort.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KNeighborsRegressor — aynı prensipler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Değerlendirme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F1, AUC-ROC; Confusion Matrix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Dengesiz veride Accuracy yanıltır!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Boyut Laneti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arttıkça uzaklıklar anlamsızlaşır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 PCA, sonra 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Karmaşıklık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Eğitim: O(1)  /  Tahmin: O(N×d)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KD-Tree ile O(N log N)'e hızlandır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Scaler + KNN birlikte sardır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leakage (veri sızıntısı) önlenir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64592" y="4892040"/>
            <a:ext cx="8823960" cy="228600"/>
          </a:xfrm>
          <a:prstGeom prst="rect">
            <a:avLst/>
          </a:prstGeom>
          <a:solidFill>
            <a:srgbClr val="253C8C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</a:rPr>
              <a:t>🚀  Sonraki Ders: Lojistik Regresyon — Parametrik model, olasılıksal çıktı, katsayı yorumlama, sigmoid fonksiyonu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3C8C">
              <a:alpha val="30000"/>
            </a:srgbClr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 &amp; Ödev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704088"/>
            <a:ext cx="32004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54864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68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📘 Kitap: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17320" y="8686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Aurélien Géron — Hands-On ML with Scikit-Learn, Keras &amp; TF (3rd ed.), Ch.3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71016"/>
            <a:ext cx="54864" cy="32918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271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📘 Kitap: 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127101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Christopher Bishop — Pattern Recognition and ML, Ch.2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673352"/>
            <a:ext cx="54864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6733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167335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Cover &amp; Hart (1967) — Nearest Neighbor Pattern Classification, IEEE Trans.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075688"/>
            <a:ext cx="54864" cy="32918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075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🌐 Scikit-learn: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0" y="20756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https://scikit-learn.org/stable/modules/neighbors.html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478024"/>
            <a:ext cx="54864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4780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🗃️ UCI Repository: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247802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Iris: archive.ics.uci.edu/ml/datasets/iris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54864" cy="32918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8803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🗃️ UCI Repository: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17320" y="288036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Wine: archive.ics.uci.edu/ml/datasets/wine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282696"/>
            <a:ext cx="54864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2826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🎥 Video: 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17320" y="328269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3Blue1Brown — Distance &amp; Similarity in Machine Learning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749808"/>
            <a:ext cx="2103120" cy="4206240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84124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📝 Ödev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67728" y="1261872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67728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166"/>
                </a:solidFill>
              </a:rPr>
              <a:t>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78040" y="121615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Iris veri seti üzerinde K=1'den 20'ye kadar tüm K değerlerini dene ve en iyi K'yı bul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67728" y="1847088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18470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166"/>
                </a:solidFill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78040" y="180136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StandardScaler vs MinMaxScaler vs ölçeklendirme yok performansını Wine veri seti üzerinde karşılaştır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67728" y="2432304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24323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166"/>
                </a:solidFill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78040" y="238658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Confusion Matrix ve F1 Score'u hesapla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967728" y="3017520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67728" y="30175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166"/>
                </a:solidFill>
              </a:rPr>
              <a:t>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78040" y="297180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predict_proba() ile olasılıkları görselleştir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967728" y="3602736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67728" y="36027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166"/>
                </a:solidFill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78040" y="355701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Bonus: KD-Tree ve Ball-Tree algoritma farkını araştır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4663440"/>
            <a:ext cx="6309360" cy="41148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663440"/>
            <a:ext cx="6089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Sorularınız için: ders saatleri veya e-posta yoluyla iletişime geçebilirsiniz.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3121</Words>
  <Application>Microsoft Office PowerPoint</Application>
  <PresentationFormat>On-screen Show (16:9)</PresentationFormat>
  <Paragraphs>524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K-En Yakın Komşu (KNN) Algoritması</dc:title>
  <dc:subject>Machine Learning - KNN</dc:subject>
  <dc:creator>Uygulamalı Makine Öğrenmesi</dc:creator>
  <cp:lastModifiedBy>Nano</cp:lastModifiedBy>
  <cp:revision>2</cp:revision>
  <dcterms:created xsi:type="dcterms:W3CDTF">2026-03-14T09:18:12Z</dcterms:created>
  <dcterms:modified xsi:type="dcterms:W3CDTF">2026-03-14T09:35:49Z</dcterms:modified>
</cp:coreProperties>
</file>